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02020"/>
                </a:solidFill>
                <a:latin typeface="Calibri"/>
              </a:rPr>
              <a:t>VendorPulse Solution Architecture (Shell)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Single-tenant in Shell Azure.  Deterministic core first, AI second.  Agent layer: MAF SDK on Microsoft Foundry.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32688"/>
            <a:ext cx="11457432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1188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1499616"/>
            <a:ext cx="219456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01751" y="91440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0" sz="600">
                <a:solidFill>
                  <a:srgbClr val="BFBFBF"/>
                </a:solidFill>
                <a:latin typeface="Calibri"/>
              </a:rPr>
              <a:t>icon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50">
                <a:solidFill>
                  <a:srgbClr val="202020"/>
                </a:solidFill>
                <a:latin typeface="Calibri"/>
              </a:rPr>
              <a:t>Web client (browser)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60320"/>
            <a:ext cx="21945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00">
                <a:solidFill>
                  <a:srgbClr val="202020"/>
                </a:solidFill>
                <a:latin typeface="Calibri"/>
              </a:rPr>
              <a:t>VMO Coordinator / Sponsor / Viewer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Calibri"/>
              </a:rPr>
              <a:t>authenticated via Entra SSO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20440"/>
            <a:ext cx="21945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00">
                <a:solidFill>
                  <a:srgbClr val="202020"/>
                </a:solidFill>
                <a:latin typeface="Calibri"/>
              </a:rPr>
              <a:t>React 19 SPA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Calibri"/>
              </a:rPr>
              <a:t>Design System / ApprovalPanel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480560"/>
            <a:ext cx="21945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00">
                <a:solidFill>
                  <a:srgbClr val="202020"/>
                </a:solidFill>
                <a:latin typeface="Calibri"/>
              </a:rPr>
              <a:t>Native scorecard form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Calibri"/>
              </a:rPr>
              <a:t>magic-link, Entra SSO (ADR-005)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440680"/>
            <a:ext cx="2194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00">
                <a:solidFill>
                  <a:srgbClr val="202020"/>
                </a:solidFill>
                <a:latin typeface="Calibri"/>
              </a:rPr>
              <a:t>AI-generated, pending approval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Calibri"/>
              </a:rPr>
              <a:t>transparency badge (IRM 3.5.3)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1887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Edge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1499616"/>
            <a:ext cx="100584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35808" y="1572768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0" sz="600">
                <a:solidFill>
                  <a:srgbClr val="BFBFBF"/>
                </a:solidFill>
                <a:latin typeface="Calibri"/>
              </a:rPr>
              <a:t>icon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926080"/>
            <a:ext cx="960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50">
                <a:solidFill>
                  <a:srgbClr val="202020"/>
                </a:solidFill>
                <a:latin typeface="Calibri"/>
              </a:rPr>
              <a:t>Azure Front Door + WAF</a:t>
            </a:r>
          </a:p>
          <a:p>
            <a:pPr algn="ctr"/>
            <a:r>
              <a:rPr sz="700">
                <a:solidFill>
                  <a:srgbClr val="595959"/>
                </a:solidFill>
                <a:latin typeface="Calibri"/>
              </a:rPr>
              <a:t>TLS, OWASP, origin-lock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1887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Shell Azure Subscription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1499616"/>
            <a:ext cx="525780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867912" y="91440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1755648"/>
            <a:ext cx="5257800" cy="4690872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5928" y="1792224"/>
            <a:ext cx="5038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95959"/>
                </a:solidFill>
                <a:latin typeface="Calibri"/>
              </a:rPr>
              <a:t>West Europe  /  Private VNet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2167128"/>
            <a:ext cx="4892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23944" y="2212848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0" sz="600">
                <a:solidFill>
                  <a:srgbClr val="BFBFBF"/>
                </a:solidFill>
                <a:latin typeface="Calibri"/>
              </a:rPr>
              <a:t>icon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203704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Calibri"/>
              </a:rPr>
              <a:t>Azure App Service (Linux container) - FastAPI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8808" y="2551176"/>
            <a:ext cx="2281427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00">
                <a:solidFill>
                  <a:srgbClr val="202020"/>
                </a:solidFill>
                <a:latin typeface="Calibri"/>
              </a:rPr>
              <a:t>Entra OIDC auth + RBAC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9964" y="2551176"/>
            <a:ext cx="2281427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00">
                <a:solidFill>
                  <a:srgbClr val="202020"/>
                </a:solidFill>
                <a:latin typeface="Calibri"/>
              </a:rPr>
              <a:t>WorkflowEngine (12-state)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8808" y="3099816"/>
            <a:ext cx="2281427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00">
                <a:solidFill>
                  <a:srgbClr val="202020"/>
                </a:solidFill>
                <a:latin typeface="Calibri"/>
              </a:rPr>
              <a:t>Approval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9964" y="3099816"/>
            <a:ext cx="2281427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00">
                <a:solidFill>
                  <a:srgbClr val="202020"/>
                </a:solidFill>
                <a:latin typeface="Calibri"/>
              </a:rPr>
              <a:t>MAF Agent layer to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8808" y="3648456"/>
            <a:ext cx="2281427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00">
                <a:solidFill>
                  <a:srgbClr val="202020"/>
                </a:solidFill>
                <a:latin typeface="Calibri"/>
              </a:rPr>
              <a:t>Deterministic 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9964" y="3648456"/>
            <a:ext cx="2281427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00">
                <a:solidFill>
                  <a:srgbClr val="202020"/>
                </a:solidFill>
                <a:latin typeface="Calibri"/>
              </a:rPr>
              <a:t>GraphService (app-only cert)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4407408"/>
            <a:ext cx="489204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2" y="4443984"/>
            <a:ext cx="4745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Calibri"/>
              </a:rPr>
              <a:t>Data Tier - Managed Identity, Private Link (no public access)</a:t>
            </a:r>
          </a:p>
        </p:txBody>
      </p:sp>
      <p:sp>
        <p:nvSpPr>
          <p:cNvPr id="35" name="Can 34"/>
          <p:cNvSpPr/>
          <p:nvPr/>
        </p:nvSpPr>
        <p:spPr>
          <a:xfrm>
            <a:off x="4233672" y="4791456"/>
            <a:ext cx="1371600" cy="1005840"/>
          </a:xfrm>
          <a:prstGeom prst="can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50">
                <a:solidFill>
                  <a:srgbClr val="202020"/>
                </a:solidFill>
                <a:latin typeface="Calibri"/>
              </a:rPr>
              <a:t>Azure PostgreSQL</a:t>
            </a:r>
          </a:p>
          <a:p>
            <a:pPr algn="ctr"/>
            <a:r>
              <a:rPr sz="700">
                <a:solidFill>
                  <a:srgbClr val="595959"/>
                </a:solidFill>
                <a:latin typeface="Calibri"/>
              </a:rPr>
              <a:t>Flexible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5797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95959"/>
                </a:solidFill>
                <a:latin typeface="Calibri"/>
              </a:rPr>
              <a:t>cycles / scorecards / meetings / agent_runs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4791456"/>
            <a:ext cx="938783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850">
                <a:solidFill>
                  <a:srgbClr val="202020"/>
                </a:solidFill>
                <a:latin typeface="Calibri"/>
              </a:rPr>
              <a:t>Azure Key Vault</a:t>
            </a:r>
          </a:p>
          <a:p>
            <a:pPr algn="ctr"/>
            <a:r>
              <a:rPr sz="680">
                <a:solidFill>
                  <a:srgbClr val="595959"/>
                </a:solidFill>
                <a:latin typeface="Calibri"/>
              </a:rPr>
              <a:t>LLM key / Graph cert / JWT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09232" y="4791456"/>
            <a:ext cx="938783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850">
                <a:solidFill>
                  <a:srgbClr val="202020"/>
                </a:solidFill>
                <a:latin typeface="Calibri"/>
              </a:rPr>
              <a:t>Blob Storage</a:t>
            </a:r>
          </a:p>
          <a:p>
            <a:pPr algn="ctr"/>
            <a:r>
              <a:rPr sz="680">
                <a:solidFill>
                  <a:srgbClr val="595959"/>
                </a:solidFill>
                <a:latin typeface="Calibri"/>
              </a:rPr>
              <a:t>minutes, transcripts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57744" y="4791456"/>
            <a:ext cx="938783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850">
                <a:solidFill>
                  <a:srgbClr val="202020"/>
                </a:solidFill>
                <a:latin typeface="Calibri"/>
              </a:rPr>
              <a:t>App Insights + Log Analytics</a:t>
            </a:r>
          </a:p>
          <a:p>
            <a:pPr algn="ctr"/>
            <a:r>
              <a:rPr sz="680">
                <a:solidFill>
                  <a:srgbClr val="595959"/>
                </a:solidFill>
                <a:latin typeface="Calibri"/>
              </a:rPr>
              <a:t>OTel / immutable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1188720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External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81160" y="1499616"/>
            <a:ext cx="2587752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262872" y="91440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1755648"/>
            <a:ext cx="2587752" cy="4690872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0888" y="1792224"/>
            <a:ext cx="2368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95959"/>
                </a:solidFill>
                <a:latin typeface="Calibri"/>
              </a:rPr>
              <a:t>Outbound HTTPS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2240280"/>
            <a:ext cx="2313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50">
                <a:solidFill>
                  <a:srgbClr val="202020"/>
                </a:solidFill>
                <a:latin typeface="Calibri"/>
              </a:rPr>
              <a:t>Microsoft Entra ID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Calibri"/>
              </a:rPr>
              <a:t>Shell SSO, groups to roles, app identity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0616" y="233172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0" sz="600">
                <a:solidFill>
                  <a:srgbClr val="BFBFBF"/>
                </a:solidFill>
                <a:latin typeface="Calibri"/>
              </a:rPr>
              <a:t>icon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3520440"/>
            <a:ext cx="2313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50">
                <a:solidFill>
                  <a:srgbClr val="202020"/>
                </a:solidFill>
                <a:latin typeface="Calibri"/>
              </a:rPr>
              <a:t>Microsoft Foundry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Calibri"/>
              </a:rPr>
              <a:t>Responses API + content safety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0616" y="361188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0" sz="600">
                <a:solidFill>
                  <a:srgbClr val="BFBFBF"/>
                </a:solidFill>
                <a:latin typeface="Calibri"/>
              </a:rPr>
              <a:t>icon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4800600"/>
            <a:ext cx="2313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950">
                <a:solidFill>
                  <a:srgbClr val="202020"/>
                </a:solidFill>
                <a:latin typeface="Calibri"/>
              </a:rPr>
              <a:t>Microsoft Graph (Shell tenant)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Calibri"/>
              </a:rPr>
              <a:t>Mail.Send / Calendars / OnlineMtgs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0616" y="489204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0" sz="600">
                <a:solidFill>
                  <a:srgbClr val="BFBFBF"/>
                </a:solidFill>
                <a:latin typeface="Calibri"/>
              </a:rPr>
              <a:t>icon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32888" y="3566160"/>
            <a:ext cx="146304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675887" y="3566160"/>
            <a:ext cx="192025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515100" y="4270248"/>
            <a:ext cx="0" cy="13716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144000" y="2743200"/>
            <a:ext cx="118872" cy="0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641080" y="23957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95959"/>
                </a:solidFill>
                <a:latin typeface="Calibri"/>
              </a:rPr>
              <a:t>outbound HTTPS</a:t>
            </a:r>
          </a:p>
        </p:txBody>
      </p:sp>
      <p:sp>
        <p:nvSpPr>
          <p:cNvPr id="56" name="Oval 55"/>
          <p:cNvSpPr/>
          <p:nvPr/>
        </p:nvSpPr>
        <p:spPr>
          <a:xfrm>
            <a:off x="2542032" y="301752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7" name="Oval 56"/>
          <p:cNvSpPr/>
          <p:nvPr/>
        </p:nvSpPr>
        <p:spPr>
          <a:xfrm>
            <a:off x="6377940" y="4096512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556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1 Client / SSO sign-in    2 Front Door + WAF    3 App Service: workflow + approval gate    4 Data tier via Private Link    5 External services over outbound HTTPS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