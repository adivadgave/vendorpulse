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147483647" r:id="rId4"/>
    <p:sldId id="2147473445" r:id="rId5"/>
    <p:sldId id="259" r:id="rId6"/>
    <p:sldId id="260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696A9-1372-8E22-2842-5B71BE6755B0}" v="1" dt="2026-06-10T10:00:11.280"/>
    <p1510:client id="{40D9D016-C559-BDB4-16D6-CF8B9CACCA4D}" v="2" dt="2026-06-10T11:21:32.722"/>
    <p1510:client id="{B1B67BD1-1FE0-A65C-D129-8A9F0134593F}" v="8" dt="2026-06-10T13:55:22.886"/>
    <p1510:client id="{B7F825C1-5D5A-30AA-EABA-D3E1F381FD29}" v="1" dt="2026-06-10T09:58:42.501"/>
    <p1510:client id="{CE24A81F-78C0-EBF7-0E60-FED148BF6E41}" v="4" dt="2026-06-10T11:09:22.941"/>
    <p1510:client id="{FDC8CB93-3E8C-909C-7E62-B6AA49D1393C}" v="3" dt="2026-06-10T09:56:22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1BAC-CB92-4D19-96E1-F291E920C80C}" type="datetimeFigureOut">
              <a:t>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1954F-55F6-4F46-B232-21209F73E18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92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87D21-8B67-8D48-B247-A450F35D34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8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16">
            <a:extLst>
              <a:ext uri="{FF2B5EF4-FFF2-40B4-BE49-F238E27FC236}">
                <a16:creationId xmlns:a16="http://schemas.microsoft.com/office/drawing/2014/main" id="{2C69DE10-0998-8ADB-BB92-E482E1AD4F1E}"/>
              </a:ext>
            </a:extLst>
          </p:cNvPr>
          <p:cNvSpPr/>
          <p:nvPr userDrawn="1"/>
        </p:nvSpPr>
        <p:spPr>
          <a:xfrm rot="16200000">
            <a:off x="-317305" y="100214"/>
            <a:ext cx="853205" cy="853205"/>
          </a:xfrm>
          <a:prstGeom prst="pie">
            <a:avLst>
              <a:gd name="adj1" fmla="val 0"/>
              <a:gd name="adj2" fmla="val 5388049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49" y="158735"/>
            <a:ext cx="9413875" cy="3284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944278-FB05-4B2C-B28E-43C7C07CA977}"/>
              </a:ext>
            </a:extLst>
          </p:cNvPr>
          <p:cNvSpPr txBox="1"/>
          <p:nvPr userDrawn="1"/>
        </p:nvSpPr>
        <p:spPr>
          <a:xfrm>
            <a:off x="20320" y="6541249"/>
            <a:ext cx="290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 Regular"/>
                <a:cs typeface="Arial" panose="020B0604020202020204" pitchFamily="34" charset="0"/>
              </a:rPr>
              <a:t>© Zensar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1200">
                <a:latin typeface="Arial Regular"/>
                <a:cs typeface="Arial" panose="020B0604020202020204" pitchFamily="34" charset="0"/>
              </a:rPr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1886273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329381"/>
            <a:ext cx="9413875" cy="3584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000" b="0" i="0" spc="4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2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C24094-4A3C-F1D4-9FCA-14AEDD765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5" y="366959"/>
            <a:ext cx="11220950" cy="430118"/>
          </a:xfrm>
        </p:spPr>
        <p:txBody>
          <a:bodyPr/>
          <a:lstStyle/>
          <a:p>
            <a:r>
              <a:rPr lang="en-US" sz="2400"/>
              <a:t>Cloude Architecture View-VM in Azure, Fabric DW, SharePoint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0DCAE-6744-F4B4-A1DA-34D5428C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807" y="62630"/>
            <a:ext cx="1511378" cy="40007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355A17A-67DF-1918-6B5B-48EC151C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926926"/>
            <a:ext cx="11612563" cy="577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65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C24094-4A3C-F1D4-9FCA-14AEDD765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5" y="366959"/>
            <a:ext cx="11220950" cy="430118"/>
          </a:xfrm>
        </p:spPr>
        <p:txBody>
          <a:bodyPr/>
          <a:lstStyle/>
          <a:p>
            <a:r>
              <a:rPr lang="en-US" sz="2400"/>
              <a:t>Cloude Architecture View-VM in Azure, Fabric DW, SharePoint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0DCAE-6744-F4B4-A1DA-34D5428C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807" y="62630"/>
            <a:ext cx="1511378" cy="40007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355A17A-67DF-1918-6B5B-48EC151C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926926"/>
            <a:ext cx="11612563" cy="577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56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877044-9B26-1B71-DAFF-B3A275AEC1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4568" y="155682"/>
            <a:ext cx="3640778" cy="294328"/>
          </a:xfrm>
        </p:spPr>
        <p:txBody>
          <a:bodyPr>
            <a:normAutofit fontScale="70000" lnSpcReduction="20000"/>
          </a:bodyPr>
          <a:lstStyle/>
          <a:p>
            <a:r>
              <a:rPr lang="en-US" b="1">
                <a:latin typeface="Arial"/>
                <a:cs typeface="Arial"/>
              </a:rPr>
              <a:t>Proposed Architecture</a:t>
            </a:r>
            <a:endParaRPr lang="en-US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AAAC33-9DF6-D19D-2E69-9E634452FAC0}"/>
              </a:ext>
            </a:extLst>
          </p:cNvPr>
          <p:cNvSpPr txBox="1"/>
          <p:nvPr/>
        </p:nvSpPr>
        <p:spPr>
          <a:xfrm>
            <a:off x="3504329" y="6346133"/>
            <a:ext cx="8500869" cy="13375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defTabSz="914341">
              <a:defRPr/>
            </a:pP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&amp; ACCESS CONTROL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AC6C804-C8C2-A3AA-EF17-4B4FCD58E15A}"/>
              </a:ext>
            </a:extLst>
          </p:cNvPr>
          <p:cNvSpPr/>
          <p:nvPr/>
        </p:nvSpPr>
        <p:spPr bwMode="auto">
          <a:xfrm>
            <a:off x="58748" y="3085118"/>
            <a:ext cx="586391" cy="58639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63500" dir="5940000" sx="104000" sy="104000" algn="tl" rotWithShape="0">
              <a:prstClr val="black">
                <a:alpha val="5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60" name="Rectangle 1459">
            <a:extLst>
              <a:ext uri="{FF2B5EF4-FFF2-40B4-BE49-F238E27FC236}">
                <a16:creationId xmlns:a16="http://schemas.microsoft.com/office/drawing/2014/main" id="{D2481EBA-843A-DC51-20C3-E3DBF36D8E34}"/>
              </a:ext>
            </a:extLst>
          </p:cNvPr>
          <p:cNvSpPr/>
          <p:nvPr/>
        </p:nvSpPr>
        <p:spPr>
          <a:xfrm>
            <a:off x="6081105" y="6753487"/>
            <a:ext cx="2240040" cy="321927"/>
          </a:xfrm>
          <a:prstGeom prst="rect">
            <a:avLst/>
          </a:prstGeom>
          <a:noFill/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1000" b="1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Middleware Service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03B53-9D91-72E5-8AE2-1140CFEA414B}"/>
              </a:ext>
            </a:extLst>
          </p:cNvPr>
          <p:cNvSpPr txBox="1"/>
          <p:nvPr/>
        </p:nvSpPr>
        <p:spPr>
          <a:xfrm>
            <a:off x="2203450" y="6572231"/>
            <a:ext cx="9886461" cy="2462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Above proposed Architecture diagram will be refined post Solution Engineering Phase</a:t>
            </a:r>
          </a:p>
        </p:txBody>
      </p:sp>
      <p:sp>
        <p:nvSpPr>
          <p:cNvPr id="1238" name="Rectangle 1237">
            <a:extLst>
              <a:ext uri="{FF2B5EF4-FFF2-40B4-BE49-F238E27FC236}">
                <a16:creationId xmlns:a16="http://schemas.microsoft.com/office/drawing/2014/main" id="{BEB03F6E-C4C2-91D4-A99A-3A2A8F17A00F}"/>
              </a:ext>
            </a:extLst>
          </p:cNvPr>
          <p:cNvSpPr/>
          <p:nvPr/>
        </p:nvSpPr>
        <p:spPr>
          <a:xfrm>
            <a:off x="962278" y="804686"/>
            <a:ext cx="3164469" cy="525357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vert="horz" lIns="91440" tIns="91440" rIns="0" bIns="91440" rtlCol="0" anchor="t" anchorCtr="0">
            <a:noAutofit/>
          </a:bodyPr>
          <a:lstStyle/>
          <a:p>
            <a:pPr algn="ctr"/>
            <a:endParaRPr 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262883-AF00-3D20-8910-65A973132B57}"/>
              </a:ext>
            </a:extLst>
          </p:cNvPr>
          <p:cNvSpPr txBox="1"/>
          <p:nvPr/>
        </p:nvSpPr>
        <p:spPr>
          <a:xfrm>
            <a:off x="115491" y="5888845"/>
            <a:ext cx="8505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877824">
              <a:defRPr sz="768" b="1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IN"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SUPPORTING </a:t>
            </a:r>
          </a:p>
          <a:p>
            <a:r>
              <a:rPr lang="en-IN"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2EFE77-F18F-84DF-8DA3-FB6458D70131}"/>
              </a:ext>
            </a:extLst>
          </p:cNvPr>
          <p:cNvSpPr txBox="1"/>
          <p:nvPr/>
        </p:nvSpPr>
        <p:spPr>
          <a:xfrm>
            <a:off x="1251632" y="6346133"/>
            <a:ext cx="2171751" cy="13375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defTabSz="914341">
              <a:defRPr/>
            </a:pP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MONITORING &amp; NOTIFICATION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0F0D587-877D-467E-FC2B-F47D19AD1DD2}"/>
              </a:ext>
            </a:extLst>
          </p:cNvPr>
          <p:cNvSpPr/>
          <p:nvPr/>
        </p:nvSpPr>
        <p:spPr>
          <a:xfrm>
            <a:off x="1101626" y="881108"/>
            <a:ext cx="2822523" cy="206766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0" bIns="91440" rtlCol="0" anchor="ctr" anchorCtr="0"/>
          <a:lstStyle/>
          <a:p>
            <a:pPr algn="ctr"/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 Design System</a:t>
            </a:r>
          </a:p>
        </p:txBody>
      </p:sp>
      <p:pic>
        <p:nvPicPr>
          <p:cNvPr id="170" name="Picture 169">
            <a:extLst>
              <a:ext uri="{FF2B5EF4-FFF2-40B4-BE49-F238E27FC236}">
                <a16:creationId xmlns:a16="http://schemas.microsoft.com/office/drawing/2014/main" id="{1D3C41F4-285C-8379-9917-2560EB2B1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71" y="3176188"/>
            <a:ext cx="452052" cy="452052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CAE892DB-E80F-1F27-EDEA-00CE72F61A4D}"/>
              </a:ext>
            </a:extLst>
          </p:cNvPr>
          <p:cNvSpPr/>
          <p:nvPr/>
        </p:nvSpPr>
        <p:spPr>
          <a:xfrm>
            <a:off x="187058" y="1821398"/>
            <a:ext cx="647558" cy="483970"/>
          </a:xfrm>
          <a:prstGeom prst="rect">
            <a:avLst/>
          </a:prstGeom>
          <a:solidFill>
            <a:schemeClr val="bg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algn="ctr" defTabSz="914400"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User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6F2BAC4-AEAA-3D37-1410-898F11C0112D}"/>
              </a:ext>
            </a:extLst>
          </p:cNvPr>
          <p:cNvSpPr txBox="1"/>
          <p:nvPr/>
        </p:nvSpPr>
        <p:spPr>
          <a:xfrm>
            <a:off x="260871" y="3666528"/>
            <a:ext cx="586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IN" sz="1050" b="1" spc="5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794349E4-683A-7C23-51BB-D7CE010B4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2" y="3178255"/>
            <a:ext cx="449674" cy="449674"/>
          </a:xfrm>
          <a:prstGeom prst="rect">
            <a:avLst/>
          </a:prstGeom>
        </p:spPr>
      </p:pic>
      <p:pic>
        <p:nvPicPr>
          <p:cNvPr id="1028" name="Picture 4" descr="User Icon Vector Art, Icons, and Graphics for Free Download">
            <a:extLst>
              <a:ext uri="{FF2B5EF4-FFF2-40B4-BE49-F238E27FC236}">
                <a16:creationId xmlns:a16="http://schemas.microsoft.com/office/drawing/2014/main" id="{D8AB22C1-065F-7321-EC95-3972458E8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56" y="2390799"/>
            <a:ext cx="505203" cy="49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3" name="TextBox 1462">
            <a:extLst>
              <a:ext uri="{FF2B5EF4-FFF2-40B4-BE49-F238E27FC236}">
                <a16:creationId xmlns:a16="http://schemas.microsoft.com/office/drawing/2014/main" id="{79C3CA42-7718-836A-029D-8026E5ACFA26}"/>
              </a:ext>
            </a:extLst>
          </p:cNvPr>
          <p:cNvSpPr txBox="1"/>
          <p:nvPr/>
        </p:nvSpPr>
        <p:spPr>
          <a:xfrm>
            <a:off x="224306" y="4147724"/>
            <a:ext cx="539175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Web App</a:t>
            </a:r>
          </a:p>
        </p:txBody>
      </p:sp>
      <p:pic>
        <p:nvPicPr>
          <p:cNvPr id="8" name="Picture 7" descr="AWS Cloud Identity and Access Management (IAM) Security| CyberArk">
            <a:extLst>
              <a:ext uri="{FF2B5EF4-FFF2-40B4-BE49-F238E27FC236}">
                <a16:creationId xmlns:a16="http://schemas.microsoft.com/office/drawing/2014/main" id="{334D881F-4681-74F4-27E1-FFB7D7700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82" y="5450541"/>
            <a:ext cx="636407" cy="42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91" name="Elbow Connector 1390">
            <a:extLst>
              <a:ext uri="{FF2B5EF4-FFF2-40B4-BE49-F238E27FC236}">
                <a16:creationId xmlns:a16="http://schemas.microsoft.com/office/drawing/2014/main" id="{97841A59-7E91-AA62-557B-8D731627A55D}"/>
              </a:ext>
            </a:extLst>
          </p:cNvPr>
          <p:cNvCxnSpPr>
            <a:cxnSpLocks/>
            <a:stCxn id="46" idx="1"/>
          </p:cNvCxnSpPr>
          <p:nvPr/>
        </p:nvCxnSpPr>
        <p:spPr>
          <a:xfrm rot="10800000" flipV="1">
            <a:off x="624069" y="2318266"/>
            <a:ext cx="450658" cy="182237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FF407C-B86B-3B19-914A-847A6190BE3C}"/>
              </a:ext>
            </a:extLst>
          </p:cNvPr>
          <p:cNvCxnSpPr>
            <a:cxnSpLocks/>
          </p:cNvCxnSpPr>
          <p:nvPr/>
        </p:nvCxnSpPr>
        <p:spPr>
          <a:xfrm>
            <a:off x="981571" y="746625"/>
            <a:ext cx="3164469" cy="451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78AE452-C0B3-0D97-C37D-9F4F700B002F}"/>
              </a:ext>
            </a:extLst>
          </p:cNvPr>
          <p:cNvSpPr txBox="1"/>
          <p:nvPr/>
        </p:nvSpPr>
        <p:spPr>
          <a:xfrm>
            <a:off x="1247611" y="414687"/>
            <a:ext cx="1474436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595959"/>
                </a:solidFill>
                <a:latin typeface="Calibri"/>
                <a:cs typeface="Arial"/>
              </a:rPr>
              <a:t>Presentation Layer</a:t>
            </a:r>
            <a:endParaRPr lang="en-US" sz="1200" b="1">
              <a:solidFill>
                <a:srgbClr val="595959"/>
              </a:solidFill>
              <a:latin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7C949A-7588-D6B6-DD9D-5140C6D4504F}"/>
              </a:ext>
            </a:extLst>
          </p:cNvPr>
          <p:cNvSpPr txBox="1"/>
          <p:nvPr/>
        </p:nvSpPr>
        <p:spPr>
          <a:xfrm>
            <a:off x="47" y="6295108"/>
            <a:ext cx="77097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ctr" defTabSz="877824">
              <a:defRPr sz="768" b="1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IN" sz="800">
                <a:solidFill>
                  <a:schemeClr val="tx1"/>
                </a:solidFill>
                <a:latin typeface="Calibri"/>
                <a:cs typeface="Calibri"/>
              </a:rPr>
              <a:t>AA IT OPS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76E022C-624C-044E-9F6B-6E88CE8EC399}"/>
              </a:ext>
            </a:extLst>
          </p:cNvPr>
          <p:cNvCxnSpPr>
            <a:cxnSpLocks/>
          </p:cNvCxnSpPr>
          <p:nvPr/>
        </p:nvCxnSpPr>
        <p:spPr>
          <a:xfrm flipH="1">
            <a:off x="711682" y="6412802"/>
            <a:ext cx="477671" cy="1984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B052EBB-1AD2-4C35-FC07-7E8A78A7410C}"/>
              </a:ext>
            </a:extLst>
          </p:cNvPr>
          <p:cNvSpPr/>
          <p:nvPr/>
        </p:nvSpPr>
        <p:spPr>
          <a:xfrm>
            <a:off x="1074727" y="1270359"/>
            <a:ext cx="2856994" cy="20958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vert="horz" lIns="0" tIns="91440" rIns="0" bIns="91440" rtlCol="0" anchor="t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Building blocks</a:t>
            </a:r>
            <a:endParaRPr lang="en-US">
              <a:cs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0E2571-3A70-20AC-887B-641D96FE6D97}"/>
              </a:ext>
            </a:extLst>
          </p:cNvPr>
          <p:cNvSpPr/>
          <p:nvPr/>
        </p:nvSpPr>
        <p:spPr>
          <a:xfrm>
            <a:off x="1120903" y="2470693"/>
            <a:ext cx="122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IN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  Access and Role Management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77D0C3-C762-42AB-6C83-02694193592E}"/>
              </a:ext>
            </a:extLst>
          </p:cNvPr>
          <p:cNvSpPr/>
          <p:nvPr/>
        </p:nvSpPr>
        <p:spPr>
          <a:xfrm>
            <a:off x="1101626" y="1964724"/>
            <a:ext cx="1224000" cy="36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017D94-5A51-613C-7F3E-99796FB2F287}"/>
              </a:ext>
            </a:extLst>
          </p:cNvPr>
          <p:cNvSpPr/>
          <p:nvPr/>
        </p:nvSpPr>
        <p:spPr>
          <a:xfrm>
            <a:off x="2573231" y="1964724"/>
            <a:ext cx="122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 Call to API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A43E6C-B8E0-0631-CF88-575B38A78E30}"/>
              </a:ext>
            </a:extLst>
          </p:cNvPr>
          <p:cNvSpPr/>
          <p:nvPr/>
        </p:nvSpPr>
        <p:spPr>
          <a:xfrm>
            <a:off x="2573669" y="2470693"/>
            <a:ext cx="122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/ Authorization</a:t>
            </a:r>
          </a:p>
        </p:txBody>
      </p: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767AF9EC-6809-AC7A-3829-15464D797B7C}"/>
              </a:ext>
            </a:extLst>
          </p:cNvPr>
          <p:cNvCxnSpPr>
            <a:cxnSpLocks/>
          </p:cNvCxnSpPr>
          <p:nvPr/>
        </p:nvCxnSpPr>
        <p:spPr>
          <a:xfrm>
            <a:off x="4225304" y="701348"/>
            <a:ext cx="38099" cy="558314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0" name="TextBox 1379">
            <a:extLst>
              <a:ext uri="{FF2B5EF4-FFF2-40B4-BE49-F238E27FC236}">
                <a16:creationId xmlns:a16="http://schemas.microsoft.com/office/drawing/2014/main" id="{73D0839A-521C-8DE0-F9B3-4259708D5614}"/>
              </a:ext>
            </a:extLst>
          </p:cNvPr>
          <p:cNvSpPr txBox="1"/>
          <p:nvPr/>
        </p:nvSpPr>
        <p:spPr>
          <a:xfrm rot="16200000">
            <a:off x="3879633" y="2298789"/>
            <a:ext cx="481844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b="1">
                <a:latin typeface="Calibri" panose="020F0502020204030204" pitchFamily="34" charset="0"/>
                <a:cs typeface="Calibri" panose="020F0502020204030204" pitchFamily="34" charset="0"/>
              </a:rPr>
              <a:t>HTTPS</a:t>
            </a:r>
            <a:endParaRPr lang="en-US" sz="9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0F207A50-4B4D-6D9A-8947-77075BE96556}"/>
              </a:ext>
            </a:extLst>
          </p:cNvPr>
          <p:cNvSpPr/>
          <p:nvPr/>
        </p:nvSpPr>
        <p:spPr>
          <a:xfrm>
            <a:off x="2553569" y="1510667"/>
            <a:ext cx="122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Library</a:t>
            </a:r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CC35D3A-0D26-ED77-0C67-63C0013EAF88}"/>
              </a:ext>
            </a:extLst>
          </p:cNvPr>
          <p:cNvSpPr/>
          <p:nvPr/>
        </p:nvSpPr>
        <p:spPr>
          <a:xfrm>
            <a:off x="1740829" y="2974204"/>
            <a:ext cx="1224000" cy="36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58A59B7E-05DE-1973-CBDA-833E943A3847}"/>
              </a:ext>
            </a:extLst>
          </p:cNvPr>
          <p:cNvSpPr/>
          <p:nvPr/>
        </p:nvSpPr>
        <p:spPr>
          <a:xfrm>
            <a:off x="1101626" y="1510667"/>
            <a:ext cx="1224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B0B8B8F-41A2-81E9-5F10-F92C26E7235E}"/>
              </a:ext>
            </a:extLst>
          </p:cNvPr>
          <p:cNvGrpSpPr/>
          <p:nvPr/>
        </p:nvGrpSpPr>
        <p:grpSpPr>
          <a:xfrm>
            <a:off x="1056770" y="3575177"/>
            <a:ext cx="2981269" cy="2256364"/>
            <a:chOff x="5438615" y="2960607"/>
            <a:chExt cx="2978584" cy="2907379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B711784-6659-3EDE-21C9-601B24052572}"/>
                </a:ext>
              </a:extLst>
            </p:cNvPr>
            <p:cNvSpPr/>
            <p:nvPr/>
          </p:nvSpPr>
          <p:spPr>
            <a:xfrm>
              <a:off x="5438615" y="2960607"/>
              <a:ext cx="2978584" cy="2907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endPara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4AFC308-B824-1C9B-AC62-52644936E629}"/>
                </a:ext>
              </a:extLst>
            </p:cNvPr>
            <p:cNvSpPr/>
            <p:nvPr/>
          </p:nvSpPr>
          <p:spPr>
            <a:xfrm>
              <a:off x="5522561" y="3265982"/>
              <a:ext cx="1283374" cy="40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Login Functionality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2BAB381-FECD-9ACD-7BE5-432432BC1B67}"/>
                </a:ext>
              </a:extLst>
            </p:cNvPr>
            <p:cNvSpPr/>
            <p:nvPr/>
          </p:nvSpPr>
          <p:spPr>
            <a:xfrm>
              <a:off x="5522564" y="3795440"/>
              <a:ext cx="1281422" cy="40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Search Functionality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5D4E89C-B823-F929-D4E8-BE279E9167D6}"/>
                </a:ext>
              </a:extLst>
            </p:cNvPr>
            <p:cNvSpPr/>
            <p:nvPr/>
          </p:nvSpPr>
          <p:spPr>
            <a:xfrm>
              <a:off x="5532690" y="4326244"/>
              <a:ext cx="2770721" cy="40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Information (profile) Display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7BBD33F-FA35-6C04-1C60-B202F0917D87}"/>
                </a:ext>
              </a:extLst>
            </p:cNvPr>
            <p:cNvSpPr/>
            <p:nvPr/>
          </p:nvSpPr>
          <p:spPr>
            <a:xfrm>
              <a:off x="6827349" y="3265982"/>
              <a:ext cx="1483628" cy="40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Modules(n)</a:t>
              </a:r>
              <a:endPara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73158A6-BA6E-98AE-5992-78086DFC1215}"/>
                </a:ext>
              </a:extLst>
            </p:cNvPr>
            <p:cNvSpPr/>
            <p:nvPr/>
          </p:nvSpPr>
          <p:spPr>
            <a:xfrm>
              <a:off x="6827349" y="3795440"/>
              <a:ext cx="1483628" cy="40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Reporting and Data Export</a:t>
              </a:r>
              <a:endParaRPr lang="en-US"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9CF6246-AACC-C667-36D7-D419EA8D0315}"/>
                </a:ext>
              </a:extLst>
            </p:cNvPr>
            <p:cNvSpPr/>
            <p:nvPr/>
          </p:nvSpPr>
          <p:spPr>
            <a:xfrm>
              <a:off x="5519813" y="4806378"/>
              <a:ext cx="2783599" cy="408668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User Specific Views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C0C790C-BA29-BF57-4918-AE51EA5D6E16}"/>
                </a:ext>
              </a:extLst>
            </p:cNvPr>
            <p:cNvSpPr/>
            <p:nvPr/>
          </p:nvSpPr>
          <p:spPr>
            <a:xfrm>
              <a:off x="5522564" y="5307853"/>
              <a:ext cx="2784472" cy="408668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lIns="0" tIns="91440" rIns="0" bIns="91440" rtlCol="0" anchor="ctr" anchorCtr="0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IN" sz="900" spc="5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GPT- Chatbot 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5C0F139F-EAF5-CFC0-F25A-97811A34C781}"/>
              </a:ext>
            </a:extLst>
          </p:cNvPr>
          <p:cNvSpPr txBox="1"/>
          <p:nvPr/>
        </p:nvSpPr>
        <p:spPr>
          <a:xfrm>
            <a:off x="1120545" y="3438823"/>
            <a:ext cx="98283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>
            <a:defPPr>
              <a:defRPr lang="en-US"/>
            </a:defPPr>
            <a:lvl1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 sz="900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Modules</a:t>
            </a:r>
          </a:p>
        </p:txBody>
      </p:sp>
      <p:cxnSp>
        <p:nvCxnSpPr>
          <p:cNvPr id="1426" name="Straight Connector 1425">
            <a:extLst>
              <a:ext uri="{FF2B5EF4-FFF2-40B4-BE49-F238E27FC236}">
                <a16:creationId xmlns:a16="http://schemas.microsoft.com/office/drawing/2014/main" id="{5DA74F8A-66D1-5CBA-91A5-B8F0F2418F78}"/>
              </a:ext>
            </a:extLst>
          </p:cNvPr>
          <p:cNvCxnSpPr>
            <a:cxnSpLocks/>
          </p:cNvCxnSpPr>
          <p:nvPr/>
        </p:nvCxnSpPr>
        <p:spPr>
          <a:xfrm flipH="1">
            <a:off x="10099467" y="676095"/>
            <a:ext cx="18794" cy="555538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7" name="Rectangle 1426">
            <a:extLst>
              <a:ext uri="{FF2B5EF4-FFF2-40B4-BE49-F238E27FC236}">
                <a16:creationId xmlns:a16="http://schemas.microsoft.com/office/drawing/2014/main" id="{0110F6BB-F164-8895-6E42-50974992FF64}"/>
              </a:ext>
            </a:extLst>
          </p:cNvPr>
          <p:cNvSpPr/>
          <p:nvPr/>
        </p:nvSpPr>
        <p:spPr>
          <a:xfrm>
            <a:off x="4416771" y="805829"/>
            <a:ext cx="856397" cy="540579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vert="horz" lIns="91440" tIns="91440" rIns="0" bIns="91440" rtlCol="0" anchor="t" anchorCtr="0">
            <a:noAutofit/>
          </a:bodyPr>
          <a:lstStyle/>
          <a:p>
            <a:pPr algn="ctr"/>
            <a:endParaRPr 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8" name="Rectangle 1427">
            <a:extLst>
              <a:ext uri="{FF2B5EF4-FFF2-40B4-BE49-F238E27FC236}">
                <a16:creationId xmlns:a16="http://schemas.microsoft.com/office/drawing/2014/main" id="{E429218A-8104-CE46-8123-DD3D97684AD4}"/>
              </a:ext>
            </a:extLst>
          </p:cNvPr>
          <p:cNvSpPr/>
          <p:nvPr/>
        </p:nvSpPr>
        <p:spPr>
          <a:xfrm>
            <a:off x="5585832" y="821192"/>
            <a:ext cx="3492847" cy="190298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latin typeface="Calibri"/>
                <a:cs typeface="Calibri"/>
              </a:rPr>
              <a:t> REST / GRAPHQL / GRPC - API</a:t>
            </a:r>
          </a:p>
          <a:p>
            <a:pPr algn="ctr"/>
            <a:endParaRPr 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9" name="Rectangle 1428">
            <a:extLst>
              <a:ext uri="{FF2B5EF4-FFF2-40B4-BE49-F238E27FC236}">
                <a16:creationId xmlns:a16="http://schemas.microsoft.com/office/drawing/2014/main" id="{39891A91-B5DC-4D16-13E4-F26379542116}"/>
              </a:ext>
            </a:extLst>
          </p:cNvPr>
          <p:cNvSpPr/>
          <p:nvPr/>
        </p:nvSpPr>
        <p:spPr>
          <a:xfrm rot="16200000">
            <a:off x="3833942" y="3821795"/>
            <a:ext cx="2101924" cy="6306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Identity </a:t>
            </a:r>
          </a:p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Provider</a:t>
            </a:r>
          </a:p>
        </p:txBody>
      </p:sp>
      <p:sp>
        <p:nvSpPr>
          <p:cNvPr id="1430" name="Rectangle 1429">
            <a:extLst>
              <a:ext uri="{FF2B5EF4-FFF2-40B4-BE49-F238E27FC236}">
                <a16:creationId xmlns:a16="http://schemas.microsoft.com/office/drawing/2014/main" id="{C685F1B1-6F7F-7C59-BFFF-89164FD152BF}"/>
              </a:ext>
            </a:extLst>
          </p:cNvPr>
          <p:cNvSpPr/>
          <p:nvPr/>
        </p:nvSpPr>
        <p:spPr>
          <a:xfrm rot="16200000">
            <a:off x="4037874" y="1567256"/>
            <a:ext cx="1680799" cy="6330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</a:p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Gateway</a:t>
            </a:r>
          </a:p>
        </p:txBody>
      </p:sp>
      <p:pic>
        <p:nvPicPr>
          <p:cNvPr id="1432" name="Picture 6" descr="aws icon, iam icon">
            <a:extLst>
              <a:ext uri="{FF2B5EF4-FFF2-40B4-BE49-F238E27FC236}">
                <a16:creationId xmlns:a16="http://schemas.microsoft.com/office/drawing/2014/main" id="{31F17101-58AA-A9CE-080C-8C6C27831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79"/>
          <a:stretch/>
        </p:blipFill>
        <p:spPr bwMode="auto">
          <a:xfrm>
            <a:off x="4795494" y="4610848"/>
            <a:ext cx="192928" cy="3413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33" name="Picture 8" descr="Test and monitor your API Gateway endpoints with Assertible : Assertible">
            <a:extLst>
              <a:ext uri="{FF2B5EF4-FFF2-40B4-BE49-F238E27FC236}">
                <a16:creationId xmlns:a16="http://schemas.microsoft.com/office/drawing/2014/main" id="{67F3C3C2-6F04-2354-399F-835A56D2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137" y="1194273"/>
            <a:ext cx="333052" cy="33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34" name="Straight Arrow Connector 1433">
            <a:extLst>
              <a:ext uri="{FF2B5EF4-FFF2-40B4-BE49-F238E27FC236}">
                <a16:creationId xmlns:a16="http://schemas.microsoft.com/office/drawing/2014/main" id="{ED7BE1CB-DBAA-CB43-6E0B-C60C1C8BEF99}"/>
              </a:ext>
            </a:extLst>
          </p:cNvPr>
          <p:cNvCxnSpPr>
            <a:cxnSpLocks/>
          </p:cNvCxnSpPr>
          <p:nvPr/>
        </p:nvCxnSpPr>
        <p:spPr>
          <a:xfrm>
            <a:off x="5280050" y="960429"/>
            <a:ext cx="356953" cy="5442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Straight Arrow Connector 1434">
            <a:extLst>
              <a:ext uri="{FF2B5EF4-FFF2-40B4-BE49-F238E27FC236}">
                <a16:creationId xmlns:a16="http://schemas.microsoft.com/office/drawing/2014/main" id="{F17CD886-BB38-CC48-749A-61FADB5964CD}"/>
              </a:ext>
            </a:extLst>
          </p:cNvPr>
          <p:cNvCxnSpPr>
            <a:cxnSpLocks/>
          </p:cNvCxnSpPr>
          <p:nvPr/>
        </p:nvCxnSpPr>
        <p:spPr>
          <a:xfrm>
            <a:off x="4418288" y="730190"/>
            <a:ext cx="1028132" cy="455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36" name="TextBox 1435">
            <a:extLst>
              <a:ext uri="{FF2B5EF4-FFF2-40B4-BE49-F238E27FC236}">
                <a16:creationId xmlns:a16="http://schemas.microsoft.com/office/drawing/2014/main" id="{3A1ED947-B243-A86C-F233-60E08BB21FFF}"/>
              </a:ext>
            </a:extLst>
          </p:cNvPr>
          <p:cNvSpPr txBox="1"/>
          <p:nvPr/>
        </p:nvSpPr>
        <p:spPr>
          <a:xfrm>
            <a:off x="4523152" y="414687"/>
            <a:ext cx="1084144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595959"/>
                </a:solidFill>
                <a:latin typeface="Calibri"/>
                <a:cs typeface="Arial"/>
              </a:rPr>
              <a:t>API Gateway</a:t>
            </a:r>
            <a:endParaRPr lang="en-US" sz="1200" b="1">
              <a:solidFill>
                <a:srgbClr val="595959"/>
              </a:solidFill>
              <a:latin typeface="Calibri"/>
              <a:cs typeface="Calibri"/>
            </a:endParaRPr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B4C3A84F-7DF0-8AA3-8428-DD0FA9D559F0}"/>
              </a:ext>
            </a:extLst>
          </p:cNvPr>
          <p:cNvSpPr/>
          <p:nvPr/>
        </p:nvSpPr>
        <p:spPr>
          <a:xfrm>
            <a:off x="5658425" y="1142954"/>
            <a:ext cx="1285291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IN" sz="900" b="1" i="0">
                <a:effectLst/>
                <a:latin typeface="Söhne"/>
              </a:rPr>
              <a:t>AI Model Microservice</a:t>
            </a:r>
            <a:endParaRPr lang="en-US" sz="900" spc="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0" name="Rectangle 1439">
            <a:extLst>
              <a:ext uri="{FF2B5EF4-FFF2-40B4-BE49-F238E27FC236}">
                <a16:creationId xmlns:a16="http://schemas.microsoft.com/office/drawing/2014/main" id="{52CBAB60-7C45-1502-BEAD-CDE209590F2A}"/>
              </a:ext>
            </a:extLst>
          </p:cNvPr>
          <p:cNvSpPr/>
          <p:nvPr/>
        </p:nvSpPr>
        <p:spPr>
          <a:xfrm>
            <a:off x="7101229" y="2319483"/>
            <a:ext cx="1725223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 w="med" len="sm"/>
            <a:tailEnd type="triangle" w="lg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Wrappers/ Helper/ Utilities</a:t>
            </a:r>
          </a:p>
        </p:txBody>
      </p:sp>
      <p:sp>
        <p:nvSpPr>
          <p:cNvPr id="1441" name="TextBox 1440">
            <a:extLst>
              <a:ext uri="{FF2B5EF4-FFF2-40B4-BE49-F238E27FC236}">
                <a16:creationId xmlns:a16="http://schemas.microsoft.com/office/drawing/2014/main" id="{BF2CA9B6-4B23-29F4-A610-5394DF78CC34}"/>
              </a:ext>
            </a:extLst>
          </p:cNvPr>
          <p:cNvSpPr txBox="1"/>
          <p:nvPr/>
        </p:nvSpPr>
        <p:spPr>
          <a:xfrm>
            <a:off x="6422954" y="2900792"/>
            <a:ext cx="1314439" cy="3447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schemeClr val="bg1">
                <a:alpha val="20000"/>
              </a:schemeClr>
            </a:outerShdw>
          </a:effectLst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l" defTabSz="914341">
              <a:defRPr/>
            </a:pPr>
            <a:r>
              <a:rPr lang="en-IN"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CONNECTOR</a:t>
            </a:r>
          </a:p>
        </p:txBody>
      </p:sp>
      <p:sp>
        <p:nvSpPr>
          <p:cNvPr id="1442" name="Rectangle 1441">
            <a:extLst>
              <a:ext uri="{FF2B5EF4-FFF2-40B4-BE49-F238E27FC236}">
                <a16:creationId xmlns:a16="http://schemas.microsoft.com/office/drawing/2014/main" id="{62C58AA6-D2E3-8AFA-E0C3-731E676586C9}"/>
              </a:ext>
            </a:extLst>
          </p:cNvPr>
          <p:cNvSpPr/>
          <p:nvPr/>
        </p:nvSpPr>
        <p:spPr>
          <a:xfrm>
            <a:off x="5642801" y="1514671"/>
            <a:ext cx="1316538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Search Functionality API</a:t>
            </a:r>
          </a:p>
        </p:txBody>
      </p:sp>
      <p:cxnSp>
        <p:nvCxnSpPr>
          <p:cNvPr id="1443" name="Straight Connector 1442">
            <a:extLst>
              <a:ext uri="{FF2B5EF4-FFF2-40B4-BE49-F238E27FC236}">
                <a16:creationId xmlns:a16="http://schemas.microsoft.com/office/drawing/2014/main" id="{DB146E38-8ADE-80DD-0EC1-C69FFC911A57}"/>
              </a:ext>
            </a:extLst>
          </p:cNvPr>
          <p:cNvCxnSpPr>
            <a:cxnSpLocks/>
          </p:cNvCxnSpPr>
          <p:nvPr/>
        </p:nvCxnSpPr>
        <p:spPr>
          <a:xfrm flipH="1">
            <a:off x="5429416" y="683262"/>
            <a:ext cx="40808" cy="556391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A78ED167-6B37-5D6E-0881-E6041F54BD91}"/>
              </a:ext>
            </a:extLst>
          </p:cNvPr>
          <p:cNvSpPr/>
          <p:nvPr/>
        </p:nvSpPr>
        <p:spPr>
          <a:xfrm>
            <a:off x="5645464" y="1894772"/>
            <a:ext cx="1311213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Information(Profile)</a:t>
            </a:r>
          </a:p>
        </p:txBody>
      </p:sp>
      <p:sp>
        <p:nvSpPr>
          <p:cNvPr id="1445" name="Rectangle 1444">
            <a:extLst>
              <a:ext uri="{FF2B5EF4-FFF2-40B4-BE49-F238E27FC236}">
                <a16:creationId xmlns:a16="http://schemas.microsoft.com/office/drawing/2014/main" id="{0D79774F-68D2-0503-1B10-F494E6528F59}"/>
              </a:ext>
            </a:extLst>
          </p:cNvPr>
          <p:cNvSpPr/>
          <p:nvPr/>
        </p:nvSpPr>
        <p:spPr>
          <a:xfrm>
            <a:off x="5654756" y="2319483"/>
            <a:ext cx="1311212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IN" sz="900" b="1" i="0">
                <a:effectLst/>
                <a:latin typeface="Söhne"/>
              </a:rPr>
              <a:t>Insurance Verification Microservice</a:t>
            </a:r>
            <a:endParaRPr lang="en-US" sz="900" spc="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6" name="Rectangle 1445">
            <a:extLst>
              <a:ext uri="{FF2B5EF4-FFF2-40B4-BE49-F238E27FC236}">
                <a16:creationId xmlns:a16="http://schemas.microsoft.com/office/drawing/2014/main" id="{FD3910CF-D278-69E0-13CB-17D52055DF1F}"/>
              </a:ext>
            </a:extLst>
          </p:cNvPr>
          <p:cNvSpPr/>
          <p:nvPr/>
        </p:nvSpPr>
        <p:spPr>
          <a:xfrm>
            <a:off x="7097736" y="1142954"/>
            <a:ext cx="1732208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User Access /Role Management</a:t>
            </a:r>
          </a:p>
        </p:txBody>
      </p:sp>
      <p:sp>
        <p:nvSpPr>
          <p:cNvPr id="1447" name="Rectangle 1446">
            <a:extLst>
              <a:ext uri="{FF2B5EF4-FFF2-40B4-BE49-F238E27FC236}">
                <a16:creationId xmlns:a16="http://schemas.microsoft.com/office/drawing/2014/main" id="{2BB738D4-DB25-8A97-C083-9991F10850C5}"/>
              </a:ext>
            </a:extLst>
          </p:cNvPr>
          <p:cNvSpPr/>
          <p:nvPr/>
        </p:nvSpPr>
        <p:spPr>
          <a:xfrm>
            <a:off x="7101229" y="1514671"/>
            <a:ext cx="1725223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User Views</a:t>
            </a:r>
          </a:p>
        </p:txBody>
      </p:sp>
      <p:sp>
        <p:nvSpPr>
          <p:cNvPr id="1448" name="Rectangle 1447">
            <a:extLst>
              <a:ext uri="{FF2B5EF4-FFF2-40B4-BE49-F238E27FC236}">
                <a16:creationId xmlns:a16="http://schemas.microsoft.com/office/drawing/2014/main" id="{63F00ADA-69D2-2455-59A3-54AC2A421C57}"/>
              </a:ext>
            </a:extLst>
          </p:cNvPr>
          <p:cNvSpPr/>
          <p:nvPr/>
        </p:nvSpPr>
        <p:spPr>
          <a:xfrm>
            <a:off x="7097736" y="1894772"/>
            <a:ext cx="1732208" cy="3024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900" spc="50">
                <a:latin typeface="Calibri" panose="020F0502020204030204" pitchFamily="34" charset="0"/>
                <a:cs typeface="Calibri" panose="020F0502020204030204" pitchFamily="34" charset="0"/>
              </a:rPr>
              <a:t>Notification Services</a:t>
            </a:r>
          </a:p>
        </p:txBody>
      </p:sp>
      <p:cxnSp>
        <p:nvCxnSpPr>
          <p:cNvPr id="1449" name="Straight Arrow Connector 1448">
            <a:extLst>
              <a:ext uri="{FF2B5EF4-FFF2-40B4-BE49-F238E27FC236}">
                <a16:creationId xmlns:a16="http://schemas.microsoft.com/office/drawing/2014/main" id="{8C6878B3-1544-C286-FADE-57252CC54071}"/>
              </a:ext>
            </a:extLst>
          </p:cNvPr>
          <p:cNvCxnSpPr>
            <a:cxnSpLocks/>
          </p:cNvCxnSpPr>
          <p:nvPr/>
        </p:nvCxnSpPr>
        <p:spPr>
          <a:xfrm flipV="1">
            <a:off x="5541686" y="712271"/>
            <a:ext cx="4446376" cy="1121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51" name="TextBox 1450">
            <a:extLst>
              <a:ext uri="{FF2B5EF4-FFF2-40B4-BE49-F238E27FC236}">
                <a16:creationId xmlns:a16="http://schemas.microsoft.com/office/drawing/2014/main" id="{21D2C9AC-3B76-21FC-0925-6D1A3D52910F}"/>
              </a:ext>
            </a:extLst>
          </p:cNvPr>
          <p:cNvSpPr txBox="1"/>
          <p:nvPr/>
        </p:nvSpPr>
        <p:spPr>
          <a:xfrm>
            <a:off x="5996030" y="414687"/>
            <a:ext cx="18581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595959"/>
                </a:solidFill>
                <a:latin typeface="Calibri"/>
                <a:cs typeface="Arial"/>
              </a:rPr>
              <a:t>Backend Microservices</a:t>
            </a:r>
            <a:endParaRPr lang="en-US" sz="1200" b="1">
              <a:solidFill>
                <a:srgbClr val="595959"/>
              </a:solidFill>
              <a:latin typeface="Calibri"/>
              <a:cs typeface="Calibri"/>
            </a:endParaRPr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1293DD2C-CAB2-6FBD-7E52-2359C38E29DC}"/>
              </a:ext>
            </a:extLst>
          </p:cNvPr>
          <p:cNvSpPr/>
          <p:nvPr/>
        </p:nvSpPr>
        <p:spPr>
          <a:xfrm>
            <a:off x="4367026" y="5888845"/>
            <a:ext cx="1095827" cy="334993"/>
          </a:xfrm>
          <a:prstGeom prst="rect">
            <a:avLst/>
          </a:prstGeom>
          <a:noFill/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/>
          <a:p>
            <a: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/>
            </a:pPr>
            <a:r>
              <a:rPr lang="en-US" sz="1000" b="1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Gateway</a:t>
            </a:r>
          </a:p>
        </p:txBody>
      </p:sp>
      <p:grpSp>
        <p:nvGrpSpPr>
          <p:cNvPr id="1454" name="Group 1453">
            <a:extLst>
              <a:ext uri="{FF2B5EF4-FFF2-40B4-BE49-F238E27FC236}">
                <a16:creationId xmlns:a16="http://schemas.microsoft.com/office/drawing/2014/main" id="{AA061C00-2A69-5AC6-2B02-72E26E2B38D2}"/>
              </a:ext>
            </a:extLst>
          </p:cNvPr>
          <p:cNvGrpSpPr/>
          <p:nvPr/>
        </p:nvGrpSpPr>
        <p:grpSpPr>
          <a:xfrm>
            <a:off x="5515072" y="3506998"/>
            <a:ext cx="2879801" cy="1993691"/>
            <a:chOff x="7298030" y="1083085"/>
            <a:chExt cx="3533696" cy="2416527"/>
          </a:xfrm>
        </p:grpSpPr>
        <p:sp>
          <p:nvSpPr>
            <p:cNvPr id="1456" name="Rectangle 1455">
              <a:extLst>
                <a:ext uri="{FF2B5EF4-FFF2-40B4-BE49-F238E27FC236}">
                  <a16:creationId xmlns:a16="http://schemas.microsoft.com/office/drawing/2014/main" id="{6898E4DC-CC08-E7BF-F944-D2B7FACEA0D4}"/>
                </a:ext>
              </a:extLst>
            </p:cNvPr>
            <p:cNvSpPr/>
            <p:nvPr/>
          </p:nvSpPr>
          <p:spPr>
            <a:xfrm>
              <a:off x="7298030" y="1083085"/>
              <a:ext cx="3533696" cy="24165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alpha val="8000"/>
                </a:schemeClr>
              </a:solidFill>
            </a:ln>
            <a:effectLst>
              <a:outerShdw blurRad="317500" dist="50800" dir="5400000" sx="103000" sy="103000" algn="ctr" rotWithShape="0">
                <a:srgbClr val="000000">
                  <a:alpha val="10000"/>
                </a:srgbClr>
              </a:outerShdw>
            </a:effectLst>
          </p:spPr>
          <p:txBody>
            <a:bodyPr vert="horz" lIns="0" tIns="91440" rIns="0" bIns="91440" rtlCol="0" anchor="t" anchorCtr="0"/>
            <a:lstStyle/>
            <a:p>
              <a:pPr lvl="0" algn="ctr" defTabSz="45720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defRPr/>
              </a:pPr>
              <a:endParaRPr lang="en-US">
                <a:cs typeface="Arial"/>
              </a:endParaRPr>
            </a:p>
          </p:txBody>
        </p:sp>
        <p:grpSp>
          <p:nvGrpSpPr>
            <p:cNvPr id="1457" name="Group 1456">
              <a:extLst>
                <a:ext uri="{FF2B5EF4-FFF2-40B4-BE49-F238E27FC236}">
                  <a16:creationId xmlns:a16="http://schemas.microsoft.com/office/drawing/2014/main" id="{14E4BA9E-7A33-B25B-47DB-8E18CDA6C185}"/>
                </a:ext>
              </a:extLst>
            </p:cNvPr>
            <p:cNvGrpSpPr/>
            <p:nvPr/>
          </p:nvGrpSpPr>
          <p:grpSpPr>
            <a:xfrm>
              <a:off x="7368700" y="1114968"/>
              <a:ext cx="3410190" cy="2272614"/>
              <a:chOff x="2705260" y="2733526"/>
              <a:chExt cx="3410190" cy="2272614"/>
            </a:xfrm>
          </p:grpSpPr>
          <p:pic>
            <p:nvPicPr>
              <p:cNvPr id="1458" name="Picture 2" descr="Text Generation icon">
                <a:extLst>
                  <a:ext uri="{FF2B5EF4-FFF2-40B4-BE49-F238E27FC236}">
                    <a16:creationId xmlns:a16="http://schemas.microsoft.com/office/drawing/2014/main" id="{FECD07BB-EA34-5A36-7E55-F7E4632A37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8751" y="2791864"/>
                <a:ext cx="647700" cy="647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59" name="TextBox 1458">
                <a:extLst>
                  <a:ext uri="{FF2B5EF4-FFF2-40B4-BE49-F238E27FC236}">
                    <a16:creationId xmlns:a16="http://schemas.microsoft.com/office/drawing/2014/main" id="{64D9A9FF-2BB3-A5F6-FC39-D7F74E2DD99B}"/>
                  </a:ext>
                </a:extLst>
              </p:cNvPr>
              <p:cNvSpPr txBox="1"/>
              <p:nvPr/>
            </p:nvSpPr>
            <p:spPr>
              <a:xfrm>
                <a:off x="2705260" y="3436441"/>
                <a:ext cx="915968" cy="4150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/>
                  <a:t>Text </a:t>
                </a:r>
              </a:p>
              <a:p>
                <a:r>
                  <a:rPr lang="en-US"/>
                  <a:t>Generation</a:t>
                </a:r>
              </a:p>
            </p:txBody>
          </p:sp>
          <p:pic>
            <p:nvPicPr>
              <p:cNvPr id="1461" name="Picture 4" descr="Chatbots icon">
                <a:extLst>
                  <a:ext uri="{FF2B5EF4-FFF2-40B4-BE49-F238E27FC236}">
                    <a16:creationId xmlns:a16="http://schemas.microsoft.com/office/drawing/2014/main" id="{6F06F76A-2A7A-2C36-ED5E-639E5A5352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3316" y="2817145"/>
                <a:ext cx="647700" cy="6476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4" name="TextBox 1463">
                <a:extLst>
                  <a:ext uri="{FF2B5EF4-FFF2-40B4-BE49-F238E27FC236}">
                    <a16:creationId xmlns:a16="http://schemas.microsoft.com/office/drawing/2014/main" id="{9184D5CD-8535-8210-81FC-99F55752E41C}"/>
                  </a:ext>
                </a:extLst>
              </p:cNvPr>
              <p:cNvSpPr txBox="1"/>
              <p:nvPr/>
            </p:nvSpPr>
            <p:spPr>
              <a:xfrm>
                <a:off x="3707522" y="3436441"/>
                <a:ext cx="1021081" cy="4150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IN"/>
                  <a:t>Chatbots</a:t>
                </a:r>
                <a:endParaRPr lang="en-US"/>
              </a:p>
            </p:txBody>
          </p:sp>
          <p:pic>
            <p:nvPicPr>
              <p:cNvPr id="1465" name="Picture 6" descr="Search icon">
                <a:extLst>
                  <a:ext uri="{FF2B5EF4-FFF2-40B4-BE49-F238E27FC236}">
                    <a16:creationId xmlns:a16="http://schemas.microsoft.com/office/drawing/2014/main" id="{F8643784-BB8F-067A-BF43-0352DEA9E0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9476" y="3887006"/>
                <a:ext cx="647700" cy="647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6" name="TextBox 1465">
                <a:extLst>
                  <a:ext uri="{FF2B5EF4-FFF2-40B4-BE49-F238E27FC236}">
                    <a16:creationId xmlns:a16="http://schemas.microsoft.com/office/drawing/2014/main" id="{FF02EE96-01EC-3535-BA63-6D8EC1201E17}"/>
                  </a:ext>
                </a:extLst>
              </p:cNvPr>
              <p:cNvSpPr txBox="1"/>
              <p:nvPr/>
            </p:nvSpPr>
            <p:spPr>
              <a:xfrm>
                <a:off x="2727124" y="4591093"/>
                <a:ext cx="814070" cy="4150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/>
                  <a:t>Search</a:t>
                </a:r>
              </a:p>
            </p:txBody>
          </p:sp>
          <p:pic>
            <p:nvPicPr>
              <p:cNvPr id="1467" name="Picture 8" descr="Text Summarization icon">
                <a:extLst>
                  <a:ext uri="{FF2B5EF4-FFF2-40B4-BE49-F238E27FC236}">
                    <a16:creationId xmlns:a16="http://schemas.microsoft.com/office/drawing/2014/main" id="{626816F1-6BAE-2B44-0097-7C26D25246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8918" y="3994185"/>
                <a:ext cx="647700" cy="6476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8" name="TextBox 1467">
                <a:extLst>
                  <a:ext uri="{FF2B5EF4-FFF2-40B4-BE49-F238E27FC236}">
                    <a16:creationId xmlns:a16="http://schemas.microsoft.com/office/drawing/2014/main" id="{766D2451-6889-782A-290C-2245FEB2F703}"/>
                  </a:ext>
                </a:extLst>
              </p:cNvPr>
              <p:cNvSpPr txBox="1"/>
              <p:nvPr/>
            </p:nvSpPr>
            <p:spPr>
              <a:xfrm>
                <a:off x="3696335" y="4591093"/>
                <a:ext cx="1125116" cy="4150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/>
                  <a:t>Text </a:t>
                </a:r>
              </a:p>
              <a:p>
                <a:r>
                  <a:rPr lang="en-US"/>
                  <a:t>Summarization</a:t>
                </a:r>
              </a:p>
            </p:txBody>
          </p:sp>
          <p:pic>
            <p:nvPicPr>
              <p:cNvPr id="1469" name="Picture 10" descr="Image Generation icon">
                <a:extLst>
                  <a:ext uri="{FF2B5EF4-FFF2-40B4-BE49-F238E27FC236}">
                    <a16:creationId xmlns:a16="http://schemas.microsoft.com/office/drawing/2014/main" id="{DBA28526-3E02-0E34-5A8F-070548258F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6536" y="2733526"/>
                <a:ext cx="647700" cy="6476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70" name="TextBox 1469">
                <a:extLst>
                  <a:ext uri="{FF2B5EF4-FFF2-40B4-BE49-F238E27FC236}">
                    <a16:creationId xmlns:a16="http://schemas.microsoft.com/office/drawing/2014/main" id="{EC864A58-F141-3431-7670-6E1EDAC25CE4}"/>
                  </a:ext>
                </a:extLst>
              </p:cNvPr>
              <p:cNvSpPr txBox="1"/>
              <p:nvPr/>
            </p:nvSpPr>
            <p:spPr>
              <a:xfrm>
                <a:off x="4851458" y="3436441"/>
                <a:ext cx="1226360" cy="4150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/>
                  <a:t>Image </a:t>
                </a:r>
              </a:p>
              <a:p>
                <a:r>
                  <a:rPr lang="en-US"/>
                  <a:t>Generation</a:t>
                </a:r>
              </a:p>
            </p:txBody>
          </p:sp>
          <p:pic>
            <p:nvPicPr>
              <p:cNvPr id="1471" name="Picture 12" descr="Image Classification icon">
                <a:extLst>
                  <a:ext uri="{FF2B5EF4-FFF2-40B4-BE49-F238E27FC236}">
                    <a16:creationId xmlns:a16="http://schemas.microsoft.com/office/drawing/2014/main" id="{A6144C8A-74B8-51E2-2874-F35D261A2F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0211" y="3926994"/>
                <a:ext cx="647700" cy="647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9D744C1-4911-4DB4-A014-A7C76B6A6F4B}"/>
                  </a:ext>
                </a:extLst>
              </p:cNvPr>
              <p:cNvSpPr txBox="1"/>
              <p:nvPr/>
            </p:nvSpPr>
            <p:spPr>
              <a:xfrm>
                <a:off x="4848475" y="4591093"/>
                <a:ext cx="1266975" cy="4150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alpha val="8000"/>
                  </a:schemeClr>
                </a:solidFill>
              </a:ln>
              <a:effectLst>
                <a:outerShdw blurRad="317500" dist="50800" dir="5400000" sx="103000" sy="103000" algn="ctr" rotWithShape="0">
                  <a:srgbClr val="000000">
                    <a:alpha val="10000"/>
                  </a:srgbClr>
                </a:outerShdw>
              </a:effectLst>
            </p:spPr>
            <p:txBody>
              <a:bodyPr lIns="0" tIns="91440" rIns="0" bIns="91440" rtlCol="0" anchor="ctr" anchorCtr="0"/>
              <a:lstStyle>
                <a:defPPr>
                  <a:defRPr lang="en-US"/>
                </a:defPPr>
                <a:lvl1pPr lvl="0" algn="ctr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defRPr sz="900" spc="5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/>
                  <a:t>Personalization</a:t>
                </a:r>
              </a:p>
            </p:txBody>
          </p:sp>
        </p:grpSp>
      </p:grpSp>
      <p:sp>
        <p:nvSpPr>
          <p:cNvPr id="1455" name="TextBox 1454">
            <a:extLst>
              <a:ext uri="{FF2B5EF4-FFF2-40B4-BE49-F238E27FC236}">
                <a16:creationId xmlns:a16="http://schemas.microsoft.com/office/drawing/2014/main" id="{FED4B6A3-FE66-F972-EDE6-380447D0BCA0}"/>
              </a:ext>
            </a:extLst>
          </p:cNvPr>
          <p:cNvSpPr txBox="1"/>
          <p:nvPr/>
        </p:nvSpPr>
        <p:spPr>
          <a:xfrm>
            <a:off x="6205964" y="3324535"/>
            <a:ext cx="225923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0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Amazon Bedrock (</a:t>
            </a:r>
            <a:r>
              <a:rPr lang="en-IN" sz="1000" b="1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Generative AI/GPT)</a:t>
            </a:r>
            <a:endParaRPr lang="en-IN" sz="1000" b="1" i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94A01830-CFCF-901A-2E15-84D67025145C}"/>
              </a:ext>
            </a:extLst>
          </p:cNvPr>
          <p:cNvCxnSpPr>
            <a:cxnSpLocks/>
            <a:stCxn id="1440" idx="2"/>
            <a:endCxn id="1441" idx="0"/>
          </p:cNvCxnSpPr>
          <p:nvPr/>
        </p:nvCxnSpPr>
        <p:spPr>
          <a:xfrm rot="5400000">
            <a:off x="7382563" y="2319514"/>
            <a:ext cx="278890" cy="8836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2EABB8EE-9AD7-C5E7-B111-88CB00285D0B}"/>
              </a:ext>
            </a:extLst>
          </p:cNvPr>
          <p:cNvCxnSpPr>
            <a:cxnSpLocks/>
            <a:stCxn id="1441" idx="1"/>
            <a:endCxn id="16" idx="0"/>
          </p:cNvCxnSpPr>
          <p:nvPr/>
        </p:nvCxnSpPr>
        <p:spPr>
          <a:xfrm rot="10800000" flipV="1">
            <a:off x="6032240" y="3073177"/>
            <a:ext cx="390714" cy="230443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90">
            <a:extLst>
              <a:ext uri="{FF2B5EF4-FFF2-40B4-BE49-F238E27FC236}">
                <a16:creationId xmlns:a16="http://schemas.microsoft.com/office/drawing/2014/main" id="{37021176-37B4-8D9D-9CE7-628B5074D41D}"/>
              </a:ext>
            </a:extLst>
          </p:cNvPr>
          <p:cNvCxnSpPr>
            <a:cxnSpLocks/>
            <a:stCxn id="1430" idx="0"/>
            <a:endCxn id="49" idx="3"/>
          </p:cNvCxnSpPr>
          <p:nvPr/>
        </p:nvCxnSpPr>
        <p:spPr>
          <a:xfrm rot="10800000" flipV="1">
            <a:off x="3797231" y="1883778"/>
            <a:ext cx="764520" cy="260945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CF1FE33-8D78-945E-0204-7BF5D716FFEB}"/>
              </a:ext>
            </a:extLst>
          </p:cNvPr>
          <p:cNvCxnSpPr>
            <a:cxnSpLocks/>
          </p:cNvCxnSpPr>
          <p:nvPr/>
        </p:nvCxnSpPr>
        <p:spPr>
          <a:xfrm>
            <a:off x="2774779" y="3197022"/>
            <a:ext cx="0" cy="445303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561DB87-1F88-2410-EB3D-9DEFE8E207C5}"/>
              </a:ext>
            </a:extLst>
          </p:cNvPr>
          <p:cNvGrpSpPr/>
          <p:nvPr/>
        </p:nvGrpSpPr>
        <p:grpSpPr>
          <a:xfrm>
            <a:off x="5897985" y="5638567"/>
            <a:ext cx="1880217" cy="592151"/>
            <a:chOff x="8448896" y="3319696"/>
            <a:chExt cx="1880217" cy="59215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88DFC7C-7A71-2F81-7DB1-5C78A7B1F675}"/>
                </a:ext>
              </a:extLst>
            </p:cNvPr>
            <p:cNvSpPr/>
            <p:nvPr/>
          </p:nvSpPr>
          <p:spPr>
            <a:xfrm>
              <a:off x="8448896" y="3319696"/>
              <a:ext cx="1880217" cy="592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802" b="1">
                <a:solidFill>
                  <a:schemeClr val="tx1"/>
                </a:solidFill>
              </a:endParaRPr>
            </a:p>
          </p:txBody>
        </p:sp>
        <p:pic>
          <p:nvPicPr>
            <p:cNvPr id="137" name="Picture 24" descr="Enterprise Service Bus Images, Stock Photos &amp;amp; Vectors | Shutterstock">
              <a:extLst>
                <a:ext uri="{FF2B5EF4-FFF2-40B4-BE49-F238E27FC236}">
                  <a16:creationId xmlns:a16="http://schemas.microsoft.com/office/drawing/2014/main" id="{A3D8E41B-6835-B8A6-6A99-6BFBCCC77C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5454" y="3468292"/>
              <a:ext cx="1031479" cy="36980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8" name="Picture 8" descr="Database Icon or Logo in Modern Line Style Stock Vector - Illustration of  connection, internet: 81369618">
            <a:extLst>
              <a:ext uri="{FF2B5EF4-FFF2-40B4-BE49-F238E27FC236}">
                <a16:creationId xmlns:a16="http://schemas.microsoft.com/office/drawing/2014/main" id="{7992D170-96C9-F8A8-6E78-AA3454A69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7" r="23929"/>
          <a:stretch/>
        </p:blipFill>
        <p:spPr bwMode="auto">
          <a:xfrm>
            <a:off x="9266720" y="980962"/>
            <a:ext cx="573538" cy="11090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9" name="Straight Arrow Connector 202">
            <a:extLst>
              <a:ext uri="{FF2B5EF4-FFF2-40B4-BE49-F238E27FC236}">
                <a16:creationId xmlns:a16="http://schemas.microsoft.com/office/drawing/2014/main" id="{C30F8495-6FEF-7891-5F26-86499B974110}"/>
              </a:ext>
            </a:extLst>
          </p:cNvPr>
          <p:cNvCxnSpPr>
            <a:cxnSpLocks/>
            <a:endCxn id="158" idx="2"/>
          </p:cNvCxnSpPr>
          <p:nvPr/>
        </p:nvCxnSpPr>
        <p:spPr>
          <a:xfrm flipV="1">
            <a:off x="7791489" y="2090012"/>
            <a:ext cx="1762000" cy="844581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4">
            <a:extLst>
              <a:ext uri="{FF2B5EF4-FFF2-40B4-BE49-F238E27FC236}">
                <a16:creationId xmlns:a16="http://schemas.microsoft.com/office/drawing/2014/main" id="{187EDD26-DB53-357E-C0A5-C3B883734E6E}"/>
              </a:ext>
            </a:extLst>
          </p:cNvPr>
          <p:cNvSpPr/>
          <p:nvPr/>
        </p:nvSpPr>
        <p:spPr>
          <a:xfrm>
            <a:off x="10238320" y="1270360"/>
            <a:ext cx="1847193" cy="498343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vert="horz" lIns="0" tIns="91440" rIns="0" bIns="91440" rtlCol="0" anchor="ctr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b="1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API</a:t>
            </a:r>
            <a:endParaRPr lang="en-US" sz="1400" b="1" spc="5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12EDB5B-0B53-7CBE-CEC2-46628F20DF01}"/>
              </a:ext>
            </a:extLst>
          </p:cNvPr>
          <p:cNvSpPr txBox="1"/>
          <p:nvPr/>
        </p:nvSpPr>
        <p:spPr>
          <a:xfrm>
            <a:off x="10223297" y="414687"/>
            <a:ext cx="2005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Backend Down Stream Systems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0CCAD23-629B-B0F5-D8F3-CC58052648F5}"/>
              </a:ext>
            </a:extLst>
          </p:cNvPr>
          <p:cNvSpPr/>
          <p:nvPr/>
        </p:nvSpPr>
        <p:spPr>
          <a:xfrm>
            <a:off x="8597426" y="3241851"/>
            <a:ext cx="1432167" cy="1534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vert="horz" lIns="0" tIns="91440" rIns="0" bIns="91440" rtlCol="0" anchor="t" anchorCtr="0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900" b="1" spc="5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Utilities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636C424-96CF-6FE9-FA2A-EDEC93FE97A2}"/>
              </a:ext>
            </a:extLst>
          </p:cNvPr>
          <p:cNvSpPr txBox="1"/>
          <p:nvPr/>
        </p:nvSpPr>
        <p:spPr>
          <a:xfrm>
            <a:off x="8655991" y="3489942"/>
            <a:ext cx="1325193" cy="20005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>
            <a:defPPr>
              <a:defRPr lang="en-US"/>
            </a:defPPr>
            <a:lvl1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 sz="900" spc="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IN"/>
              <a:t>Bulk Upload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324B243-1A94-579F-77BB-5EFE8EBF452B}"/>
              </a:ext>
            </a:extLst>
          </p:cNvPr>
          <p:cNvSpPr txBox="1"/>
          <p:nvPr/>
        </p:nvSpPr>
        <p:spPr>
          <a:xfrm>
            <a:off x="8642466" y="3788952"/>
            <a:ext cx="132519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>
            <a:defPPr>
              <a:defRPr lang="en-US"/>
            </a:defPPr>
            <a:lvl1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 sz="900" spc="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IN"/>
              <a:t>Parser for Feed File Generation</a:t>
            </a:r>
          </a:p>
        </p:txBody>
      </p:sp>
      <p:sp>
        <p:nvSpPr>
          <p:cNvPr id="1472" name="TextBox 1471">
            <a:extLst>
              <a:ext uri="{FF2B5EF4-FFF2-40B4-BE49-F238E27FC236}">
                <a16:creationId xmlns:a16="http://schemas.microsoft.com/office/drawing/2014/main" id="{AB58CC55-ABBE-0C14-42D2-D5FFAD997098}"/>
              </a:ext>
            </a:extLst>
          </p:cNvPr>
          <p:cNvSpPr txBox="1"/>
          <p:nvPr/>
        </p:nvSpPr>
        <p:spPr>
          <a:xfrm>
            <a:off x="8642466" y="4192379"/>
            <a:ext cx="1325193" cy="20005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>
            <a:defPPr>
              <a:defRPr lang="en-US"/>
            </a:defPPr>
            <a:lvl1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 sz="900" spc="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IN"/>
              <a:t>Archive</a:t>
            </a:r>
          </a:p>
        </p:txBody>
      </p:sp>
      <p:sp>
        <p:nvSpPr>
          <p:cNvPr id="1473" name="TextBox 1472">
            <a:extLst>
              <a:ext uri="{FF2B5EF4-FFF2-40B4-BE49-F238E27FC236}">
                <a16:creationId xmlns:a16="http://schemas.microsoft.com/office/drawing/2014/main" id="{1E4025C8-242E-08E9-E8D5-2C741172C485}"/>
              </a:ext>
            </a:extLst>
          </p:cNvPr>
          <p:cNvSpPr txBox="1"/>
          <p:nvPr/>
        </p:nvSpPr>
        <p:spPr>
          <a:xfrm>
            <a:off x="8649180" y="4470327"/>
            <a:ext cx="1325193" cy="20005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8000"/>
              </a:schemeClr>
            </a:solidFill>
          </a:ln>
          <a:effectLst>
            <a:outerShdw blurRad="317500" dist="50800" dir="5400000" sx="103000" sy="103000" algn="ctr" rotWithShape="0">
              <a:srgbClr val="000000">
                <a:alpha val="10000"/>
              </a:srgbClr>
            </a:outerShdw>
          </a:effectLst>
        </p:spPr>
        <p:txBody>
          <a:bodyPr lIns="0" tIns="91440" rIns="0" bIns="91440" rtlCol="0" anchor="ctr" anchorCtr="0"/>
          <a:lstStyle>
            <a:defPPr>
              <a:defRPr lang="en-US"/>
            </a:defPPr>
            <a:lvl1pPr lvl="0" algn="ctr" defTabSz="45720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defRPr sz="900" spc="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IN"/>
              <a:t>Purge</a:t>
            </a:r>
          </a:p>
        </p:txBody>
      </p:sp>
      <p:pic>
        <p:nvPicPr>
          <p:cNvPr id="1474" name="Picture 2" descr="Cron Jobs. According to google cron stands for “a… | by Ranjan Bajracharya  | Medium">
            <a:extLst>
              <a:ext uri="{FF2B5EF4-FFF2-40B4-BE49-F238E27FC236}">
                <a16:creationId xmlns:a16="http://schemas.microsoft.com/office/drawing/2014/main" id="{A957386F-BD55-2AD8-FBA8-B08450C56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1" t="20660" r="16278" b="37919"/>
          <a:stretch/>
        </p:blipFill>
        <p:spPr bwMode="auto">
          <a:xfrm>
            <a:off x="8832752" y="5245536"/>
            <a:ext cx="842788" cy="41353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75" name="Straight Arrow Connector 202">
            <a:extLst>
              <a:ext uri="{FF2B5EF4-FFF2-40B4-BE49-F238E27FC236}">
                <a16:creationId xmlns:a16="http://schemas.microsoft.com/office/drawing/2014/main" id="{0E59AD3D-F515-1009-2707-8D625713CC38}"/>
              </a:ext>
            </a:extLst>
          </p:cNvPr>
          <p:cNvCxnSpPr>
            <a:cxnSpLocks/>
            <a:stCxn id="1474" idx="1"/>
            <a:endCxn id="189" idx="2"/>
          </p:cNvCxnSpPr>
          <p:nvPr/>
        </p:nvCxnSpPr>
        <p:spPr>
          <a:xfrm rot="10800000" flipH="1">
            <a:off x="8832752" y="4776063"/>
            <a:ext cx="480758" cy="676240"/>
          </a:xfrm>
          <a:prstGeom prst="bentConnector4">
            <a:avLst>
              <a:gd name="adj1" fmla="val -47550"/>
              <a:gd name="adj2" fmla="val 65288"/>
            </a:avLst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Arrow Connector 202">
            <a:extLst>
              <a:ext uri="{FF2B5EF4-FFF2-40B4-BE49-F238E27FC236}">
                <a16:creationId xmlns:a16="http://schemas.microsoft.com/office/drawing/2014/main" id="{1A204745-7601-4FC7-E3C1-B8C608921D2A}"/>
              </a:ext>
            </a:extLst>
          </p:cNvPr>
          <p:cNvCxnSpPr>
            <a:cxnSpLocks/>
          </p:cNvCxnSpPr>
          <p:nvPr/>
        </p:nvCxnSpPr>
        <p:spPr>
          <a:xfrm>
            <a:off x="7784144" y="6037770"/>
            <a:ext cx="2902851" cy="964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Arrow Connector 202">
            <a:extLst>
              <a:ext uri="{FF2B5EF4-FFF2-40B4-BE49-F238E27FC236}">
                <a16:creationId xmlns:a16="http://schemas.microsoft.com/office/drawing/2014/main" id="{B564192A-FAD7-602B-61AC-9D51704B6A9D}"/>
              </a:ext>
            </a:extLst>
          </p:cNvPr>
          <p:cNvCxnSpPr>
            <a:cxnSpLocks/>
            <a:endCxn id="136" idx="3"/>
          </p:cNvCxnSpPr>
          <p:nvPr/>
        </p:nvCxnSpPr>
        <p:spPr>
          <a:xfrm rot="16200000" flipH="1">
            <a:off x="6394659" y="4551100"/>
            <a:ext cx="2726278" cy="40807"/>
          </a:xfrm>
          <a:prstGeom prst="bentConnector4">
            <a:avLst>
              <a:gd name="adj1" fmla="val -27"/>
              <a:gd name="adj2" fmla="val 1842152"/>
            </a:avLst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3" name="Straight Arrow Connector 202">
            <a:extLst>
              <a:ext uri="{FF2B5EF4-FFF2-40B4-BE49-F238E27FC236}">
                <a16:creationId xmlns:a16="http://schemas.microsoft.com/office/drawing/2014/main" id="{8479EA87-CE36-0008-E596-753B479690F4}"/>
              </a:ext>
            </a:extLst>
          </p:cNvPr>
          <p:cNvCxnSpPr>
            <a:cxnSpLocks/>
            <a:stCxn id="1441" idx="3"/>
            <a:endCxn id="189" idx="0"/>
          </p:cNvCxnSpPr>
          <p:nvPr/>
        </p:nvCxnSpPr>
        <p:spPr>
          <a:xfrm>
            <a:off x="7737393" y="3073178"/>
            <a:ext cx="1576117" cy="168673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arrow" w="med" len="sm"/>
            <a:tailEnd type="triangle" w="lg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3" name="Straight Arrow Connector 1522">
            <a:extLst>
              <a:ext uri="{FF2B5EF4-FFF2-40B4-BE49-F238E27FC236}">
                <a16:creationId xmlns:a16="http://schemas.microsoft.com/office/drawing/2014/main" id="{511EBCDE-57E4-8262-49DB-DB6068745399}"/>
              </a:ext>
            </a:extLst>
          </p:cNvPr>
          <p:cNvCxnSpPr>
            <a:cxnSpLocks/>
          </p:cNvCxnSpPr>
          <p:nvPr/>
        </p:nvCxnSpPr>
        <p:spPr>
          <a:xfrm>
            <a:off x="4878254" y="2682177"/>
            <a:ext cx="0" cy="41422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6,400+ Application Programming Interface Illustrations, Royalty-Free Vector  Graphics &amp; Clip Art - iStock | Application programming interface icon">
            <a:extLst>
              <a:ext uri="{FF2B5EF4-FFF2-40B4-BE49-F238E27FC236}">
                <a16:creationId xmlns:a16="http://schemas.microsoft.com/office/drawing/2014/main" id="{0739CC40-0F09-59A7-EFD3-5C9BE83ED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511" y="2921689"/>
            <a:ext cx="310937" cy="31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479883A0-4BB1-18DB-4F48-12516D4A92C8}"/>
              </a:ext>
            </a:extLst>
          </p:cNvPr>
          <p:cNvSpPr txBox="1"/>
          <p:nvPr/>
        </p:nvSpPr>
        <p:spPr>
          <a:xfrm>
            <a:off x="1276243" y="5890485"/>
            <a:ext cx="2536537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11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Microfrontend Composed Application(s)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B5444F-D683-BFD5-CCF9-B4CAABAAD46A}"/>
              </a:ext>
            </a:extLst>
          </p:cNvPr>
          <p:cNvSpPr/>
          <p:nvPr/>
        </p:nvSpPr>
        <p:spPr>
          <a:xfrm>
            <a:off x="980873" y="385111"/>
            <a:ext cx="319838" cy="321762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2BD68C-B348-24E5-E4E4-5915B90C8DB8}"/>
              </a:ext>
            </a:extLst>
          </p:cNvPr>
          <p:cNvSpPr/>
          <p:nvPr/>
        </p:nvSpPr>
        <p:spPr>
          <a:xfrm>
            <a:off x="4244080" y="353046"/>
            <a:ext cx="319838" cy="321762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29A51D-C004-3F24-0522-2F9B1D78FB5F}"/>
              </a:ext>
            </a:extLst>
          </p:cNvPr>
          <p:cNvCxnSpPr>
            <a:cxnSpLocks/>
          </p:cNvCxnSpPr>
          <p:nvPr/>
        </p:nvCxnSpPr>
        <p:spPr>
          <a:xfrm>
            <a:off x="10099467" y="706815"/>
            <a:ext cx="2092533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873C213-45E0-E980-DBAF-FB2211A09005}"/>
              </a:ext>
            </a:extLst>
          </p:cNvPr>
          <p:cNvSpPr/>
          <p:nvPr/>
        </p:nvSpPr>
        <p:spPr>
          <a:xfrm>
            <a:off x="5729992" y="348058"/>
            <a:ext cx="319838" cy="321762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7873C5-107D-D354-39F7-9560D2B4DA82}"/>
              </a:ext>
            </a:extLst>
          </p:cNvPr>
          <p:cNvSpPr/>
          <p:nvPr/>
        </p:nvSpPr>
        <p:spPr>
          <a:xfrm>
            <a:off x="5872321" y="3303621"/>
            <a:ext cx="319838" cy="321762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3836F4-5395-A602-6EBA-A50B8F7B3DDA}"/>
              </a:ext>
            </a:extLst>
          </p:cNvPr>
          <p:cNvSpPr/>
          <p:nvPr/>
        </p:nvSpPr>
        <p:spPr>
          <a:xfrm>
            <a:off x="9979893" y="345222"/>
            <a:ext cx="319838" cy="321762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84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18585" y="0"/>
            <a:ext cx="12191695" cy="685800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Segoe UI"/>
              </a:rPr>
              <a:t>VendorPulse — Solution Architecture (Shell)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8521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Single-tenant in Shell Azure · deterministic-first, AI-second · agent layer MAF SDK → Microsoft Foundry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023" y="2020973"/>
            <a:ext cx="2194560" cy="36576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Client (browser · Shell SSO)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561435"/>
            <a:ext cx="2194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1E293B"/>
                </a:solidFill>
                <a:latin typeface="Segoe UI"/>
              </a:rPr>
              <a:t>VMO Coordinator · Sponsor · Viewer</a:t>
            </a:r>
          </a:p>
          <a:p>
            <a:pPr algn="ctr"/>
            <a:r>
              <a:rPr sz="750">
                <a:solidFill>
                  <a:srgbClr val="475569"/>
                </a:solidFill>
                <a:latin typeface="Segoe UI"/>
              </a:rPr>
              <a:t>authenticated via Entra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3613986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1E293B"/>
                </a:solidFill>
                <a:latin typeface="Segoe UI"/>
              </a:rPr>
              <a:t>React 19 SPA — Design System</a:t>
            </a:r>
          </a:p>
          <a:p>
            <a:pPr algn="ctr"/>
            <a:r>
              <a:rPr sz="750">
                <a:solidFill>
                  <a:srgbClr val="475569"/>
                </a:solidFill>
                <a:latin typeface="Segoe UI"/>
              </a:rPr>
              <a:t>ApprovalPanel · WorkflowProgressBar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926080"/>
            <a:ext cx="96012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Azure Front Door + WAF</a:t>
            </a:r>
          </a:p>
          <a:p>
            <a:pPr algn="ctr"/>
            <a:r>
              <a:rPr sz="700">
                <a:solidFill>
                  <a:srgbClr val="475569"/>
                </a:solidFill>
                <a:latin typeface="Segoe UI"/>
              </a:rPr>
              <a:t>TLS · OWASP · origin-lock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63040"/>
            <a:ext cx="5257800" cy="4983480"/>
          </a:xfrm>
          <a:prstGeom prst="roundRect">
            <a:avLst/>
          </a:prstGeom>
          <a:solidFill>
            <a:srgbClr val="E6F2FB"/>
          </a:solidFill>
          <a:ln w="12700">
            <a:solidFill>
              <a:srgbClr val="07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65320" y="1503680"/>
            <a:ext cx="4109720" cy="424688"/>
          </a:xfrm>
          <a:prstGeom prst="roundRect">
            <a:avLst/>
          </a:prstGeom>
          <a:solidFill>
            <a:srgbClr val="07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Shell Azure Subscription </a:t>
            </a:r>
            <a:endParaRPr lang="en-US" sz="105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69080" y="1965960"/>
            <a:ext cx="4892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69080" y="1965960"/>
            <a:ext cx="4892040" cy="347472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 dirty="0">
                <a:solidFill>
                  <a:srgbClr val="FFFFFF"/>
                </a:solidFill>
                <a:latin typeface="Segoe UI"/>
              </a:rPr>
              <a:t>Azure App Service (</a:t>
            </a:r>
            <a:r>
              <a:rPr lang="en-US" sz="950" b="1" dirty="0">
                <a:solidFill>
                  <a:srgbClr val="FFFFFF"/>
                </a:solidFill>
                <a:latin typeface="Segoe UI"/>
              </a:rPr>
              <a:t>container</a:t>
            </a:r>
            <a:r>
              <a:rPr sz="950" b="1" dirty="0">
                <a:solidFill>
                  <a:srgbClr val="FFFFFF"/>
                </a:solidFill>
                <a:latin typeface="Segoe UI"/>
              </a:rPr>
              <a:t>) — </a:t>
            </a:r>
            <a:r>
              <a:rPr sz="950" b="1" dirty="0" err="1">
                <a:solidFill>
                  <a:srgbClr val="FFFFFF"/>
                </a:solidFill>
                <a:latin typeface="Segoe UI"/>
              </a:rPr>
              <a:t>FastAPI</a:t>
            </a:r>
            <a:r>
              <a:rPr sz="950" b="1" dirty="0">
                <a:solidFill>
                  <a:srgbClr val="FFFFFF"/>
                </a:solidFill>
                <a:latin typeface="Segoe UI"/>
              </a:rPr>
              <a:t>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2423160"/>
            <a:ext cx="2281427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1E293B"/>
                </a:solidFill>
                <a:latin typeface="Segoe UI"/>
              </a:rPr>
              <a:t>Entra OIDC auth + RBAC</a:t>
            </a:r>
            <a:r>
              <a:rPr lang="en-US" sz="900" b="1">
                <a:solidFill>
                  <a:srgbClr val="1E293B"/>
                </a:solidFill>
                <a:latin typeface="Segoe UI"/>
              </a:rPr>
              <a:t>  </a:t>
            </a:r>
            <a:endParaRPr sz="900" b="1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08622" y="2384131"/>
            <a:ext cx="2281427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00" b="1" dirty="0">
                <a:solidFill>
                  <a:srgbClr val="1E293B"/>
                </a:solidFill>
                <a:latin typeface="Segoe UI"/>
              </a:rPr>
              <a:t>12-state </a:t>
            </a:r>
            <a:r>
              <a:rPr sz="900" b="1" dirty="0" err="1">
                <a:solidFill>
                  <a:srgbClr val="1E293B"/>
                </a:solidFill>
                <a:latin typeface="Segoe UI"/>
              </a:rPr>
              <a:t>WorkflowEngine</a:t>
            </a:r>
            <a:r>
              <a:rPr sz="900" b="1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00" b="1" dirty="0">
                <a:solidFill>
                  <a:srgbClr val="1E293B"/>
                </a:solidFill>
                <a:latin typeface="Segoe UI"/>
              </a:rPr>
              <a:t> 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4178808" y="3017520"/>
            <a:ext cx="2281427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B91C1C"/>
                </a:solidFill>
                <a:latin typeface="Segoe UI"/>
              </a:rPr>
              <a:t>Approval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9964" y="3017520"/>
            <a:ext cx="2281427" cy="502920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MAF Agent layer → Foundry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8808" y="3611880"/>
            <a:ext cx="2281427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1E293B"/>
                </a:solidFill>
                <a:latin typeface="Segoe UI"/>
              </a:rPr>
              <a:t>Deterministic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9964" y="3611880"/>
            <a:ext cx="2281427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 dirty="0" err="1">
                <a:solidFill>
                  <a:srgbClr val="1E293B"/>
                </a:solidFill>
                <a:latin typeface="Segoe UI"/>
              </a:rPr>
              <a:t>GraphService</a:t>
            </a:r>
            <a:r>
              <a:rPr sz="900" b="1" dirty="0">
                <a:solidFill>
                  <a:srgbClr val="1E293B"/>
                </a:solidFill>
                <a:latin typeface="Segoe UI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4407408"/>
            <a:ext cx="4892040" cy="1783080"/>
          </a:xfrm>
          <a:prstGeom prst="roundRect">
            <a:avLst/>
          </a:prstGeom>
          <a:solidFill>
            <a:srgbClr val="CCE9E6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69080" y="4407408"/>
            <a:ext cx="4892040" cy="3474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Data Tier — Managed Identity · Private Link (no public access)</a:t>
            </a:r>
          </a:p>
        </p:txBody>
      </p:sp>
      <p:sp>
        <p:nvSpPr>
          <p:cNvPr id="23" name="Can 22"/>
          <p:cNvSpPr/>
          <p:nvPr/>
        </p:nvSpPr>
        <p:spPr>
          <a:xfrm>
            <a:off x="4233672" y="4864608"/>
            <a:ext cx="1371600" cy="1143000"/>
          </a:xfrm>
          <a:prstGeom prst="can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0F766E"/>
                </a:solidFill>
                <a:latin typeface="Segoe UI"/>
              </a:rPr>
              <a:t>Azure
PostgreSQL</a:t>
            </a:r>
          </a:p>
          <a:p>
            <a:pPr algn="ctr"/>
            <a:r>
              <a:rPr sz="700">
                <a:solidFill>
                  <a:srgbClr val="475569"/>
                </a:solidFill>
                <a:latin typeface="Segoe UI"/>
              </a:rPr>
              <a:t>Flexible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4910328"/>
            <a:ext cx="938783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E293B"/>
                </a:solidFill>
                <a:latin typeface="Segoe UI"/>
              </a:rPr>
              <a:t>Azure Key Vault</a:t>
            </a:r>
          </a:p>
          <a:p>
            <a:pPr algn="ctr"/>
            <a:endParaRPr sz="65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09232" y="4910328"/>
            <a:ext cx="938783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E293B"/>
                </a:solidFill>
                <a:latin typeface="Segoe UI"/>
              </a:rPr>
              <a:t>Blob Storage</a:t>
            </a:r>
            <a:endParaRPr sz="68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857744" y="4910328"/>
            <a:ext cx="938783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E293B"/>
                </a:solidFill>
                <a:latin typeface="Segoe UI"/>
              </a:rPr>
              <a:t>App Insights + Log Analytics</a:t>
            </a:r>
            <a:endParaRPr sz="68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281160" y="1463040"/>
            <a:ext cx="2587752" cy="4983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74200" y="1544320"/>
            <a:ext cx="2171192" cy="33324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External (outbound HTTPS)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1965960"/>
            <a:ext cx="2313432" cy="10972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Microsoft Entra ID</a:t>
            </a:r>
          </a:p>
          <a:p>
            <a:pPr algn="ctr"/>
            <a:r>
              <a:rPr sz="750">
                <a:solidFill>
                  <a:srgbClr val="475569"/>
                </a:solidFill>
                <a:latin typeface="Segoe UI"/>
              </a:rPr>
              <a:t>Shell SSO · groups→roles · app identity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3246120"/>
            <a:ext cx="2313432" cy="1097280"/>
          </a:xfrm>
          <a:prstGeom prst="round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6D28D9"/>
                </a:solidFill>
                <a:latin typeface="Segoe UI"/>
              </a:rPr>
              <a:t>Microsoft Foundry</a:t>
            </a:r>
          </a:p>
          <a:p>
            <a:pPr algn="ctr"/>
            <a:r>
              <a:rPr sz="750">
                <a:solidFill>
                  <a:srgbClr val="475569"/>
                </a:solidFill>
                <a:latin typeface="Segoe UI"/>
              </a:rPr>
              <a:t>Responses API + content safety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4526280"/>
            <a:ext cx="23134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Microsoft Graph (Shell tenant)</a:t>
            </a:r>
          </a:p>
          <a:p>
            <a:pPr algn="ctr"/>
            <a:r>
              <a:rPr sz="750" dirty="0" err="1">
                <a:solidFill>
                  <a:srgbClr val="475569"/>
                </a:solidFill>
                <a:latin typeface="Segoe UI"/>
              </a:rPr>
              <a:t>Mail.Send</a:t>
            </a:r>
            <a:r>
              <a:rPr sz="750" dirty="0">
                <a:solidFill>
                  <a:srgbClr val="475569"/>
                </a:solidFill>
                <a:latin typeface="Segoe UI"/>
              </a:rPr>
              <a:t> · Calendars ·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532888" y="3383280"/>
            <a:ext cx="146304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3675887" y="3383280"/>
            <a:ext cx="192024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9144000" y="3611880"/>
            <a:ext cx="118872" cy="365760"/>
          </a:xfrm>
          <a:prstGeom prst="rightArrow">
            <a:avLst/>
          </a:prstGeom>
          <a:solidFill>
            <a:srgbClr val="07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wn Arrow 36"/>
          <p:cNvSpPr/>
          <p:nvPr/>
        </p:nvSpPr>
        <p:spPr>
          <a:xfrm>
            <a:off x="6350508" y="4261104"/>
            <a:ext cx="329184" cy="16459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  <a:latin typeface="Segoe UI"/>
              </a:rPr>
              <a:t>Database = Azure PostgreSQL (Flexible Server) in the Data Tier, reached via Private Link + Managed Identity.  Deterministic core is code; LLM only drafts behind the approval gate.  Aligned to docs-archive/updated v2.0 (ADR-002/004/005) + issue #13.</a:t>
            </a:r>
          </a:p>
        </p:txBody>
      </p:sp>
    </p:spTree>
    <p:extLst>
      <p:ext uri="{BB962C8B-B14F-4D97-AF65-F5344CB8AC3E}">
        <p14:creationId xmlns:p14="http://schemas.microsoft.com/office/powerpoint/2010/main" val="510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Segoe UI"/>
              </a:rPr>
              <a:t>VendorPulse — Deployment Architecture (Shell Azure)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Single-tenant · West Europe · Azure App Service · Private VNet · app-only certificate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178308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1E293B"/>
                </a:solidFill>
                <a:latin typeface="Segoe UI"/>
              </a:rPr>
              <a:t>👤  Shell user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on corporate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94560"/>
            <a:ext cx="1783080" cy="566928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15803D"/>
                </a:solidFill>
                <a:latin typeface="Segoe UI"/>
              </a:rPr>
              <a:t>Microsoft Entra ID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Shell SSO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852928"/>
            <a:ext cx="17830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1E293B"/>
                </a:solidFill>
                <a:latin typeface="Segoe UI"/>
              </a:rPr>
              <a:t>Single Sign-On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OIDC / MSAL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511296"/>
            <a:ext cx="17830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850" b="1">
                <a:solidFill>
                  <a:srgbClr val="1E293B"/>
                </a:solidFill>
                <a:latin typeface="Segoe UI"/>
              </a:rPr>
              <a:t>Vendorpulse</a:t>
            </a:r>
            <a:r>
              <a:rPr sz="850" b="1">
                <a:solidFill>
                  <a:srgbClr val="1E293B"/>
                </a:solidFill>
                <a:latin typeface="Segoe UI"/>
              </a:rPr>
              <a:t>.it.shell.com</a:t>
            </a:r>
            <a:r>
              <a:rPr lang="en-US" sz="850" b="1" dirty="0">
                <a:solidFill>
                  <a:srgbClr val="1E293B"/>
                </a:solidFill>
                <a:latin typeface="Segoe UI"/>
              </a:rPr>
              <a:t> </a:t>
            </a:r>
            <a:br>
              <a:rPr lang="en-US" sz="850" b="1" dirty="0">
                <a:solidFill>
                  <a:srgbClr val="1E293B"/>
                </a:solidFill>
                <a:latin typeface="Segoe UI"/>
                <a:cs typeface="Segoe UI"/>
              </a:rPr>
            </a:br>
            <a:r>
              <a:rPr lang="en-US" sz="850" b="1">
                <a:solidFill>
                  <a:srgbClr val="1E293B"/>
                </a:solidFill>
                <a:latin typeface="Segoe UI"/>
              </a:rPr>
              <a:t>( Example )</a:t>
            </a:r>
            <a:endParaRPr lang="en-US" sz="850" b="1">
              <a:solidFill>
                <a:srgbClr val="1E293B"/>
              </a:solidFill>
              <a:latin typeface="Segoe UI"/>
              <a:cs typeface="Segoe UI"/>
            </a:endParaRP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DNS → Front 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480560"/>
            <a:ext cx="1783080" cy="566928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B45309"/>
                </a:solidFill>
                <a:latin typeface="Segoe UI"/>
              </a:rPr>
              <a:t>Shell egress proxy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outbound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7415" y="1298745"/>
            <a:ext cx="7297357" cy="4498775"/>
          </a:xfrm>
          <a:prstGeom prst="roundRect">
            <a:avLst/>
          </a:prstGeom>
          <a:solidFill>
            <a:srgbClr val="E6F2FB"/>
          </a:solidFill>
          <a:ln w="15875">
            <a:solidFill>
              <a:srgbClr val="075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5606" y="1298151"/>
            <a:ext cx="4572000" cy="2377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1" i="0">
                <a:solidFill>
                  <a:srgbClr val="075EA6"/>
                </a:solidFill>
                <a:latin typeface="Segoe UI"/>
              </a:rPr>
              <a:t>☁  Shell Azure Subscription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5159" y="1544593"/>
            <a:ext cx="5359649" cy="394529"/>
          </a:xfrm>
          <a:prstGeom prst="roundRect">
            <a:avLst/>
          </a:prstGeom>
          <a:solidFill>
            <a:srgbClr val="07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Azure Front Door + WAF   ·   TLS 1.2+ · OWASP · origin-locked to App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993391"/>
            <a:ext cx="699516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2020823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1D4ED8"/>
                </a:solidFill>
                <a:latin typeface="Segoe UI"/>
              </a:rPr>
              <a:t>🔒  Private VNet (VNet integration · Private Endpoints)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7752" y="2285999"/>
            <a:ext cx="388620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31581" y="2323169"/>
            <a:ext cx="3310054" cy="273726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Azure App Service (Linux container)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2670047"/>
            <a:ext cx="3666744" cy="9601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</a:rPr>
              <a:t>Production slot  (TLS 1.2+)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2944368"/>
            <a:ext cx="34290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1E293B"/>
                </a:solidFill>
                <a:latin typeface="Segoe UI"/>
              </a:rPr>
              <a:t>SPA (React/nginx)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3273551"/>
            <a:ext cx="3429000" cy="29260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Segoe UI"/>
              </a:rPr>
              <a:t>FastAPI + MAF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3703320"/>
            <a:ext cx="3666744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475569"/>
                </a:solidFill>
                <a:latin typeface="Segoe UI"/>
              </a:rPr>
              <a:t>Staging slot</a:t>
            </a:r>
          </a:p>
          <a:p>
            <a:pPr algn="ctr"/>
            <a:r>
              <a:rPr sz="650">
                <a:solidFill>
                  <a:srgbClr val="475569"/>
                </a:solidFill>
                <a:latin typeface="Segoe UI"/>
              </a:rPr>
              <a:t>blue-green / zero-downtime swap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93992" y="2285999"/>
            <a:ext cx="2459736" cy="2057400"/>
          </a:xfrm>
          <a:prstGeom prst="roundRect">
            <a:avLst/>
          </a:prstGeom>
          <a:solidFill>
            <a:srgbClr val="CCE9E6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70552" y="2397510"/>
            <a:ext cx="2171664" cy="199385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Data Resource Group</a:t>
            </a:r>
          </a:p>
        </p:txBody>
      </p:sp>
      <p:sp>
        <p:nvSpPr>
          <p:cNvPr id="24" name="Can 23"/>
          <p:cNvSpPr/>
          <p:nvPr/>
        </p:nvSpPr>
        <p:spPr>
          <a:xfrm>
            <a:off x="6976872" y="2743199"/>
            <a:ext cx="868680" cy="960120"/>
          </a:xfrm>
          <a:prstGeom prst="can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0F766E"/>
                </a:solidFill>
                <a:latin typeface="Segoe UI"/>
              </a:rPr>
              <a:t>Postgres</a:t>
            </a:r>
          </a:p>
          <a:p>
            <a:pPr algn="ctr"/>
            <a:r>
              <a:rPr sz="600">
                <a:solidFill>
                  <a:srgbClr val="475569"/>
                </a:solidFill>
                <a:latin typeface="Segoe UI"/>
              </a:rPr>
              <a:t>Flexible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703320"/>
            <a:ext cx="1143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475569"/>
                </a:solidFill>
                <a:latin typeface="Segoe UI"/>
              </a:rPr>
              <a:t>Private 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2743199"/>
            <a:ext cx="1133856" cy="4389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1E293B"/>
                </a:solidFill>
                <a:latin typeface="Segoe UI"/>
              </a:rPr>
              <a:t>Key Vault</a:t>
            </a:r>
          </a:p>
          <a:p>
            <a:pPr algn="ctr"/>
            <a:r>
              <a:rPr sz="600">
                <a:solidFill>
                  <a:srgbClr val="475569"/>
                </a:solidFill>
                <a:latin typeface="Segoe UI"/>
              </a:rPr>
              <a:t>cert · keys (PE)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82712" y="3246120"/>
            <a:ext cx="1133856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1E293B"/>
                </a:solidFill>
                <a:latin typeface="Segoe UI"/>
              </a:rPr>
              <a:t>Blob Storage</a:t>
            </a:r>
          </a:p>
          <a:p>
            <a:pPr algn="ctr"/>
            <a:r>
              <a:rPr sz="600">
                <a:solidFill>
                  <a:srgbClr val="475569"/>
                </a:solidFill>
                <a:latin typeface="Segoe UI"/>
              </a:rPr>
              <a:t>minutes (PE)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4553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  <a:latin typeface="Segoe UI"/>
              </a:rPr>
              <a:t>DevOps &amp; 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4754880"/>
            <a:ext cx="1325880" cy="640080"/>
          </a:xfrm>
          <a:prstGeom prst="roundRect">
            <a:avLst/>
          </a:prstGeom>
          <a:solidFill>
            <a:srgbClr val="E0E7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750" b="1" dirty="0">
                <a:solidFill>
                  <a:srgbClr val="4338CA"/>
                </a:solidFill>
                <a:latin typeface="Segoe UI"/>
              </a:rPr>
              <a:t>Azure </a:t>
            </a:r>
            <a:r>
              <a:rPr lang="en-US" sz="750" b="1" dirty="0" err="1">
                <a:solidFill>
                  <a:srgbClr val="4338CA"/>
                </a:solidFill>
                <a:latin typeface="Segoe UI"/>
              </a:rPr>
              <a:t>Devops</a:t>
            </a:r>
            <a:endParaRPr lang="en-US" sz="750" b="1" dirty="0" err="1">
              <a:solidFill>
                <a:srgbClr val="4338CA"/>
              </a:solidFill>
              <a:latin typeface="Segoe UI"/>
              <a:cs typeface="Segoe U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840480" y="4754880"/>
            <a:ext cx="1325880" cy="6400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1D4ED8"/>
                </a:solidFill>
                <a:latin typeface="Segoe UI"/>
              </a:rPr>
              <a:t>Container</a:t>
            </a:r>
          </a:p>
          <a:p>
            <a:pPr algn="ctr"/>
            <a:r>
              <a:rPr sz="650">
                <a:solidFill>
                  <a:srgbClr val="475569"/>
                </a:solidFill>
                <a:latin typeface="Segoe UI"/>
              </a:rPr>
              <a:t>Registry (ACR)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754880"/>
            <a:ext cx="1325880" cy="640080"/>
          </a:xfrm>
          <a:prstGeom prst="roundRect">
            <a:avLst/>
          </a:prstGeom>
          <a:solidFill>
            <a:srgbClr val="E6F2FB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075EA6"/>
                </a:solidFill>
                <a:latin typeface="Segoe UI"/>
              </a:rPr>
              <a:t>Azure</a:t>
            </a:r>
            <a:r>
              <a:rPr lang="en-US" sz="750" b="1">
                <a:solidFill>
                  <a:srgbClr val="075EA6"/>
                </a:solidFill>
                <a:latin typeface="Segoe UI"/>
              </a:rPr>
              <a:t> Monitor</a:t>
            </a:r>
            <a:endParaRPr sz="750" b="1">
              <a:solidFill>
                <a:srgbClr val="075EA6"/>
              </a:solidFill>
              <a:latin typeface="Segoe UI"/>
            </a:endParaRPr>
          </a:p>
          <a:p>
            <a:pPr algn="ctr"/>
            <a:endParaRPr sz="65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675120" y="4754880"/>
            <a:ext cx="1325880" cy="64008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6D28D9"/>
                </a:solidFill>
                <a:latin typeface="Segoe UI"/>
              </a:rPr>
              <a:t>Application</a:t>
            </a:r>
          </a:p>
          <a:p>
            <a:pPr algn="ctr"/>
            <a:r>
              <a:rPr sz="650">
                <a:solidFill>
                  <a:srgbClr val="475569"/>
                </a:solidFill>
                <a:latin typeface="Segoe UI"/>
              </a:rPr>
              <a:t>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754880"/>
            <a:ext cx="1325880" cy="640080"/>
          </a:xfrm>
          <a:prstGeom prst="roundRect">
            <a:avLst/>
          </a:prstGeom>
          <a:solidFill>
            <a:srgbClr val="CCE9E6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50" b="1">
                <a:solidFill>
                  <a:srgbClr val="0F766E"/>
                </a:solidFill>
                <a:latin typeface="Segoe UI"/>
              </a:rPr>
              <a:t>Log Analytics</a:t>
            </a:r>
          </a:p>
          <a:p>
            <a:pPr algn="ctr"/>
            <a:r>
              <a:rPr sz="650">
                <a:solidFill>
                  <a:srgbClr val="475569"/>
                </a:solidFill>
                <a:latin typeface="Segoe UI"/>
              </a:rPr>
              <a:t>immutable audit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3758" y="1280161"/>
            <a:ext cx="2194560" cy="2947638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02367" y="131673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6D28D9"/>
                </a:solidFill>
                <a:latin typeface="Segoe UI"/>
              </a:rPr>
              <a:t>External (outbound HTTPS)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8088" y="1609343"/>
            <a:ext cx="1920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Segoe UI"/>
              </a:rPr>
              <a:t>Microsoft Foundry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Responses API + content safety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8" y="2395728"/>
            <a:ext cx="192024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E293B"/>
                </a:solidFill>
                <a:latin typeface="Segoe UI"/>
              </a:rPr>
              <a:t>Microsoft Graph (Shell)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Mail · Calendar · Teams (app-only cert)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48088" y="3182112"/>
            <a:ext cx="1920240" cy="713232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B91C1C"/>
                </a:solidFill>
                <a:latin typeface="Segoe UI"/>
              </a:rPr>
              <a:t>Entra ID (app reg)</a:t>
            </a:r>
          </a:p>
          <a:p>
            <a:pPr algn="ctr"/>
            <a:r>
              <a:rPr sz="680">
                <a:solidFill>
                  <a:srgbClr val="475569"/>
                </a:solidFill>
                <a:latin typeface="Segoe UI"/>
              </a:rPr>
              <a:t>VendorPulse-Prod · cert in KV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121408" y="1783080"/>
            <a:ext cx="146304" cy="310896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6528816" y="3108959"/>
            <a:ext cx="246888" cy="27432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2476" y="285322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75569"/>
                </a:solidFill>
                <a:latin typeface="Segoe UI"/>
              </a:rPr>
              <a:t>Private
Link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564624" y="2286000"/>
            <a:ext cx="128016" cy="310896"/>
          </a:xfrm>
          <a:prstGeom prst="rightArrow">
            <a:avLst/>
          </a:prstGeom>
          <a:solidFill>
            <a:srgbClr val="07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20040" y="6400800"/>
            <a:ext cx="1154887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80" b="0">
                <a:solidFill>
                  <a:srgbClr val="475569"/>
                </a:solidFill>
                <a:latin typeface="Segoe UI"/>
              </a:rPr>
              <a:t>Shell user → DNS resolves vendorpulse.it.shell.com → Front Door (WAF) → App Service (private) → PostgreSQL via Private Link  ·  Graph &amp; Foundry via outbound HTTPS (egress proxy)  ·  Managed Identity to KV/DB, app-only certificate to Graph</a:t>
            </a:r>
          </a:p>
        </p:txBody>
      </p:sp>
    </p:spTree>
    <p:extLst>
      <p:ext uri="{BB962C8B-B14F-4D97-AF65-F5344CB8AC3E}">
        <p14:creationId xmlns:p14="http://schemas.microsoft.com/office/powerpoint/2010/main" val="2352851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2026-06-10T09:55:44Z</dcterms:created>
  <dcterms:modified xsi:type="dcterms:W3CDTF">2026-06-10T16:10:05Z</dcterms:modified>
</cp:coreProperties>
</file>