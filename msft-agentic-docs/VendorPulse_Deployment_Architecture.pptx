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961120" cy="411480"/>
          </a:xfrm>
          <a:prstGeom prst="rect">
            <a:avLst/>
          </a:prstGeom>
          <a:noFill/>
        </p:spPr>
        <p:txBody>
          <a:bodyPr wrap="square">
            <a:spAutoFit/>
          </a:bodyPr>
          <a:lstStyle/>
          <a:p>
            <a:pPr algn="l"/>
            <a:r>
              <a:rPr sz="2000" b="1" i="0">
                <a:solidFill>
                  <a:srgbClr val="202020"/>
                </a:solidFill>
                <a:latin typeface="Calibri"/>
              </a:rPr>
              <a:t>VendorPulse Deployment Architecture (Shell Azure)</a:t>
            </a:r>
          </a:p>
        </p:txBody>
      </p:sp>
      <p:sp>
        <p:nvSpPr>
          <p:cNvPr id="4" name="TextBox 3"/>
          <p:cNvSpPr txBox="1"/>
          <p:nvPr/>
        </p:nvSpPr>
        <p:spPr>
          <a:xfrm>
            <a:off x="365760" y="566928"/>
            <a:ext cx="9144000" cy="274320"/>
          </a:xfrm>
          <a:prstGeom prst="rect">
            <a:avLst/>
          </a:prstGeom>
          <a:noFill/>
        </p:spPr>
        <p:txBody>
          <a:bodyPr wrap="square">
            <a:spAutoFit/>
          </a:bodyPr>
          <a:lstStyle/>
          <a:p>
            <a:pPr algn="l"/>
            <a:r>
              <a:rPr sz="1000" b="0" i="0">
                <a:solidFill>
                  <a:srgbClr val="595959"/>
                </a:solidFill>
                <a:latin typeface="Calibri"/>
              </a:rPr>
              <a:t>Single-tenant.  West Europe.  Azure App Service.  Private VNet.  App-only certificate auth.</a:t>
            </a:r>
          </a:p>
        </p:txBody>
      </p:sp>
      <p:cxnSp>
        <p:nvCxnSpPr>
          <p:cNvPr id="5" name="Connector 4"/>
          <p:cNvCxnSpPr/>
          <p:nvPr/>
        </p:nvCxnSpPr>
        <p:spPr>
          <a:xfrm>
            <a:off x="365760" y="896112"/>
            <a:ext cx="11457432"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515600" y="182880"/>
            <a:ext cx="1371600" cy="548640"/>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00">
                <a:solidFill>
                  <a:srgbClr val="BFBFBF"/>
                </a:solidFill>
                <a:latin typeface="Calibri"/>
              </a:rPr>
              <a:t>[ PRODUCT LOGO ]</a:t>
            </a:r>
          </a:p>
        </p:txBody>
      </p:sp>
      <p:sp>
        <p:nvSpPr>
          <p:cNvPr id="7" name="TextBox 6"/>
          <p:cNvSpPr txBox="1"/>
          <p:nvPr/>
        </p:nvSpPr>
        <p:spPr>
          <a:xfrm>
            <a:off x="320040" y="1078992"/>
            <a:ext cx="1783080" cy="219456"/>
          </a:xfrm>
          <a:prstGeom prst="rect">
            <a:avLst/>
          </a:prstGeom>
          <a:noFill/>
        </p:spPr>
        <p:txBody>
          <a:bodyPr wrap="square">
            <a:spAutoFit/>
          </a:bodyPr>
          <a:lstStyle/>
          <a:p>
            <a:pPr algn="l"/>
            <a:r>
              <a:rPr sz="1100" b="1" i="0">
                <a:solidFill>
                  <a:srgbClr val="595959"/>
                </a:solidFill>
                <a:latin typeface="Calibri"/>
              </a:rPr>
              <a:t>Access path</a:t>
            </a:r>
          </a:p>
        </p:txBody>
      </p:sp>
      <p:cxnSp>
        <p:nvCxnSpPr>
          <p:cNvPr id="8" name="Connector 7"/>
          <p:cNvCxnSpPr/>
          <p:nvPr/>
        </p:nvCxnSpPr>
        <p:spPr>
          <a:xfrm>
            <a:off x="320040" y="1335024"/>
            <a:ext cx="1783080"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65760" y="1618488"/>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10" name="Rectangle 9"/>
          <p:cNvSpPr/>
          <p:nvPr/>
        </p:nvSpPr>
        <p:spPr>
          <a:xfrm>
            <a:off x="320040" y="1417320"/>
            <a:ext cx="1783080" cy="6400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Shell user</a:t>
            </a:r>
          </a:p>
          <a:p>
            <a:pPr algn="ctr"/>
            <a:r>
              <a:rPr sz="680">
                <a:solidFill>
                  <a:srgbClr val="595959"/>
                </a:solidFill>
                <a:latin typeface="Calibri"/>
              </a:rPr>
              <a:t>on corporate network</a:t>
            </a:r>
          </a:p>
        </p:txBody>
      </p:sp>
      <p:sp>
        <p:nvSpPr>
          <p:cNvPr id="11" name="Rectangle 10"/>
          <p:cNvSpPr/>
          <p:nvPr/>
        </p:nvSpPr>
        <p:spPr>
          <a:xfrm>
            <a:off x="320040" y="2194560"/>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Microsoft Entra ID</a:t>
            </a:r>
          </a:p>
          <a:p>
            <a:pPr algn="ctr"/>
            <a:r>
              <a:rPr sz="680">
                <a:solidFill>
                  <a:srgbClr val="595959"/>
                </a:solidFill>
                <a:latin typeface="Calibri"/>
              </a:rPr>
              <a:t>Shell SSO</a:t>
            </a:r>
          </a:p>
        </p:txBody>
      </p:sp>
      <p:sp>
        <p:nvSpPr>
          <p:cNvPr id="12" name="Rectangle 11"/>
          <p:cNvSpPr/>
          <p:nvPr/>
        </p:nvSpPr>
        <p:spPr>
          <a:xfrm>
            <a:off x="320040" y="2852928"/>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Single Sign-On</a:t>
            </a:r>
          </a:p>
          <a:p>
            <a:pPr algn="ctr"/>
            <a:r>
              <a:rPr sz="680">
                <a:solidFill>
                  <a:srgbClr val="595959"/>
                </a:solidFill>
                <a:latin typeface="Calibri"/>
              </a:rPr>
              <a:t>OIDC / MSAL</a:t>
            </a:r>
          </a:p>
        </p:txBody>
      </p:sp>
      <p:sp>
        <p:nvSpPr>
          <p:cNvPr id="13" name="Rectangle 12"/>
          <p:cNvSpPr/>
          <p:nvPr/>
        </p:nvSpPr>
        <p:spPr>
          <a:xfrm>
            <a:off x="320040" y="3511296"/>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vendorpulse.it.shell.com</a:t>
            </a:r>
          </a:p>
          <a:p>
            <a:pPr algn="ctr"/>
            <a:r>
              <a:rPr sz="680">
                <a:solidFill>
                  <a:srgbClr val="595959"/>
                </a:solidFill>
                <a:latin typeface="Calibri"/>
              </a:rPr>
              <a:t>DNS to Front Door</a:t>
            </a:r>
          </a:p>
        </p:txBody>
      </p:sp>
      <p:sp>
        <p:nvSpPr>
          <p:cNvPr id="14" name="Rectangle 13"/>
          <p:cNvSpPr/>
          <p:nvPr/>
        </p:nvSpPr>
        <p:spPr>
          <a:xfrm>
            <a:off x="320040" y="4480560"/>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Shell egress proxy</a:t>
            </a:r>
          </a:p>
          <a:p>
            <a:pPr algn="ctr"/>
            <a:r>
              <a:rPr sz="680">
                <a:solidFill>
                  <a:srgbClr val="595959"/>
                </a:solidFill>
                <a:latin typeface="Calibri"/>
              </a:rPr>
              <a:t>outbound control</a:t>
            </a:r>
          </a:p>
        </p:txBody>
      </p:sp>
      <p:sp>
        <p:nvSpPr>
          <p:cNvPr id="15" name="Oval 14"/>
          <p:cNvSpPr/>
          <p:nvPr/>
        </p:nvSpPr>
        <p:spPr>
          <a:xfrm>
            <a:off x="45720" y="1481328"/>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1</a:t>
            </a:r>
          </a:p>
        </p:txBody>
      </p:sp>
      <p:sp>
        <p:nvSpPr>
          <p:cNvPr id="16" name="Rectangle 15"/>
          <p:cNvSpPr/>
          <p:nvPr/>
        </p:nvSpPr>
        <p:spPr>
          <a:xfrm>
            <a:off x="2286000" y="1280160"/>
            <a:ext cx="7269480" cy="507492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5728" y="1335024"/>
            <a:ext cx="219456" cy="219456"/>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18" name="TextBox 17"/>
          <p:cNvSpPr txBox="1"/>
          <p:nvPr/>
        </p:nvSpPr>
        <p:spPr>
          <a:xfrm>
            <a:off x="2670048" y="1335024"/>
            <a:ext cx="4572000" cy="237744"/>
          </a:xfrm>
          <a:prstGeom prst="rect">
            <a:avLst/>
          </a:prstGeom>
          <a:noFill/>
        </p:spPr>
        <p:txBody>
          <a:bodyPr wrap="square">
            <a:spAutoFit/>
          </a:bodyPr>
          <a:lstStyle/>
          <a:p>
            <a:pPr algn="l"/>
            <a:r>
              <a:rPr sz="900" b="1" i="0">
                <a:solidFill>
                  <a:srgbClr val="595959"/>
                </a:solidFill>
                <a:latin typeface="Calibri"/>
              </a:rPr>
              <a:t>Shell Azure Subscription - West Europe</a:t>
            </a:r>
          </a:p>
        </p:txBody>
      </p:sp>
      <p:sp>
        <p:nvSpPr>
          <p:cNvPr id="19" name="Oval 18"/>
          <p:cNvSpPr/>
          <p:nvPr/>
        </p:nvSpPr>
        <p:spPr>
          <a:xfrm>
            <a:off x="2267712" y="155448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2</a:t>
            </a:r>
          </a:p>
        </p:txBody>
      </p:sp>
      <p:sp>
        <p:nvSpPr>
          <p:cNvPr id="20" name="Rectangle 19"/>
          <p:cNvSpPr/>
          <p:nvPr/>
        </p:nvSpPr>
        <p:spPr>
          <a:xfrm>
            <a:off x="2423160" y="1645919"/>
            <a:ext cx="699516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Azure Front Door + WAF   -   TLS 1.2+, OWASP, origin-locked to App Service</a:t>
            </a:r>
          </a:p>
        </p:txBody>
      </p:sp>
      <p:sp>
        <p:nvSpPr>
          <p:cNvPr id="21" name="Rectangle 20"/>
          <p:cNvSpPr/>
          <p:nvPr/>
        </p:nvSpPr>
        <p:spPr>
          <a:xfrm>
            <a:off x="2423160" y="2029967"/>
            <a:ext cx="6995160" cy="246888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96312" y="2075687"/>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23" name="TextBox 22"/>
          <p:cNvSpPr txBox="1"/>
          <p:nvPr/>
        </p:nvSpPr>
        <p:spPr>
          <a:xfrm>
            <a:off x="2752344" y="2075687"/>
            <a:ext cx="3657600" cy="219456"/>
          </a:xfrm>
          <a:prstGeom prst="rect">
            <a:avLst/>
          </a:prstGeom>
          <a:noFill/>
        </p:spPr>
        <p:txBody>
          <a:bodyPr wrap="square">
            <a:spAutoFit/>
          </a:bodyPr>
          <a:lstStyle/>
          <a:p>
            <a:pPr algn="l"/>
            <a:r>
              <a:rPr sz="819" b="1" i="0">
                <a:solidFill>
                  <a:srgbClr val="595959"/>
                </a:solidFill>
                <a:latin typeface="Calibri"/>
              </a:rPr>
              <a:t>Private VNet (VNet integration, Private Endpoints)</a:t>
            </a:r>
          </a:p>
        </p:txBody>
      </p:sp>
      <p:sp>
        <p:nvSpPr>
          <p:cNvPr id="24" name="Oval 23"/>
          <p:cNvSpPr/>
          <p:nvPr/>
        </p:nvSpPr>
        <p:spPr>
          <a:xfrm>
            <a:off x="2404872" y="2048255"/>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3</a:t>
            </a:r>
          </a:p>
        </p:txBody>
      </p:sp>
      <p:sp>
        <p:nvSpPr>
          <p:cNvPr id="25" name="Rectangle 24"/>
          <p:cNvSpPr/>
          <p:nvPr/>
        </p:nvSpPr>
        <p:spPr>
          <a:xfrm>
            <a:off x="2587752" y="2340863"/>
            <a:ext cx="3886200" cy="20116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87752" y="2340863"/>
            <a:ext cx="38862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Azure App Service (Linux container)</a:t>
            </a:r>
          </a:p>
        </p:txBody>
      </p:sp>
      <p:sp>
        <p:nvSpPr>
          <p:cNvPr id="27" name="Rectangle 26"/>
          <p:cNvSpPr/>
          <p:nvPr/>
        </p:nvSpPr>
        <p:spPr>
          <a:xfrm>
            <a:off x="2697480" y="2706623"/>
            <a:ext cx="3666744" cy="96012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18288" bIns="18288"/>
          <a:lstStyle/>
          <a:p>
            <a:pPr algn="ctr"/>
            <a:r>
              <a:rPr b="1" sz="800">
                <a:solidFill>
                  <a:srgbClr val="595959"/>
                </a:solidFill>
                <a:latin typeface="Calibri"/>
              </a:rPr>
              <a:t>Production slot  (TLS 1.2+)</a:t>
            </a:r>
          </a:p>
        </p:txBody>
      </p:sp>
      <p:sp>
        <p:nvSpPr>
          <p:cNvPr id="28" name="Rectangle 27"/>
          <p:cNvSpPr/>
          <p:nvPr/>
        </p:nvSpPr>
        <p:spPr>
          <a:xfrm>
            <a:off x="2816352" y="2980944"/>
            <a:ext cx="34290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SPA (React / nginx)</a:t>
            </a:r>
          </a:p>
        </p:txBody>
      </p:sp>
      <p:sp>
        <p:nvSpPr>
          <p:cNvPr id="29" name="Rectangle 28"/>
          <p:cNvSpPr/>
          <p:nvPr/>
        </p:nvSpPr>
        <p:spPr>
          <a:xfrm>
            <a:off x="2816352" y="3310127"/>
            <a:ext cx="34290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FastAPI + MAF agents</a:t>
            </a:r>
          </a:p>
        </p:txBody>
      </p:sp>
      <p:sp>
        <p:nvSpPr>
          <p:cNvPr id="30" name="Rectangle 29"/>
          <p:cNvSpPr/>
          <p:nvPr/>
        </p:nvSpPr>
        <p:spPr>
          <a:xfrm>
            <a:off x="2697480" y="3730752"/>
            <a:ext cx="3666744" cy="50292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595959"/>
                </a:solidFill>
                <a:latin typeface="Calibri"/>
              </a:rPr>
              <a:t>Staging slot</a:t>
            </a:r>
          </a:p>
          <a:p>
            <a:pPr algn="ctr"/>
            <a:r>
              <a:rPr sz="650">
                <a:solidFill>
                  <a:srgbClr val="595959"/>
                </a:solidFill>
                <a:latin typeface="Calibri"/>
              </a:rPr>
              <a:t>blue-green / zero-downtime swap</a:t>
            </a:r>
          </a:p>
        </p:txBody>
      </p:sp>
      <p:sp>
        <p:nvSpPr>
          <p:cNvPr id="31" name="Rectangle 30"/>
          <p:cNvSpPr/>
          <p:nvPr/>
        </p:nvSpPr>
        <p:spPr>
          <a:xfrm>
            <a:off x="6793992" y="2340863"/>
            <a:ext cx="2459736" cy="20116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93992" y="2340863"/>
            <a:ext cx="2459736"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Data Resource Group</a:t>
            </a:r>
          </a:p>
        </p:txBody>
      </p:sp>
      <p:sp>
        <p:nvSpPr>
          <p:cNvPr id="33" name="Oval 32"/>
          <p:cNvSpPr/>
          <p:nvPr/>
        </p:nvSpPr>
        <p:spPr>
          <a:xfrm>
            <a:off x="6647688" y="2350007"/>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4</a:t>
            </a:r>
          </a:p>
        </p:txBody>
      </p:sp>
      <p:sp>
        <p:nvSpPr>
          <p:cNvPr id="34" name="Can 33"/>
          <p:cNvSpPr/>
          <p:nvPr/>
        </p:nvSpPr>
        <p:spPr>
          <a:xfrm>
            <a:off x="6976872" y="2743199"/>
            <a:ext cx="868680" cy="960120"/>
          </a:xfrm>
          <a:prstGeom prst="can">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Postgres</a:t>
            </a:r>
          </a:p>
          <a:p>
            <a:pPr algn="ctr"/>
            <a:r>
              <a:rPr sz="600">
                <a:solidFill>
                  <a:srgbClr val="595959"/>
                </a:solidFill>
                <a:latin typeface="Calibri"/>
              </a:rPr>
              <a:t>Flexible</a:t>
            </a:r>
          </a:p>
        </p:txBody>
      </p:sp>
      <p:sp>
        <p:nvSpPr>
          <p:cNvPr id="35" name="TextBox 34"/>
          <p:cNvSpPr txBox="1"/>
          <p:nvPr/>
        </p:nvSpPr>
        <p:spPr>
          <a:xfrm>
            <a:off x="6839712" y="3730752"/>
            <a:ext cx="1143000" cy="164592"/>
          </a:xfrm>
          <a:prstGeom prst="rect">
            <a:avLst/>
          </a:prstGeom>
          <a:noFill/>
        </p:spPr>
        <p:txBody>
          <a:bodyPr wrap="square">
            <a:spAutoFit/>
          </a:bodyPr>
          <a:lstStyle/>
          <a:p>
            <a:pPr algn="ctr"/>
            <a:r>
              <a:rPr sz="620" b="0" i="0">
                <a:solidFill>
                  <a:srgbClr val="595959"/>
                </a:solidFill>
                <a:latin typeface="Calibri"/>
              </a:rPr>
              <a:t>Private Link</a:t>
            </a:r>
          </a:p>
        </p:txBody>
      </p:sp>
      <p:sp>
        <p:nvSpPr>
          <p:cNvPr id="36" name="Rectangle 35"/>
          <p:cNvSpPr/>
          <p:nvPr/>
        </p:nvSpPr>
        <p:spPr>
          <a:xfrm>
            <a:off x="7982712" y="2743199"/>
            <a:ext cx="1133856" cy="43891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Key Vault</a:t>
            </a:r>
          </a:p>
          <a:p>
            <a:pPr algn="ctr"/>
            <a:r>
              <a:rPr sz="600">
                <a:solidFill>
                  <a:srgbClr val="595959"/>
                </a:solidFill>
                <a:latin typeface="Calibri"/>
              </a:rPr>
              <a:t>cert, keys (PE)</a:t>
            </a:r>
          </a:p>
        </p:txBody>
      </p:sp>
      <p:sp>
        <p:nvSpPr>
          <p:cNvPr id="37" name="Rectangle 36"/>
          <p:cNvSpPr/>
          <p:nvPr/>
        </p:nvSpPr>
        <p:spPr>
          <a:xfrm>
            <a:off x="7982712" y="3236975"/>
            <a:ext cx="1133856" cy="45720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Blob Storage</a:t>
            </a:r>
          </a:p>
          <a:p>
            <a:pPr algn="ctr"/>
            <a:r>
              <a:rPr sz="600">
                <a:solidFill>
                  <a:srgbClr val="595959"/>
                </a:solidFill>
                <a:latin typeface="Calibri"/>
              </a:rPr>
              <a:t>minutes (PE)</a:t>
            </a:r>
          </a:p>
        </p:txBody>
      </p:sp>
      <p:sp>
        <p:nvSpPr>
          <p:cNvPr id="38" name="TextBox 37"/>
          <p:cNvSpPr txBox="1"/>
          <p:nvPr/>
        </p:nvSpPr>
        <p:spPr>
          <a:xfrm>
            <a:off x="2423160" y="4608576"/>
            <a:ext cx="2743200" cy="182880"/>
          </a:xfrm>
          <a:prstGeom prst="rect">
            <a:avLst/>
          </a:prstGeom>
          <a:noFill/>
        </p:spPr>
        <p:txBody>
          <a:bodyPr wrap="square">
            <a:spAutoFit/>
          </a:bodyPr>
          <a:lstStyle/>
          <a:p>
            <a:pPr algn="l"/>
            <a:r>
              <a:rPr sz="800" b="1" i="0">
                <a:solidFill>
                  <a:srgbClr val="595959"/>
                </a:solidFill>
                <a:latin typeface="Calibri"/>
              </a:rPr>
              <a:t>DevOps &amp; Observability</a:t>
            </a:r>
          </a:p>
        </p:txBody>
      </p:sp>
      <p:cxnSp>
        <p:nvCxnSpPr>
          <p:cNvPr id="39" name="Connector 38"/>
          <p:cNvCxnSpPr/>
          <p:nvPr/>
        </p:nvCxnSpPr>
        <p:spPr>
          <a:xfrm>
            <a:off x="2423160" y="4791455"/>
            <a:ext cx="6995159"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42316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GitHub Actions / Azure DevOps</a:t>
            </a:r>
          </a:p>
        </p:txBody>
      </p:sp>
      <p:sp>
        <p:nvSpPr>
          <p:cNvPr id="41" name="Rectangle 40"/>
          <p:cNvSpPr/>
          <p:nvPr/>
        </p:nvSpPr>
        <p:spPr>
          <a:xfrm>
            <a:off x="384048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Container Registry (ACR)</a:t>
            </a:r>
          </a:p>
        </p:txBody>
      </p:sp>
      <p:sp>
        <p:nvSpPr>
          <p:cNvPr id="42" name="Rectangle 41"/>
          <p:cNvSpPr/>
          <p:nvPr/>
        </p:nvSpPr>
        <p:spPr>
          <a:xfrm>
            <a:off x="525780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Azure Monitor</a:t>
            </a:r>
          </a:p>
        </p:txBody>
      </p:sp>
      <p:sp>
        <p:nvSpPr>
          <p:cNvPr id="43" name="Rectangle 42"/>
          <p:cNvSpPr/>
          <p:nvPr/>
        </p:nvSpPr>
        <p:spPr>
          <a:xfrm>
            <a:off x="667512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Application Insights</a:t>
            </a:r>
          </a:p>
        </p:txBody>
      </p:sp>
      <p:sp>
        <p:nvSpPr>
          <p:cNvPr id="44" name="Rectangle 43"/>
          <p:cNvSpPr/>
          <p:nvPr/>
        </p:nvSpPr>
        <p:spPr>
          <a:xfrm>
            <a:off x="809244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Log Analytics / immutable audit</a:t>
            </a:r>
          </a:p>
        </p:txBody>
      </p:sp>
      <p:sp>
        <p:nvSpPr>
          <p:cNvPr id="45" name="Rectangle 44"/>
          <p:cNvSpPr/>
          <p:nvPr/>
        </p:nvSpPr>
        <p:spPr>
          <a:xfrm>
            <a:off x="9710928" y="1280160"/>
            <a:ext cx="2194560" cy="274320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02367" y="1335024"/>
            <a:ext cx="2011680" cy="219456"/>
          </a:xfrm>
          <a:prstGeom prst="rect">
            <a:avLst/>
          </a:prstGeom>
          <a:noFill/>
        </p:spPr>
        <p:txBody>
          <a:bodyPr wrap="square">
            <a:spAutoFit/>
          </a:bodyPr>
          <a:lstStyle/>
          <a:p>
            <a:pPr algn="l"/>
            <a:r>
              <a:rPr sz="819" b="1" i="0">
                <a:solidFill>
                  <a:srgbClr val="595959"/>
                </a:solidFill>
                <a:latin typeface="Calibri"/>
              </a:rPr>
              <a:t>External (outbound HTTPS)</a:t>
            </a:r>
          </a:p>
        </p:txBody>
      </p:sp>
      <p:sp>
        <p:nvSpPr>
          <p:cNvPr id="47" name="Oval 46"/>
          <p:cNvSpPr/>
          <p:nvPr/>
        </p:nvSpPr>
        <p:spPr>
          <a:xfrm>
            <a:off x="9692640" y="155448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5</a:t>
            </a:r>
          </a:p>
        </p:txBody>
      </p:sp>
      <p:sp>
        <p:nvSpPr>
          <p:cNvPr id="48" name="Rectangle 47"/>
          <p:cNvSpPr/>
          <p:nvPr/>
        </p:nvSpPr>
        <p:spPr>
          <a:xfrm>
            <a:off x="9848088" y="1645919"/>
            <a:ext cx="1920240" cy="71323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Microsoft Foundry</a:t>
            </a:r>
          </a:p>
          <a:p>
            <a:pPr algn="ctr"/>
            <a:r>
              <a:rPr sz="680">
                <a:solidFill>
                  <a:srgbClr val="595959"/>
                </a:solidFill>
                <a:latin typeface="Calibri"/>
              </a:rPr>
              <a:t>Responses API + content safety</a:t>
            </a:r>
          </a:p>
        </p:txBody>
      </p:sp>
      <p:sp>
        <p:nvSpPr>
          <p:cNvPr id="49" name="Rectangle 48"/>
          <p:cNvSpPr/>
          <p:nvPr/>
        </p:nvSpPr>
        <p:spPr>
          <a:xfrm>
            <a:off x="9930384" y="1737360"/>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50" name="Rectangle 49"/>
          <p:cNvSpPr/>
          <p:nvPr/>
        </p:nvSpPr>
        <p:spPr>
          <a:xfrm>
            <a:off x="9848088" y="2432304"/>
            <a:ext cx="1920240" cy="71323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Microsoft Graph (Shell)</a:t>
            </a:r>
          </a:p>
          <a:p>
            <a:pPr algn="ctr"/>
            <a:r>
              <a:rPr sz="680">
                <a:solidFill>
                  <a:srgbClr val="595959"/>
                </a:solidFill>
                <a:latin typeface="Calibri"/>
              </a:rPr>
              <a:t>Mail / Calendar / Teams (app-only cert)</a:t>
            </a:r>
          </a:p>
        </p:txBody>
      </p:sp>
      <p:sp>
        <p:nvSpPr>
          <p:cNvPr id="51" name="Rectangle 50"/>
          <p:cNvSpPr/>
          <p:nvPr/>
        </p:nvSpPr>
        <p:spPr>
          <a:xfrm>
            <a:off x="9930384" y="2523744"/>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52" name="Rectangle 51"/>
          <p:cNvSpPr/>
          <p:nvPr/>
        </p:nvSpPr>
        <p:spPr>
          <a:xfrm>
            <a:off x="9848088" y="3218688"/>
            <a:ext cx="1920240" cy="713232"/>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Entra ID (app reg)</a:t>
            </a:r>
          </a:p>
          <a:p>
            <a:pPr algn="ctr"/>
            <a:r>
              <a:rPr sz="680">
                <a:solidFill>
                  <a:srgbClr val="595959"/>
                </a:solidFill>
                <a:latin typeface="Calibri"/>
              </a:rPr>
              <a:t>VendorPulse-Prod, cert in KV</a:t>
            </a:r>
          </a:p>
        </p:txBody>
      </p:sp>
      <p:cxnSp>
        <p:nvCxnSpPr>
          <p:cNvPr id="53" name="Connector 52"/>
          <p:cNvCxnSpPr/>
          <p:nvPr/>
        </p:nvCxnSpPr>
        <p:spPr>
          <a:xfrm>
            <a:off x="2121408" y="1938528"/>
            <a:ext cx="164592"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73952" y="3163823"/>
            <a:ext cx="320040"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428232" y="2871215"/>
            <a:ext cx="548640" cy="182880"/>
          </a:xfrm>
          <a:prstGeom prst="rect">
            <a:avLst/>
          </a:prstGeom>
          <a:noFill/>
        </p:spPr>
        <p:txBody>
          <a:bodyPr wrap="square">
            <a:spAutoFit/>
          </a:bodyPr>
          <a:lstStyle/>
          <a:p>
            <a:pPr algn="ctr"/>
            <a:r>
              <a:rPr sz="580" b="0" i="0">
                <a:solidFill>
                  <a:srgbClr val="595959"/>
                </a:solidFill>
                <a:latin typeface="Calibri"/>
              </a:rPr>
              <a:t>Private Link</a:t>
            </a:r>
          </a:p>
        </p:txBody>
      </p:sp>
      <p:cxnSp>
        <p:nvCxnSpPr>
          <p:cNvPr id="56" name="Connector 55"/>
          <p:cNvCxnSpPr/>
          <p:nvPr/>
        </p:nvCxnSpPr>
        <p:spPr>
          <a:xfrm>
            <a:off x="9564624" y="2286000"/>
            <a:ext cx="146304"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144000" y="1975104"/>
            <a:ext cx="1463040" cy="182880"/>
          </a:xfrm>
          <a:prstGeom prst="rect">
            <a:avLst/>
          </a:prstGeom>
          <a:noFill/>
        </p:spPr>
        <p:txBody>
          <a:bodyPr wrap="square">
            <a:spAutoFit/>
          </a:bodyPr>
          <a:lstStyle/>
          <a:p>
            <a:pPr algn="ctr"/>
            <a:r>
              <a:rPr sz="600" b="0" i="0">
                <a:solidFill>
                  <a:srgbClr val="595959"/>
                </a:solidFill>
                <a:latin typeface="Calibri"/>
              </a:rPr>
              <a:t>via egress proxy</a:t>
            </a:r>
          </a:p>
        </p:txBody>
      </p:sp>
      <p:sp>
        <p:nvSpPr>
          <p:cNvPr id="58" name="Rectangle 57"/>
          <p:cNvSpPr/>
          <p:nvPr/>
        </p:nvSpPr>
        <p:spPr>
          <a:xfrm>
            <a:off x="320040" y="6400800"/>
            <a:ext cx="11548872" cy="38404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780">
                <a:solidFill>
                  <a:srgbClr val="595959"/>
                </a:solidFill>
                <a:latin typeface="Calibri"/>
              </a:rPr>
              <a:t>Shell user to DNS (vendorpulse.it.shell.com) to Front Door (WAF) to App Service (private) to PostgreSQL via Private Link.   Graph and Foundry via outbound HTTPS (egress proxy).   Managed Identity to Key Vault / DB, app-only certificate to Graph.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