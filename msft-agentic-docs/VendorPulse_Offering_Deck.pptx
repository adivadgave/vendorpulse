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2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1371600" cy="50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4B8A6"/>
                </a:solidFill>
                <a:latin typeface="Segoe UI Semibold"/>
              </a:rPr>
              <a:t>ZENSAR  ·  AI OFFERING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Segoe UI Semibold"/>
              </a:rPr>
              <a:t>VendorPulse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CFDBE8"/>
                </a:solidFill>
                <a:latin typeface="Segoe UI"/>
              </a:rPr>
              <a:t>AI-assisted vendor governance for EGB &amp; QBR cycles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2628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4B740"/>
                </a:solidFill>
                <a:latin typeface="Segoe UI"/>
              </a:rPr>
              <a:t>Deterministic-first.  AI-second.  Human-approved.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FB0C2"/>
                </a:solidFill>
                <a:latin typeface="Segoe UI"/>
              </a:rPr>
              <a:t>Offering collateral  ·  MV BOT (Mobility VMO automation)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B8A6"/>
                </a:solidFill>
                <a:latin typeface="Segoe UI Semibold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Segoe UI Semibold"/>
              </a:rPr>
              <a:t>Business Challenges in Vendor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B7F"/>
                </a:solidFill>
                <a:latin typeface="Segoe UI"/>
              </a:rPr>
              <a:t>Every EGB / QBR cycle repeats the same manual, high-stakes coordination — quarter after quarter.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5440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109728" cy="16916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203704"/>
            <a:ext cx="50292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Segoe UI Semibold"/>
              </a:rPr>
              <a:t>Manual, multi-party scheduling</a:t>
            </a:r>
          </a:p>
          <a:p>
            <a:pPr>
              <a:lnSpc>
                <a:spcPct val="104000"/>
              </a:lnSpc>
            </a:pPr>
            <a:r>
              <a:rPr sz="1200">
                <a:solidFill>
                  <a:srgbClr val="5B6B7F"/>
                </a:solidFill>
                <a:latin typeface="Segoe UI"/>
              </a:rPr>
              <a:t>Coordinating executives, sponsors and vendors across calendars every quarter consumes coordinator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57400"/>
            <a:ext cx="5440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2057400"/>
            <a:ext cx="109728" cy="1691640"/>
          </a:xfrm>
          <a:prstGeom prst="roundRect">
            <a:avLst>
              <a:gd name="adj" fmla="val 50000"/>
            </a:avLst>
          </a:prstGeom>
          <a:solidFill>
            <a:srgbClr val="2B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203704"/>
            <a:ext cx="50292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Segoe UI Semibold"/>
              </a:rPr>
              <a:t>Slow, inconsistent scorecards</a:t>
            </a:r>
          </a:p>
          <a:p>
            <a:pPr>
              <a:lnSpc>
                <a:spcPct val="104000"/>
              </a:lnSpc>
            </a:pPr>
            <a:r>
              <a:rPr sz="1200">
                <a:solidFill>
                  <a:srgbClr val="5B6B7F"/>
                </a:solidFill>
                <a:latin typeface="Segoe UI"/>
              </a:rPr>
              <a:t>Collecting and validating vendor + internal scores is manual, error-prone and often late.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77640"/>
            <a:ext cx="5440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977640"/>
            <a:ext cx="109728" cy="1691640"/>
          </a:xfrm>
          <a:prstGeom prst="roundRect">
            <a:avLst>
              <a:gd name="adj" fmla="val 50000"/>
            </a:avLst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123944"/>
            <a:ext cx="50292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Segoe UI Semibold"/>
              </a:rPr>
              <a:t>Manual prep &amp; lost memory</a:t>
            </a:r>
          </a:p>
          <a:p>
            <a:pPr>
              <a:lnSpc>
                <a:spcPct val="104000"/>
              </a:lnSpc>
            </a:pPr>
            <a:r>
              <a:rPr sz="1200">
                <a:solidFill>
                  <a:srgbClr val="5B6B7F"/>
                </a:solidFill>
                <a:latin typeface="Segoe UI"/>
              </a:rPr>
              <a:t>Briefs, alignment notes and minutes are hand-built; institutional insight is lost between cycles.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77640"/>
            <a:ext cx="5440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3977640"/>
            <a:ext cx="109728" cy="1691640"/>
          </a:xfrm>
          <a:prstGeom prst="roundRect">
            <a:avLst>
              <a:gd name="adj" fmla="val 50000"/>
            </a:avLst>
          </a:prstGeom>
          <a:solidFill>
            <a:srgbClr val="E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4123944"/>
            <a:ext cx="50292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Segoe UI Semibold"/>
              </a:rPr>
              <a:t>Governance &amp; audit pressure</a:t>
            </a:r>
          </a:p>
          <a:p>
            <a:pPr>
              <a:lnSpc>
                <a:spcPct val="104000"/>
              </a:lnSpc>
            </a:pPr>
            <a:r>
              <a:rPr sz="1200">
                <a:solidFill>
                  <a:srgbClr val="5B6B7F"/>
                </a:solidFill>
                <a:latin typeface="Segoe UI"/>
              </a:rPr>
              <a:t>Human oversight, traceability and auditability are now mandatory (Shell IRM 3.492 / EU AI Act).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F"/>
                </a:solidFill>
                <a:latin typeface="Segoe UI"/>
              </a:rPr>
              <a:t>VendorPulse  ·  Zensar Offering Collateral  ·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F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B8A6"/>
                </a:solidFill>
                <a:latin typeface="Segoe UI Semibold"/>
              </a:rPr>
              <a:t>WHY THIS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Segoe UI Semibold"/>
              </a:rPr>
              <a:t>Governance you can automate — without losing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64008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Segoe UI"/>
              </a:rPr>
              <a:t>–  </a:t>
            </a:r>
            <a:r>
              <a:rPr sz="1500">
                <a:solidFill>
                  <a:srgbClr val="1B2A41"/>
                </a:solidFill>
                <a:latin typeface="Segoe UI"/>
              </a:rPr>
              <a:t>Governance is recurring, structured and high-stakes — ideal for automation, but it cannot be left to a black-box AI.</a:t>
            </a:r>
          </a:p>
          <a:p>
            <a:pPr>
              <a:lnSpc>
                <a:spcPct val="104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Segoe UI"/>
              </a:rPr>
              <a:t>–  </a:t>
            </a:r>
            <a:r>
              <a:rPr sz="1500">
                <a:solidFill>
                  <a:srgbClr val="1B2A41"/>
                </a:solidFill>
                <a:latin typeface="Segoe UI"/>
              </a:rPr>
              <a:t>VendorPulse automates the busywork while keeping every decision in deterministic, auditable code.</a:t>
            </a:r>
          </a:p>
          <a:p>
            <a:pPr>
              <a:lnSpc>
                <a:spcPct val="104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Segoe UI"/>
              </a:rPr>
              <a:t>–  </a:t>
            </a:r>
            <a:r>
              <a:rPr sz="1500">
                <a:solidFill>
                  <a:srgbClr val="1B2A41"/>
                </a:solidFill>
                <a:latin typeface="Segoe UI"/>
              </a:rPr>
              <a:t>AI is confined to drafting human-readable text — it never computes scores, decides outcomes, or sends anything.</a:t>
            </a:r>
          </a:p>
          <a:p>
            <a:pPr>
              <a:lnSpc>
                <a:spcPct val="104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Segoe UI"/>
              </a:rPr>
              <a:t>–  </a:t>
            </a:r>
            <a:r>
              <a:rPr sz="1500">
                <a:solidFill>
                  <a:srgbClr val="1B2A41"/>
                </a:solidFill>
                <a:latin typeface="Segoe UI"/>
              </a:rPr>
              <a:t>A human approves every outbound action, and every run is logged — so speed never costs you control.</a:t>
            </a:r>
          </a:p>
          <a:p>
            <a:pPr>
              <a:lnSpc>
                <a:spcPct val="104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Segoe UI"/>
              </a:rPr>
              <a:t>–  </a:t>
            </a:r>
            <a:r>
              <a:rPr sz="1500">
                <a:solidFill>
                  <a:srgbClr val="1B2A41"/>
                </a:solidFill>
                <a:latin typeface="Segoe UI"/>
              </a:rPr>
              <a:t>The result: faster cycles, consistent quality, and an audit trail that satisfies governance and compliance.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828800"/>
            <a:ext cx="4297680" cy="329184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2286000"/>
            <a:ext cx="36576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14B8A6"/>
                </a:solidFill>
                <a:latin typeface="Segoe UI Semibold"/>
              </a:rPr>
              <a:t>THE ONE-LINE PITCH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“The governance copilot where the AI never decides and never sends —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a human approves every action, and every step is auditable.”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F"/>
                </a:solidFill>
                <a:latin typeface="Segoe UI"/>
              </a:rPr>
              <a:t>VendorPulse  ·  Zensar Offering Collateral  ·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F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B8A6"/>
                </a:solidFill>
                <a:latin typeface="Segoe UI Semibold"/>
              </a:rPr>
              <a:t>WHAT IT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Segoe UI Semibold"/>
              </a:rPr>
              <a:t>A deterministic-first vendor-governance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642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450" b="1">
                <a:solidFill>
                  <a:srgbClr val="14B8A6"/>
                </a:solidFill>
                <a:latin typeface="Segoe UI"/>
              </a:rPr>
              <a:t>–  </a:t>
            </a:r>
            <a:r>
              <a:rPr sz="1450">
                <a:solidFill>
                  <a:srgbClr val="1B2A41"/>
                </a:solidFill>
                <a:latin typeface="Segoe UI"/>
              </a:rPr>
              <a:t>An end-to-end platform that orchestrates the full EGB / QBR cycle — from attendee refresh to archived minutes.</a:t>
            </a:r>
          </a:p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450" b="1">
                <a:solidFill>
                  <a:srgbClr val="14B8A6"/>
                </a:solidFill>
                <a:latin typeface="Segoe UI"/>
              </a:rPr>
              <a:t>–  </a:t>
            </a:r>
            <a:r>
              <a:rPr sz="1450">
                <a:solidFill>
                  <a:srgbClr val="1B2A41"/>
                </a:solidFill>
                <a:latin typeface="Segoe UI"/>
              </a:rPr>
              <a:t>A forward-only 12-state workflow engine spanning 6 functional modules (A–F), enforced in code.</a:t>
            </a:r>
          </a:p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450" b="1">
                <a:solidFill>
                  <a:srgbClr val="14B8A6"/>
                </a:solidFill>
                <a:latin typeface="Segoe UI"/>
              </a:rPr>
              <a:t>–  </a:t>
            </a:r>
            <a:r>
              <a:rPr sz="1450">
                <a:solidFill>
                  <a:srgbClr val="1B2A41"/>
                </a:solidFill>
                <a:latin typeface="Segoe UI"/>
              </a:rPr>
              <a:t>6 specialized agents that draft text; all scoring, ranking and transitions are deterministic logic.</a:t>
            </a:r>
          </a:p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450" b="1">
                <a:solidFill>
                  <a:srgbClr val="14B8A6"/>
                </a:solidFill>
                <a:latin typeface="Segoe UI"/>
              </a:rPr>
              <a:t>–  </a:t>
            </a:r>
            <a:r>
              <a:rPr sz="1450">
                <a:solidFill>
                  <a:srgbClr val="1B2A41"/>
                </a:solidFill>
                <a:latin typeface="Segoe UI"/>
              </a:rPr>
              <a:t>A human-approval gate on every outbound action — invites, briefs and minutes only send after sign-off.</a:t>
            </a:r>
          </a:p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450" b="1">
                <a:solidFill>
                  <a:srgbClr val="14B8A6"/>
                </a:solidFill>
                <a:latin typeface="Segoe UI"/>
              </a:rPr>
              <a:t>–  </a:t>
            </a:r>
            <a:r>
              <a:rPr sz="1450">
                <a:solidFill>
                  <a:srgbClr val="1B2A41"/>
                </a:solidFill>
                <a:latin typeface="Segoe UI"/>
              </a:rPr>
              <a:t>Runs with or without the LLM (a config toggle) — the deterministic core always 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143" y="4846320"/>
            <a:ext cx="2121408" cy="11430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143" y="5010912"/>
            <a:ext cx="21214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B8A6"/>
                </a:solidFill>
                <a:latin typeface="Segoe UI Semibold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143" y="5596128"/>
            <a:ext cx="2121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CFDBE8"/>
                </a:solidFill>
                <a:latin typeface="Segoe UI"/>
              </a:rPr>
              <a:t>workflow states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9143" y="4846320"/>
            <a:ext cx="2121408" cy="11430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9143" y="5010912"/>
            <a:ext cx="21214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B8A6"/>
                </a:solidFill>
                <a:latin typeface="Segoe UI Semibold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9143" y="5596128"/>
            <a:ext cx="2121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CFDBE8"/>
                </a:solidFill>
                <a:latin typeface="Segoe UI"/>
              </a:rPr>
              <a:t>modules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35143" y="4846320"/>
            <a:ext cx="2121408" cy="11430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35143" y="5010912"/>
            <a:ext cx="21214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B8A6"/>
                </a:solidFill>
                <a:latin typeface="Segoe UI Semibold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5143" y="5596128"/>
            <a:ext cx="2121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CFDBE8"/>
                </a:solidFill>
                <a:latin typeface="Segoe UI"/>
              </a:rPr>
              <a:t>agents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21143" y="4846320"/>
            <a:ext cx="2121408" cy="11430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1143" y="5010912"/>
            <a:ext cx="21214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B8A6"/>
                </a:solidFill>
                <a:latin typeface="Segoe UI Semibold"/>
              </a:rP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1143" y="5596128"/>
            <a:ext cx="2121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CFDBE8"/>
                </a:solidFill>
                <a:latin typeface="Segoe UI"/>
              </a:rPr>
              <a:t>scorecard KPIs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7143" y="4846320"/>
            <a:ext cx="2121408" cy="11430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7143" y="5010912"/>
            <a:ext cx="21214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B8A6"/>
                </a:solidFill>
                <a:latin typeface="Segoe UI Semi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7143" y="5596128"/>
            <a:ext cx="2121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CFDBE8"/>
                </a:solidFill>
                <a:latin typeface="Segoe UI"/>
              </a:rPr>
              <a:t>KPI categories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F"/>
                </a:solidFill>
                <a:latin typeface="Segoe UI"/>
              </a:rPr>
              <a:t>VendorPulse  ·  Zensar Offering Collateral  ·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F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B8A6"/>
                </a:solidFill>
                <a:latin typeface="Segoe UI Semibold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Segoe UI Semibold"/>
              </a:rPr>
              <a:t>Solution Overview — six modules, one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09728" cy="178308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837944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Segoe UI Semibold"/>
              </a:rPr>
              <a:t>A · Scheduling</a:t>
            </a:r>
          </a:p>
          <a:p>
            <a:pPr>
              <a:lnSpc>
                <a:spcPct val="104000"/>
              </a:lnSpc>
            </a:pPr>
            <a:r>
              <a:rPr sz="1100">
                <a:solidFill>
                  <a:srgbClr val="5B6B7F"/>
                </a:solidFill>
                <a:latin typeface="Segoe UI"/>
              </a:rPr>
              <a:t>Attendee refresh, availability, deterministic slot ranking, invite + Teams meeting on approval.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9164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5112" y="1691640"/>
            <a:ext cx="109728" cy="1783080"/>
          </a:xfrm>
          <a:prstGeom prst="roundRect">
            <a:avLst>
              <a:gd name="adj" fmla="val 50000"/>
            </a:avLst>
          </a:prstGeom>
          <a:solidFill>
            <a:srgbClr val="2B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1837944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Segoe UI Semibold"/>
              </a:rPr>
              <a:t>B · Scorecard</a:t>
            </a:r>
          </a:p>
          <a:p>
            <a:pPr>
              <a:lnSpc>
                <a:spcPct val="104000"/>
              </a:lnSpc>
            </a:pPr>
            <a:r>
              <a:rPr sz="1100">
                <a:solidFill>
                  <a:srgbClr val="5B6B7F"/>
                </a:solidFill>
                <a:latin typeface="Segoe UI"/>
              </a:rPr>
              <a:t>Form collection, deterministic validation (1–5), outlier detection (z-score 1.5 SD), compile.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4" y="169164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01584" y="1691640"/>
            <a:ext cx="109728" cy="178308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1837944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Segoe UI Semibold"/>
              </a:rPr>
              <a:t>C · Alignment</a:t>
            </a:r>
          </a:p>
          <a:p>
            <a:pPr>
              <a:lnSpc>
                <a:spcPct val="104000"/>
              </a:lnSpc>
            </a:pPr>
            <a:r>
              <a:rPr sz="1100">
                <a:solidFill>
                  <a:srgbClr val="5B6B7F"/>
                </a:solidFill>
                <a:latin typeface="Segoe UI"/>
              </a:rPr>
              <a:t>Score-diff &amp; internal-vs-vendor spread detection, “what changed” summary, action extraction.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5760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657600"/>
            <a:ext cx="109728" cy="1783080"/>
          </a:xfrm>
          <a:prstGeom prst="roundRect">
            <a:avLst>
              <a:gd name="adj" fmla="val 50000"/>
            </a:avLst>
          </a:prstGeom>
          <a:solidFill>
            <a:srgbClr val="2B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803904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Segoe UI Semibold"/>
              </a:rPr>
              <a:t>D · Vendor Prep</a:t>
            </a:r>
          </a:p>
          <a:p>
            <a:pPr>
              <a:lnSpc>
                <a:spcPct val="104000"/>
              </a:lnSpc>
            </a:pPr>
            <a:r>
              <a:rPr sz="1100">
                <a:solidFill>
                  <a:srgbClr val="5B6B7F"/>
                </a:solidFill>
                <a:latin typeface="Segoe UI"/>
              </a:rPr>
              <a:t>Grounded vendor brief + 3 pushback response options — every draft human-approved.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5112" y="365760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25112" y="3657600"/>
            <a:ext cx="109728" cy="178308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3803904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Segoe UI Semibold"/>
              </a:rPr>
              <a:t>E · Meeting</a:t>
            </a:r>
          </a:p>
          <a:p>
            <a:pPr>
              <a:lnSpc>
                <a:spcPct val="104000"/>
              </a:lnSpc>
            </a:pPr>
            <a:r>
              <a:rPr sz="1100">
                <a:solidFill>
                  <a:srgbClr val="5B6B7F"/>
                </a:solidFill>
                <a:latin typeface="Segoe UI"/>
              </a:rPr>
              <a:t>Transcript parsed into 5 note types, minutes generation, action register.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4" y="365760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01584" y="3657600"/>
            <a:ext cx="109728" cy="1783080"/>
          </a:xfrm>
          <a:prstGeom prst="roundRect">
            <a:avLst>
              <a:gd name="adj" fmla="val 50000"/>
            </a:avLst>
          </a:prstGeom>
          <a:solidFill>
            <a:srgbClr val="2B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57616" y="3803904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Segoe UI Semibold"/>
              </a:rPr>
              <a:t>F · Analytics</a:t>
            </a:r>
          </a:p>
          <a:p>
            <a:pPr>
              <a:lnSpc>
                <a:spcPct val="104000"/>
              </a:lnSpc>
            </a:pPr>
            <a:r>
              <a:rPr sz="1100">
                <a:solidFill>
                  <a:srgbClr val="5B6B7F"/>
                </a:solidFill>
                <a:latin typeface="Segoe UI"/>
              </a:rPr>
              <a:t>Cross-cycle trends, recurring-issue detection, leadership brief card.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1F3A"/>
                </a:solidFill>
                <a:latin typeface="Segoe UI"/>
              </a:rPr>
              <a:t>Deterministic logic in every module — the AI only drafts the words; the numbers and decisions are code.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F"/>
                </a:solidFill>
                <a:latin typeface="Segoe UI"/>
              </a:rPr>
              <a:t>VendorPulse  ·  Zensar Offering Collateral  ·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F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B8A6"/>
                </a:solidFill>
                <a:latin typeface="Segoe UI Semibold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Segoe UI Semibold"/>
              </a:rPr>
              <a:t>Reference Architecture — single-tenant on Azure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2212848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2212848" cy="457200"/>
          </a:xfrm>
          <a:prstGeom prst="roundRect">
            <a:avLst>
              <a:gd name="adj" fmla="val 6000"/>
            </a:avLst>
          </a:prstGeom>
          <a:solidFill>
            <a:srgbClr val="2B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5623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1 ·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386584"/>
            <a:ext cx="19202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50" b="1">
                <a:solidFill>
                  <a:srgbClr val="2BA8E0"/>
                </a:solidFill>
                <a:latin typeface="Segoe UI"/>
              </a:rPr>
              <a:t>•  </a:t>
            </a:r>
            <a:r>
              <a:rPr sz="1050">
                <a:solidFill>
                  <a:srgbClr val="1B2A41"/>
                </a:solidFill>
                <a:latin typeface="Segoe UI"/>
              </a:rPr>
              <a:t>Browser (Edge/any)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50" b="1">
                <a:solidFill>
                  <a:srgbClr val="2BA8E0"/>
                </a:solidFill>
                <a:latin typeface="Segoe UI"/>
              </a:rPr>
              <a:t>•  </a:t>
            </a:r>
            <a:r>
              <a:rPr sz="1050">
                <a:solidFill>
                  <a:srgbClr val="1B2A41"/>
                </a:solidFill>
                <a:latin typeface="Segoe UI"/>
              </a:rPr>
              <a:t>Entra SSO login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50" b="1">
                <a:solidFill>
                  <a:srgbClr val="2BA8E0"/>
                </a:solidFill>
                <a:latin typeface="Segoe UI"/>
              </a:rPr>
              <a:t>•  </a:t>
            </a:r>
            <a:r>
              <a:rPr sz="1050">
                <a:solidFill>
                  <a:srgbClr val="1B2A41"/>
                </a:solidFill>
                <a:latin typeface="Segoe UI"/>
              </a:rPr>
              <a:t>Coordinator · Sponsor · Viewer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324612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B6B7F"/>
                </a:solidFill>
                <a:latin typeface="Segoe UI Semibold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9776" y="1783080"/>
            <a:ext cx="2212848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79776" y="1783080"/>
            <a:ext cx="2212848" cy="45720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9776" y="185623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2 ·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386584"/>
            <a:ext cx="19202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50" b="1">
                <a:solidFill>
                  <a:srgbClr val="14B8A6"/>
                </a:solidFill>
                <a:latin typeface="Segoe UI"/>
              </a:rPr>
              <a:t>•  </a:t>
            </a:r>
            <a:r>
              <a:rPr sz="1050">
                <a:solidFill>
                  <a:srgbClr val="1B2A41"/>
                </a:solidFill>
                <a:latin typeface="Segoe UI"/>
              </a:rPr>
              <a:t>App Gateway + WAF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50" b="1">
                <a:solidFill>
                  <a:srgbClr val="14B8A6"/>
                </a:solidFill>
                <a:latin typeface="Segoe UI"/>
              </a:rPr>
              <a:t>•  </a:t>
            </a:r>
            <a:r>
              <a:rPr sz="1050">
                <a:solidFill>
                  <a:srgbClr val="1B2A41"/>
                </a:solidFill>
                <a:latin typeface="Segoe UI"/>
              </a:rPr>
              <a:t>TLS · OWASP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50" b="1">
                <a:solidFill>
                  <a:srgbClr val="14B8A6"/>
                </a:solidFill>
                <a:latin typeface="Segoe UI"/>
              </a:rPr>
              <a:t>•  </a:t>
            </a:r>
            <a:r>
              <a:rPr sz="1050">
                <a:solidFill>
                  <a:srgbClr val="1B2A41"/>
                </a:solidFill>
                <a:latin typeface="Segoe UI"/>
              </a:rPr>
              <a:t>Origin-lock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4336" y="324612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B6B7F"/>
                </a:solidFill>
                <a:latin typeface="Segoe UI Semibold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6632" y="1783080"/>
            <a:ext cx="2212848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56632" y="1783080"/>
            <a:ext cx="2212848" cy="4572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56632" y="185623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3 · 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2386584"/>
            <a:ext cx="19202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50" b="1">
                <a:solidFill>
                  <a:srgbClr val="0B1F3A"/>
                </a:solidFill>
                <a:latin typeface="Segoe UI"/>
              </a:rPr>
              <a:t>•  </a:t>
            </a:r>
            <a:r>
              <a:rPr sz="1050">
                <a:solidFill>
                  <a:srgbClr val="1B2A41"/>
                </a:solidFill>
                <a:latin typeface="Segoe UI"/>
              </a:rPr>
              <a:t>FastAPI + React 19 SPA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50" b="1">
                <a:solidFill>
                  <a:srgbClr val="0B1F3A"/>
                </a:solidFill>
                <a:latin typeface="Segoe UI"/>
              </a:rPr>
              <a:t>•  </a:t>
            </a:r>
            <a:r>
              <a:rPr sz="1050">
                <a:solidFill>
                  <a:srgbClr val="1B2A41"/>
                </a:solidFill>
                <a:latin typeface="Segoe UI"/>
              </a:rPr>
              <a:t>Entra OIDC + RBAC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50" b="1">
                <a:solidFill>
                  <a:srgbClr val="0B1F3A"/>
                </a:solidFill>
                <a:latin typeface="Segoe UI"/>
              </a:rPr>
              <a:t>•  </a:t>
            </a:r>
            <a:r>
              <a:rPr sz="1050">
                <a:solidFill>
                  <a:srgbClr val="1B2A41"/>
                </a:solidFill>
                <a:latin typeface="Segoe UI"/>
              </a:rPr>
              <a:t>12-state WorkflowEngine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50" b="1">
                <a:solidFill>
                  <a:srgbClr val="0B1F3A"/>
                </a:solidFill>
                <a:latin typeface="Segoe UI"/>
              </a:rPr>
              <a:t>•  </a:t>
            </a:r>
            <a:r>
              <a:rPr sz="1050">
                <a:solidFill>
                  <a:srgbClr val="1B2A41"/>
                </a:solidFill>
                <a:latin typeface="Segoe UI"/>
              </a:rPr>
              <a:t>Approval Gate (HITL)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50" b="1">
                <a:solidFill>
                  <a:srgbClr val="0B1F3A"/>
                </a:solidFill>
                <a:latin typeface="Segoe UI"/>
              </a:rPr>
              <a:t>•  </a:t>
            </a:r>
            <a:r>
              <a:rPr sz="1050">
                <a:solidFill>
                  <a:srgbClr val="1B2A41"/>
                </a:solidFill>
                <a:latin typeface="Segoe UI"/>
              </a:rPr>
              <a:t>6 agents +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192" y="324612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B6B7F"/>
                </a:solidFill>
                <a:latin typeface="Segoe UI Semibold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33488" y="1783080"/>
            <a:ext cx="2212848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33488" y="1783080"/>
            <a:ext cx="2212848" cy="45720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33488" y="185623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4 · DATA &amp;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2386584"/>
            <a:ext cx="19202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50" b="1">
                <a:solidFill>
                  <a:srgbClr val="14B8A6"/>
                </a:solidFill>
                <a:latin typeface="Segoe UI"/>
              </a:rPr>
              <a:t>•  </a:t>
            </a:r>
            <a:r>
              <a:rPr sz="1050">
                <a:solidFill>
                  <a:srgbClr val="1B2A41"/>
                </a:solidFill>
                <a:latin typeface="Segoe UI"/>
              </a:rPr>
              <a:t>PostgreSQL · Key Vault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50" b="1">
                <a:solidFill>
                  <a:srgbClr val="14B8A6"/>
                </a:solidFill>
                <a:latin typeface="Segoe UI"/>
              </a:rPr>
              <a:t>•  </a:t>
            </a:r>
            <a:r>
              <a:rPr sz="1050">
                <a:solidFill>
                  <a:srgbClr val="1B2A41"/>
                </a:solidFill>
                <a:latin typeface="Segoe UI"/>
              </a:rPr>
              <a:t>Blob · App Insights (OTel)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50" b="1">
                <a:solidFill>
                  <a:srgbClr val="14B8A6"/>
                </a:solidFill>
                <a:latin typeface="Segoe UI"/>
              </a:rPr>
              <a:t>•  </a:t>
            </a:r>
            <a:r>
              <a:rPr sz="1050">
                <a:solidFill>
                  <a:srgbClr val="1B2A41"/>
                </a:solidFill>
                <a:latin typeface="Segoe UI"/>
              </a:rPr>
              <a:t>Azure AI Foundry GPT-4o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50" b="1">
                <a:solidFill>
                  <a:srgbClr val="14B8A6"/>
                </a:solidFill>
                <a:latin typeface="Segoe UI"/>
              </a:rPr>
              <a:t>•  </a:t>
            </a:r>
            <a:r>
              <a:rPr sz="1050">
                <a:solidFill>
                  <a:srgbClr val="1B2A41"/>
                </a:solidFill>
                <a:latin typeface="Segoe UI"/>
              </a:rPr>
              <a:t>(in Shell tenant)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324612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B6B7F"/>
                </a:solidFill>
                <a:latin typeface="Segoe UI Semibold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10344" y="1783080"/>
            <a:ext cx="2212848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10344" y="1783080"/>
            <a:ext cx="2212848" cy="457200"/>
          </a:xfrm>
          <a:prstGeom prst="roundRect">
            <a:avLst>
              <a:gd name="adj" fmla="val 6000"/>
            </a:avLst>
          </a:prstGeom>
          <a:solidFill>
            <a:srgbClr val="2B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10344" y="185623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5 · EXTERNAL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74936" y="2386584"/>
            <a:ext cx="19202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50" b="1">
                <a:solidFill>
                  <a:srgbClr val="2BA8E0"/>
                </a:solidFill>
                <a:latin typeface="Segoe UI"/>
              </a:rPr>
              <a:t>•  </a:t>
            </a:r>
            <a:r>
              <a:rPr sz="1050">
                <a:solidFill>
                  <a:srgbClr val="1B2A41"/>
                </a:solidFill>
                <a:latin typeface="Segoe UI"/>
              </a:rPr>
              <a:t>via egress proxy: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50" b="1">
                <a:solidFill>
                  <a:srgbClr val="2BA8E0"/>
                </a:solidFill>
                <a:latin typeface="Segoe UI"/>
              </a:rPr>
              <a:t>•  </a:t>
            </a:r>
            <a:r>
              <a:rPr sz="1050">
                <a:solidFill>
                  <a:srgbClr val="1B2A41"/>
                </a:solidFill>
                <a:latin typeface="Segoe UI"/>
              </a:rPr>
              <a:t>Microsoft Graph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50" b="1">
                <a:solidFill>
                  <a:srgbClr val="2BA8E0"/>
                </a:solidFill>
                <a:latin typeface="Segoe UI"/>
              </a:rPr>
              <a:t>•  </a:t>
            </a:r>
            <a:r>
              <a:rPr sz="1050">
                <a:solidFill>
                  <a:srgbClr val="1B2A41"/>
                </a:solidFill>
                <a:latin typeface="Segoe UI"/>
              </a:rPr>
              <a:t>(mail · calendar · Teams)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50" b="1">
                <a:solidFill>
                  <a:srgbClr val="2BA8E0"/>
                </a:solidFill>
                <a:latin typeface="Segoe UI"/>
              </a:rPr>
              <a:t>•  </a:t>
            </a:r>
            <a:r>
              <a:rPr sz="1050">
                <a:solidFill>
                  <a:srgbClr val="1B2A41"/>
                </a:solidFill>
                <a:latin typeface="Segoe UI"/>
              </a:rPr>
              <a:t>Entra ID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440680"/>
            <a:ext cx="11201400" cy="640080"/>
          </a:xfrm>
          <a:prstGeom prst="roundRect">
            <a:avLst>
              <a:gd name="adj" fmla="val 30000"/>
            </a:avLst>
          </a:prstGeom>
          <a:solidFill>
            <a:srgbClr val="E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541264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1F3A"/>
                </a:solidFill>
                <a:latin typeface="Segoe UI"/>
              </a:rPr>
              <a:t>AI runs in-tenant; all internal traffic stays private; the only thing leaving the network is Microsoft 365 — through one controlled, logged egress.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F"/>
                </a:solidFill>
                <a:latin typeface="Segoe UI"/>
              </a:rPr>
              <a:t>VendorPulse  ·  Zensar Offering Collateral  ·  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F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B8A6"/>
                </a:solidFill>
                <a:latin typeface="Segoe UI Semibold"/>
              </a:rPr>
              <a:t>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Segoe UI Semibold"/>
              </a:rPr>
              <a:t>Business KPIs &amp; Outcome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61188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4B8A6"/>
                </a:solidFill>
                <a:latin typeface="Segoe UI Semibold"/>
              </a:rPr>
              <a:t>~50%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7F"/>
                </a:solidFill>
                <a:latin typeface="Segoe UI"/>
              </a:rPr>
              <a:t>less coordinator effort per cycle (scheduling, scorecards, minutes automated)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737360"/>
            <a:ext cx="361188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938528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BA8E0"/>
                </a:solidFill>
                <a:latin typeface="Segoe UI Semibold"/>
              </a:rPr>
              <a:t>Weeks →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60604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7F"/>
                </a:solidFill>
                <a:latin typeface="Segoe UI"/>
              </a:rPr>
              <a:t>for scheduling and scorecard compilation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4" y="1737360"/>
            <a:ext cx="361188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4" y="1938528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4B8A6"/>
                </a:solidFill>
                <a:latin typeface="Segoe UI Semibold"/>
              </a:rPr>
              <a:t>16 KPIs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4" y="260604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7F"/>
                </a:solidFill>
                <a:latin typeface="Segoe UI"/>
              </a:rPr>
              <a:t>validated deterministically every cycle, across 4 categories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11880"/>
            <a:ext cx="361188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13048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4B740"/>
                </a:solidFill>
                <a:latin typeface="Segoe UI Semibold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8056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7F"/>
                </a:solidFill>
                <a:latin typeface="Segoe UI"/>
              </a:rPr>
              <a:t>of AI outputs human-approved and logged — full audit coverage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5112" y="3611880"/>
            <a:ext cx="361188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3813048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BA8E0"/>
                </a:solidFill>
                <a:latin typeface="Segoe UI Semibold"/>
              </a:rPr>
              <a:t>1.5 SD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448056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7F"/>
                </a:solidFill>
                <a:latin typeface="Segoe UI"/>
              </a:rPr>
              <a:t>automatic outlier detection on every scorecard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4" y="3611880"/>
            <a:ext cx="361188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4" y="3813048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4B8A6"/>
                </a:solidFill>
                <a:latin typeface="Segoe UI Semibold"/>
              </a:rPr>
              <a:t>Cross-cycle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448056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7F"/>
                </a:solidFill>
                <a:latin typeface="Segoe UI"/>
              </a:rPr>
              <a:t>recurring-issue detection and carry-forward 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5B6B7F"/>
                </a:solidFill>
                <a:latin typeface="Segoe UI"/>
              </a:rPr>
              <a:t>Figures are target / illustrative for an internal governance workload; confirmed against pilot usage.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F"/>
                </a:solidFill>
                <a:latin typeface="Segoe UI"/>
              </a:rPr>
              <a:t>VendorPulse  ·  Zensar Offering Collateral  ·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F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B8A6"/>
                </a:solidFill>
                <a:latin typeface="Segoe UI Semibold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Segoe UI Semibold"/>
              </a:rPr>
              <a:t>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09728" cy="178308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837944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Segoe UI Semibold"/>
              </a:rPr>
              <a:t>Speed</a:t>
            </a:r>
          </a:p>
          <a:p>
            <a:pPr>
              <a:lnSpc>
                <a:spcPct val="104000"/>
              </a:lnSpc>
            </a:pPr>
            <a:r>
              <a:rPr sz="1100">
                <a:solidFill>
                  <a:srgbClr val="5B6B7F"/>
                </a:solidFill>
                <a:latin typeface="Segoe UI"/>
              </a:rPr>
              <a:t>Automates the chase — scheduling, reminders, compilation and minutes — freeing coordinators for judgement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9164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5112" y="1691640"/>
            <a:ext cx="109728" cy="1783080"/>
          </a:xfrm>
          <a:prstGeom prst="roundRect">
            <a:avLst>
              <a:gd name="adj" fmla="val 50000"/>
            </a:avLst>
          </a:prstGeom>
          <a:solidFill>
            <a:srgbClr val="2B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1837944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Segoe UI Semibold"/>
              </a:rPr>
              <a:t>Consistency &amp; quality</a:t>
            </a:r>
          </a:p>
          <a:p>
            <a:pPr>
              <a:lnSpc>
                <a:spcPct val="104000"/>
              </a:lnSpc>
            </a:pPr>
            <a:r>
              <a:rPr sz="1100">
                <a:solidFill>
                  <a:srgbClr val="5B6B7F"/>
                </a:solidFill>
                <a:latin typeface="Segoe UI"/>
              </a:rPr>
              <a:t>Deterministic validation and grounded AI drafts (no invented numbers) make every cycle uniform and reliable.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4" y="169164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01584" y="1691640"/>
            <a:ext cx="109728" cy="1783080"/>
          </a:xfrm>
          <a:prstGeom prst="roundRect">
            <a:avLst>
              <a:gd name="adj" fmla="val 50000"/>
            </a:avLst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1837944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Segoe UI Semibold"/>
              </a:rPr>
              <a:t>Trust &amp; compliance</a:t>
            </a:r>
          </a:p>
          <a:p>
            <a:pPr>
              <a:lnSpc>
                <a:spcPct val="104000"/>
              </a:lnSpc>
            </a:pPr>
            <a:r>
              <a:rPr sz="1100">
                <a:solidFill>
                  <a:srgbClr val="5B6B7F"/>
                </a:solidFill>
                <a:latin typeface="Segoe UI"/>
              </a:rPr>
              <a:t>Human-approval gate, full audit trail and in-tenant AI map directly to IRM 3.492 and the EU AI Act.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5760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657600"/>
            <a:ext cx="109728" cy="178308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803904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Segoe UI Semibold"/>
              </a:rPr>
              <a:t>Continuity</a:t>
            </a:r>
          </a:p>
          <a:p>
            <a:pPr>
              <a:lnSpc>
                <a:spcPct val="104000"/>
              </a:lnSpc>
            </a:pPr>
            <a:r>
              <a:rPr sz="1100">
                <a:solidFill>
                  <a:srgbClr val="5B6B7F"/>
                </a:solidFill>
                <a:latin typeface="Segoe UI"/>
              </a:rPr>
              <a:t>Cross-cycle memory surfaces trends, recurring issues and carry-forward actions — each cycle builds on the last.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5112" y="365760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25112" y="3657600"/>
            <a:ext cx="109728" cy="1783080"/>
          </a:xfrm>
          <a:prstGeom prst="roundRect">
            <a:avLst>
              <a:gd name="adj" fmla="val 50000"/>
            </a:avLst>
          </a:prstGeom>
          <a:solidFill>
            <a:srgbClr val="2B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3803904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Segoe UI Semibold"/>
              </a:rPr>
              <a:t>Low risk</a:t>
            </a:r>
          </a:p>
          <a:p>
            <a:pPr>
              <a:lnSpc>
                <a:spcPct val="104000"/>
              </a:lnSpc>
            </a:pPr>
            <a:r>
              <a:rPr sz="1100">
                <a:solidFill>
                  <a:srgbClr val="5B6B7F"/>
                </a:solidFill>
                <a:latin typeface="Segoe UI"/>
              </a:rPr>
              <a:t>Runs with the AI switched off; the deterministic core always works — no black-box dependency.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4" y="365760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01584" y="3657600"/>
            <a:ext cx="109728" cy="1783080"/>
          </a:xfrm>
          <a:prstGeom prst="roundRect">
            <a:avLst>
              <a:gd name="adj" fmla="val 50000"/>
            </a:avLst>
          </a:prstGeom>
          <a:solidFill>
            <a:srgbClr val="E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57616" y="3803904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Segoe UI Semibold"/>
              </a:rPr>
              <a:t>Microsoft-native</a:t>
            </a:r>
          </a:p>
          <a:p>
            <a:pPr>
              <a:lnSpc>
                <a:spcPct val="104000"/>
              </a:lnSpc>
            </a:pPr>
            <a:r>
              <a:rPr sz="1100">
                <a:solidFill>
                  <a:srgbClr val="5B6B7F"/>
                </a:solidFill>
                <a:latin typeface="Segoe UI"/>
              </a:rPr>
              <a:t>Built on Entra, Graph, Foundry and Azure — nothing novel leaves the enterprise boundary.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F"/>
                </a:solidFill>
                <a:latin typeface="Segoe UI"/>
              </a:rPr>
              <a:t>VendorPulse  ·  Zensar Offering Collateral  ·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F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B8A6"/>
                </a:solidFill>
                <a:latin typeface="Segoe UI Semibold"/>
              </a:rPr>
              <a:t>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Segoe UI Semibold"/>
              </a:rPr>
              <a:t>Success Stories — working MVP &amp; pilot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11064240" cy="502920"/>
          </a:xfrm>
          <a:prstGeom prst="roundRect">
            <a:avLst>
              <a:gd name="adj" fmla="val 40000"/>
            </a:avLst>
          </a:prstGeom>
          <a:solidFill>
            <a:srgbClr val="E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91056"/>
            <a:ext cx="10607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1F3A"/>
                </a:solidFill>
                <a:latin typeface="Segoe UI"/>
              </a:rPr>
              <a:t>Illustrative scenarios from the working full-stack MVP (3 vendors, multiple seeded cycles). Client references to be added.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361188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240280"/>
            <a:ext cx="3611880" cy="10972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56032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1F3A"/>
                </a:solidFill>
                <a:latin typeface="Segoe UI Semibold"/>
              </a:rPr>
              <a:t>Scheduling, automated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01752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4B8A6"/>
                </a:solidFill>
                <a:latin typeface="Segoe UI"/>
              </a:rPr>
              <a:t>Meridian IT (Managed Services)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520440"/>
            <a:ext cx="3108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7F"/>
                </a:solidFill>
                <a:latin typeface="Segoe UI"/>
              </a:rPr>
              <a:t>Attendees refreshed, availability polled and slots deterministically ranked; Teams meeting created on approval — coordinator effort cut sharply.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240280"/>
            <a:ext cx="361188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25112" y="2240280"/>
            <a:ext cx="3611880" cy="109728"/>
          </a:xfrm>
          <a:prstGeom prst="roundRect">
            <a:avLst>
              <a:gd name="adj" fmla="val 50000"/>
            </a:avLst>
          </a:prstGeom>
          <a:solidFill>
            <a:srgbClr val="2B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56032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1F3A"/>
                </a:solidFill>
                <a:latin typeface="Segoe UI Semibold"/>
              </a:rPr>
              <a:t>Scorecards on 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301752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BA8E0"/>
                </a:solidFill>
                <a:latin typeface="Segoe UI"/>
              </a:rPr>
              <a:t>Novatech (IT Infrastructure)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3520440"/>
            <a:ext cx="3108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7F"/>
                </a:solidFill>
                <a:latin typeface="Segoe UI"/>
              </a:rPr>
              <a:t>Scorecard dispatched to stakeholders, validated deterministically and compiled — no manual chasing or spreadsheet errors.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2240280"/>
            <a:ext cx="361188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01584" y="2240280"/>
            <a:ext cx="3611880" cy="109728"/>
          </a:xfrm>
          <a:prstGeom prst="roundRect">
            <a:avLst>
              <a:gd name="adj" fmla="val 50000"/>
            </a:avLst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7616" y="256032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1F3A"/>
                </a:solidFill>
                <a:latin typeface="Segoe UI Semibold"/>
              </a:rPr>
              <a:t>Full cycle, audited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301752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4B740"/>
                </a:solidFill>
                <a:latin typeface="Segoe UI"/>
              </a:rPr>
              <a:t>Archived QBR cycle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3520440"/>
            <a:ext cx="3108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7F"/>
                </a:solidFill>
                <a:latin typeface="Segoe UI"/>
              </a:rPr>
              <a:t>End-to-end run through all 12 states with minutes and an immutable agent-run audit trail — every AI draft human-approved.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F"/>
                </a:solidFill>
                <a:latin typeface="Segoe UI"/>
              </a:rPr>
              <a:t>VendorPulse  ·  Zensar Offering Collateral  ·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F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B8A6"/>
                </a:solidFill>
                <a:latin typeface="Segoe UI Semibold"/>
              </a:rPr>
              <a:t>THE PARTNER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Segoe UI Semibold"/>
              </a:rPr>
              <a:t>Why Zensar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09728" cy="178308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837944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0B1F3A"/>
                </a:solidFill>
                <a:latin typeface="Segoe UI Semibold"/>
              </a:rPr>
              <a:t>AI-first, governance-led</a:t>
            </a:r>
          </a:p>
          <a:p>
            <a:pPr>
              <a:lnSpc>
                <a:spcPct val="104000"/>
              </a:lnSpc>
            </a:pPr>
            <a:r>
              <a:rPr sz="1100">
                <a:solidFill>
                  <a:srgbClr val="5B6B7F"/>
                </a:solidFill>
                <a:latin typeface="Segoe UI"/>
              </a:rPr>
              <a:t>We build AI for regulated enterprises — human-in-the-loop and auditability by design, not bolted 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9164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5112" y="1691640"/>
            <a:ext cx="109728" cy="1783080"/>
          </a:xfrm>
          <a:prstGeom prst="roundRect">
            <a:avLst>
              <a:gd name="adj" fmla="val 50000"/>
            </a:avLst>
          </a:prstGeom>
          <a:solidFill>
            <a:srgbClr val="2B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1837944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0B1F3A"/>
                </a:solidFill>
                <a:latin typeface="Segoe UI Semibold"/>
              </a:rPr>
              <a:t>Microsoft Azure &amp; Foundry depth</a:t>
            </a:r>
          </a:p>
          <a:p>
            <a:pPr>
              <a:lnSpc>
                <a:spcPct val="104000"/>
              </a:lnSpc>
            </a:pPr>
            <a:r>
              <a:rPr sz="1100">
                <a:solidFill>
                  <a:srgbClr val="5B6B7F"/>
                </a:solidFill>
                <a:latin typeface="Segoe UI"/>
              </a:rPr>
              <a:t>Hands-on with Entra, Graph, Foundry, App Gateway and Azure data services across the stack.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4" y="169164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01584" y="1691640"/>
            <a:ext cx="109728" cy="1783080"/>
          </a:xfrm>
          <a:prstGeom prst="roundRect">
            <a:avLst>
              <a:gd name="adj" fmla="val 50000"/>
            </a:avLst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1837944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0B1F3A"/>
                </a:solidFill>
                <a:latin typeface="Segoe UI Semibold"/>
              </a:rPr>
              <a:t>A working MVP, not slideware</a:t>
            </a:r>
          </a:p>
          <a:p>
            <a:pPr>
              <a:lnSpc>
                <a:spcPct val="104000"/>
              </a:lnSpc>
            </a:pPr>
            <a:r>
              <a:rPr sz="1100">
                <a:solidFill>
                  <a:srgbClr val="5B6B7F"/>
                </a:solidFill>
                <a:latin typeface="Segoe UI"/>
              </a:rPr>
              <a:t>Full-stack build already running: FastAPI backend, React 19 SPA, 6 agents, a 12-state engine.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5760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657600"/>
            <a:ext cx="109728" cy="178308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803904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0B1F3A"/>
                </a:solidFill>
                <a:latin typeface="Segoe UI Semibold"/>
              </a:rPr>
              <a:t>Built for Shell-grade compliance</a:t>
            </a:r>
          </a:p>
          <a:p>
            <a:pPr>
              <a:lnSpc>
                <a:spcPct val="104000"/>
              </a:lnSpc>
            </a:pPr>
            <a:r>
              <a:rPr sz="1100">
                <a:solidFill>
                  <a:srgbClr val="5B6B7F"/>
                </a:solidFill>
                <a:latin typeface="Segoe UI"/>
              </a:rPr>
              <a:t>Designed against IRM 3.492 and the EU AI Act — deterministic core, in-tenant AI, full audit.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5112" y="365760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25112" y="3657600"/>
            <a:ext cx="109728" cy="1783080"/>
          </a:xfrm>
          <a:prstGeom prst="roundRect">
            <a:avLst>
              <a:gd name="adj" fmla="val 50000"/>
            </a:avLst>
          </a:prstGeom>
          <a:solidFill>
            <a:srgbClr val="2B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3803904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0B1F3A"/>
                </a:solidFill>
                <a:latin typeface="Segoe UI Semibold"/>
              </a:rPr>
              <a:t>Ready-to-deploy accelerator</a:t>
            </a:r>
          </a:p>
          <a:p>
            <a:pPr>
              <a:lnSpc>
                <a:spcPct val="104000"/>
              </a:lnSpc>
            </a:pPr>
            <a:r>
              <a:rPr sz="1100">
                <a:solidFill>
                  <a:srgbClr val="5B6B7F"/>
                </a:solidFill>
                <a:latin typeface="Segoe UI"/>
              </a:rPr>
              <a:t>Config-driven and modular — adapt to your vendors, KPIs and cadence quickly.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4" y="365760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01584" y="3657600"/>
            <a:ext cx="109728" cy="1783080"/>
          </a:xfrm>
          <a:prstGeom prst="roundRect">
            <a:avLst>
              <a:gd name="adj" fmla="val 50000"/>
            </a:avLst>
          </a:prstGeom>
          <a:solidFill>
            <a:srgbClr val="E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57616" y="3803904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0B1F3A"/>
                </a:solidFill>
                <a:latin typeface="Segoe UI Semibold"/>
              </a:rPr>
              <a:t>De-risked delivery</a:t>
            </a:r>
          </a:p>
          <a:p>
            <a:pPr>
              <a:lnSpc>
                <a:spcPct val="104000"/>
              </a:lnSpc>
            </a:pPr>
            <a:r>
              <a:rPr sz="1100">
                <a:solidFill>
                  <a:srgbClr val="5B6B7F"/>
                </a:solidFill>
                <a:latin typeface="Segoe UI"/>
              </a:rPr>
              <a:t>Deterministic fallback means the system works with or without the LLM from day one.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F"/>
                </a:solidFill>
                <a:latin typeface="Segoe UI"/>
              </a:rPr>
              <a:t>VendorPulse  ·  Zensar Offering Collateral  ·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F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B8A6"/>
                </a:solidFill>
                <a:latin typeface="Segoe UI Semibold"/>
              </a:rPr>
              <a:t>LET'S 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1F3A"/>
                </a:solidFill>
                <a:latin typeface="Segoe UI Semibold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61188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039112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4B8A6"/>
                </a:solidFill>
                <a:latin typeface="Segoe UI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74320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1F3A"/>
                </a:solidFill>
                <a:latin typeface="Segoe UI Semibold"/>
              </a:rPr>
              <a:t>Discovery workshop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32004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100" b="1">
                <a:solidFill>
                  <a:srgbClr val="0B1F3A"/>
                </a:solidFill>
                <a:latin typeface="Segoe UI"/>
              </a:rPr>
              <a:t>1–2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74904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7F"/>
                </a:solidFill>
                <a:latin typeface="Segoe UI"/>
              </a:rPr>
              <a:t>Confirm scope, integrations, KPIs and compliance prerequisites; agree the roadmap.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783080"/>
            <a:ext cx="361188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2039112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2BA8E0"/>
                </a:solidFill>
                <a:latin typeface="Segoe UI Semi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74320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1F3A"/>
                </a:solidFill>
                <a:latin typeface="Segoe UI Semibold"/>
              </a:rPr>
              <a:t>Foundations &amp; pilot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81144" y="32004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100" b="1">
                <a:solidFill>
                  <a:srgbClr val="0B1F3A"/>
                </a:solidFill>
                <a:latin typeface="Segoe UI"/>
              </a:rPr>
              <a:t>3–4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74904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7F"/>
                </a:solidFill>
                <a:latin typeface="Segoe UI"/>
              </a:rPr>
              <a:t>Stand up Azure infra, Entra/Graph, migrate to PostgreSQL, port agents, run one live cycle.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1783080"/>
            <a:ext cx="361188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2039112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4B740"/>
                </a:solidFill>
                <a:latin typeface="Segoe UI Semi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74320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1F3A"/>
                </a:solidFill>
                <a:latin typeface="Segoe UI Semibold"/>
              </a:rPr>
              <a:t>UAT &amp; go-live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57616" y="32004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100" b="1">
                <a:solidFill>
                  <a:srgbClr val="0B1F3A"/>
                </a:solidFill>
                <a:latin typeface="Segoe UI"/>
              </a:rPr>
              <a:t>2 weeks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374904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7F"/>
                </a:solidFill>
                <a:latin typeface="Segoe UI"/>
              </a:rPr>
              <a:t>VMO UAT, IT-security sign-off, production cutover, coordinator training and handover.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54880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864608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4B740"/>
                </a:solidFill>
                <a:latin typeface="Segoe UI"/>
              </a:rPr>
              <a:t>In parallel (start now — external lead time): 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Shell compliance — AI Registry, IRM IAQ, Shell.AI + TRB approval — must clear before production.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B1F3A"/>
                </a:solidFill>
                <a:latin typeface="Segoe UI Semibold"/>
              </a:rPr>
              <a:t>Let’s run a discovery workshop and co-build the roadmap.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F"/>
                </a:solidFill>
                <a:latin typeface="Segoe UI"/>
              </a:rPr>
              <a:t>VendorPulse  ·  Zensar Offering Collateral  ·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F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371600" cy="50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FFFFFF"/>
                </a:solidFill>
                <a:latin typeface="Segoe UI Semibold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566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CFDBE8"/>
                </a:solidFill>
                <a:latin typeface="Segoe UI"/>
              </a:rPr>
              <a:t>VendorPulse — AI-assisted, human-approved vendor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97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4B8A6"/>
                </a:solidFill>
                <a:latin typeface="Segoe UI"/>
              </a:rPr>
              <a:t>Zensar  ·  www.zensar.com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