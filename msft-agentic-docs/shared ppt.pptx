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8"/>
  </p:notesMasterIdLst>
  <p:sldIdLst>
    <p:sldId id="256" r:id="rId2"/>
    <p:sldId id="257" r:id="rId3"/>
    <p:sldId id="2147483647" r:id="rId4"/>
    <p:sldId id="2147473445" r:id="rId5"/>
    <p:sldId id="258" r:id="rId7"/>
    <p:sldId id="259" r:id="rId6"/>
  </p:sldIdLst>
  <p:sldSz cx="12192000" cy="6858000"/>
  <p:notesSz cx="6858000" cy="9144000"/>
  <p:defaultTex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99696A9-1372-8E22-2842-5B71BE6755B0}" v="1" dt="2026-06-10T10:00:11.280"/>
    <p1510:client id="{40D9D016-C559-BDB4-16D6-CF8B9CACCA4D}" v="2" dt="2026-06-10T11:21:32.722"/>
    <p1510:client id="{B1B67BD1-1FE0-A65C-D129-8A9F0134593F}" v="8" dt="2026-06-10T13:55:22.886"/>
    <p1510:client id="{B7F825C1-5D5A-30AA-EABA-D3E1F381FD29}" v="1" dt="2026-06-10T09:58:42.501"/>
    <p1510:client id="{CE24A81F-78C0-EBF7-0E60-FED148BF6E41}" v="4" dt="2026-06-10T11:09:22.941"/>
    <p1510:client id="{FDC8CB93-3E8C-909C-7E62-B6AA49D1393C}" v="3" dt="2026-06-10T09:56:22.49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6.xml"/><Relationship Id="rId7" Type="http://schemas.openxmlformats.org/officeDocument/2006/relationships/slide" Target="slides/slide5.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 Id="rId13"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14C1BAC-CB92-4D19-96E1-F291E920C80C}" type="datetimeFigureOut">
              <a:t>6/10/2026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3D1954F-55F6-4F46-B232-21209F73E187}" type="slidenum">
              <a:t>‹#›</a:t>
            </a:fld>
            <a:endParaRPr lang="en-GB"/>
          </a:p>
        </p:txBody>
      </p:sp>
    </p:spTree>
    <p:extLst>
      <p:ext uri="{BB962C8B-B14F-4D97-AF65-F5344CB8AC3E}">
        <p14:creationId xmlns:p14="http://schemas.microsoft.com/office/powerpoint/2010/main" val="40409225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5287D21-8B67-8D48-B247-A450F35D3464}" type="slidenum">
              <a:rPr lang="en-US" smtClean="0"/>
              <a:t>4</a:t>
            </a:fld>
            <a:endParaRPr lang="en-US"/>
          </a:p>
        </p:txBody>
      </p:sp>
    </p:spTree>
    <p:extLst>
      <p:ext uri="{BB962C8B-B14F-4D97-AF65-F5344CB8AC3E}">
        <p14:creationId xmlns:p14="http://schemas.microsoft.com/office/powerpoint/2010/main" val="41355814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GB" smtClean="0"/>
              <a:t>10/06/2026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p:cNvSpPr>
            <a:spLocks noGrp="1"/>
          </p:cNvSpPr>
          <p:nvPr>
            <p:ph type="dt" sz="half" idx="10"/>
          </p:nvPr>
        </p:nvSpPr>
        <p:spPr/>
        <p:txBody>
          <a:bodyPr/>
          <a:lstStyle/>
          <a:p>
            <a:fld id="{846CE7D5-CF57-46EF-B807-FDD0502418D4}" type="datetimeFigureOut">
              <a:rPr lang="en-GB" smtClean="0"/>
              <a:t>10/06/2026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GB"/>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GB" smtClean="0"/>
              <a:t>10/06/2026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Content Placeholder 3"/>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Date Placeholder 4"/>
          <p:cNvSpPr>
            <a:spLocks noGrp="1"/>
          </p:cNvSpPr>
          <p:nvPr>
            <p:ph type="dt" sz="half" idx="10"/>
          </p:nvPr>
        </p:nvSpPr>
        <p:spPr/>
        <p:txBody>
          <a:bodyPr/>
          <a:lstStyle/>
          <a:p>
            <a:fld id="{846CE7D5-CF57-46EF-B807-FDD0502418D4}" type="datetimeFigureOut">
              <a:rPr lang="en-GB" smtClean="0"/>
              <a:t>10/06/2026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GB"/>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 name="Date Placeholder 6"/>
          <p:cNvSpPr>
            <a:spLocks noGrp="1"/>
          </p:cNvSpPr>
          <p:nvPr>
            <p:ph type="dt" sz="half" idx="10"/>
          </p:nvPr>
        </p:nvSpPr>
        <p:spPr/>
        <p:txBody>
          <a:bodyPr/>
          <a:lstStyle/>
          <a:p>
            <a:fld id="{846CE7D5-CF57-46EF-B807-FDD0502418D4}" type="datetimeFigureOut">
              <a:rPr lang="en-GB" smtClean="0"/>
              <a:t>10/06/2026</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p>
        </p:txBody>
      </p:sp>
      <p:sp>
        <p:nvSpPr>
          <p:cNvPr id="3" name="Date Placeholder 2"/>
          <p:cNvSpPr>
            <a:spLocks noGrp="1"/>
          </p:cNvSpPr>
          <p:nvPr>
            <p:ph type="dt" sz="half" idx="10"/>
          </p:nvPr>
        </p:nvSpPr>
        <p:spPr/>
        <p:txBody>
          <a:bodyPr/>
          <a:lstStyle/>
          <a:p>
            <a:fld id="{846CE7D5-CF57-46EF-B807-FDD0502418D4}" type="datetimeFigureOut">
              <a:rPr lang="en-GB" smtClean="0"/>
              <a:t>10/06/2026</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GB" smtClean="0"/>
              <a:t>10/06/2026</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GB" smtClean="0"/>
              <a:t>10/06/2026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GB" smtClean="0"/>
              <a:t>10/06/2026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p:cNvSpPr>
            <a:spLocks noGrp="1"/>
          </p:cNvSpPr>
          <p:nvPr>
            <p:ph type="dt" sz="half" idx="10"/>
          </p:nvPr>
        </p:nvSpPr>
        <p:spPr/>
        <p:txBody>
          <a:bodyPr/>
          <a:lstStyle/>
          <a:p>
            <a:fld id="{846CE7D5-CF57-46EF-B807-FDD0502418D4}" type="datetimeFigureOut">
              <a:rPr lang="en-GB" smtClean="0"/>
              <a:t>10/06/2026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GB"/>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p:cNvSpPr>
            <a:spLocks noGrp="1"/>
          </p:cNvSpPr>
          <p:nvPr>
            <p:ph type="dt" sz="half" idx="10"/>
          </p:nvPr>
        </p:nvSpPr>
        <p:spPr/>
        <p:txBody>
          <a:bodyPr/>
          <a:lstStyle/>
          <a:p>
            <a:fld id="{846CE7D5-CF57-46EF-B807-FDD0502418D4}" type="datetimeFigureOut">
              <a:rPr lang="en-GB" smtClean="0"/>
              <a:t>10/06/2026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4794456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Body variation 1">
    <p:spTree>
      <p:nvGrpSpPr>
        <p:cNvPr id="1" name=""/>
        <p:cNvGrpSpPr/>
        <p:nvPr/>
      </p:nvGrpSpPr>
      <p:grpSpPr>
        <a:xfrm>
          <a:off x="0" y="0"/>
          <a:ext cx="0" cy="0"/>
          <a:chOff x="0" y="0"/>
          <a:chExt cx="0" cy="0"/>
        </a:xfrm>
      </p:grpSpPr>
      <p:sp>
        <p:nvSpPr>
          <p:cNvPr id="4" name="Partial Circle 16">
            <a:extLst>
              <a:ext uri="{FF2B5EF4-FFF2-40B4-BE49-F238E27FC236}">
                <a16:creationId xmlns:a16="http://schemas.microsoft.com/office/drawing/2014/main" id="{2C69DE10-0998-8ADB-BB92-E482E1AD4F1E}"/>
              </a:ext>
            </a:extLst>
          </p:cNvPr>
          <p:cNvSpPr/>
          <p:nvPr userDrawn="1"/>
        </p:nvSpPr>
        <p:spPr>
          <a:xfrm rot="16200000">
            <a:off x="-317305" y="100214"/>
            <a:ext cx="853205" cy="853205"/>
          </a:xfrm>
          <a:prstGeom prst="pie">
            <a:avLst>
              <a:gd name="adj1" fmla="val 0"/>
              <a:gd name="adj2" fmla="val 5388049"/>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2400">
              <a:solidFill>
                <a:srgbClr val="000000"/>
              </a:solidFill>
              <a:latin typeface="Arial"/>
            </a:endParaRPr>
          </a:p>
        </p:txBody>
      </p:sp>
      <p:sp>
        <p:nvSpPr>
          <p:cNvPr id="3" name="Text Placeholder 2">
            <a:extLst>
              <a:ext uri="{FF2B5EF4-FFF2-40B4-BE49-F238E27FC236}">
                <a16:creationId xmlns:a16="http://schemas.microsoft.com/office/drawing/2014/main" id="{A836BDE8-3CC1-4456-BCA8-FBA2B062B3F5}"/>
              </a:ext>
            </a:extLst>
          </p:cNvPr>
          <p:cNvSpPr>
            <a:spLocks noGrp="1"/>
          </p:cNvSpPr>
          <p:nvPr>
            <p:ph type="body" sz="quarter" idx="14"/>
          </p:nvPr>
        </p:nvSpPr>
        <p:spPr>
          <a:xfrm>
            <a:off x="239349" y="158735"/>
            <a:ext cx="9413875" cy="328447"/>
          </a:xfrm>
          <a:prstGeom prst="rect">
            <a:avLst/>
          </a:prstGeom>
        </p:spPr>
        <p:txBody>
          <a:bodyPr/>
          <a:lstStyle>
            <a:lvl1pPr marL="0" indent="0">
              <a:buNone/>
              <a:defRPr sz="2400">
                <a:latin typeface="Arial" panose="020B0604020202020204" pitchFamily="34" charset="0"/>
                <a:cs typeface="Arial" panose="020B0604020202020204" pitchFamily="34" charset="0"/>
              </a:defRPr>
            </a:lvl1pPr>
            <a:lvl2pPr marL="457189" indent="0">
              <a:buNone/>
              <a:defRPr sz="1800">
                <a:latin typeface="Arial" panose="020B0604020202020204" pitchFamily="34" charset="0"/>
                <a:cs typeface="Arial" panose="020B0604020202020204" pitchFamily="34" charset="0"/>
              </a:defRPr>
            </a:lvl2pPr>
            <a:lvl3pPr marL="914377" indent="0">
              <a:buNone/>
              <a:defRPr sz="1800">
                <a:latin typeface="Arial" panose="020B0604020202020204" pitchFamily="34" charset="0"/>
                <a:cs typeface="Arial" panose="020B0604020202020204" pitchFamily="34" charset="0"/>
              </a:defRPr>
            </a:lvl3pPr>
            <a:lvl4pPr marL="1371566" indent="0">
              <a:buNone/>
              <a:defRPr sz="1800">
                <a:latin typeface="Arial" panose="020B0604020202020204" pitchFamily="34" charset="0"/>
                <a:cs typeface="Arial" panose="020B0604020202020204" pitchFamily="34" charset="0"/>
              </a:defRPr>
            </a:lvl4pPr>
            <a:lvl5pPr marL="1828754" indent="0">
              <a:buNone/>
              <a:defRPr sz="1800">
                <a:latin typeface="Arial" panose="020B0604020202020204" pitchFamily="34" charset="0"/>
                <a:cs typeface="Arial" panose="020B0604020202020204" pitchFamily="34" charset="0"/>
              </a:defRPr>
            </a:lvl5pPr>
          </a:lstStyle>
          <a:p>
            <a:pPr lvl="0"/>
            <a:r>
              <a:rPr lang="en-US"/>
              <a:t>Click to edit Master text styles</a:t>
            </a:r>
          </a:p>
        </p:txBody>
      </p:sp>
      <p:sp>
        <p:nvSpPr>
          <p:cNvPr id="13" name="TextBox 12">
            <a:extLst>
              <a:ext uri="{FF2B5EF4-FFF2-40B4-BE49-F238E27FC236}">
                <a16:creationId xmlns:a16="http://schemas.microsoft.com/office/drawing/2014/main" id="{19944278-FB05-4B2C-B28E-43C7C07CA977}"/>
              </a:ext>
            </a:extLst>
          </p:cNvPr>
          <p:cNvSpPr txBox="1"/>
          <p:nvPr userDrawn="1"/>
        </p:nvSpPr>
        <p:spPr>
          <a:xfrm>
            <a:off x="20320" y="6541249"/>
            <a:ext cx="2900680" cy="276999"/>
          </a:xfrm>
          <a:prstGeom prst="rect">
            <a:avLst/>
          </a:prstGeom>
          <a:noFill/>
        </p:spPr>
        <p:txBody>
          <a:bodyPr wrap="square" rtlCol="0">
            <a:spAutoFit/>
          </a:bodyPr>
          <a:lstStyle/>
          <a:p>
            <a:r>
              <a:rPr lang="en-US" sz="1200">
                <a:latin typeface="Arial Regular"/>
                <a:cs typeface="Arial" panose="020B0604020202020204" pitchFamily="34" charset="0"/>
              </a:rPr>
              <a:t>© Zensar </a:t>
            </a:r>
            <a:r>
              <a:rPr lang="en-US" sz="1200">
                <a:latin typeface="Arial" panose="020B0604020202020204" pitchFamily="34" charset="0"/>
                <a:cs typeface="Arial" panose="020B0604020202020204" pitchFamily="34" charset="0"/>
              </a:rPr>
              <a:t>Technologies</a:t>
            </a:r>
            <a:r>
              <a:rPr lang="en-US" sz="1200">
                <a:latin typeface="Arial Regular"/>
                <a:cs typeface="Arial" panose="020B0604020202020204" pitchFamily="34" charset="0"/>
              </a:rPr>
              <a:t>, 2023</a:t>
            </a:r>
          </a:p>
        </p:txBody>
      </p:sp>
    </p:spTree>
    <p:extLst>
      <p:ext uri="{BB962C8B-B14F-4D97-AF65-F5344CB8AC3E}">
        <p14:creationId xmlns:p14="http://schemas.microsoft.com/office/powerpoint/2010/main" val="188627304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Body variatio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36BDE8-3CC1-4456-BCA8-FBA2B062B3F5}"/>
              </a:ext>
            </a:extLst>
          </p:cNvPr>
          <p:cNvSpPr>
            <a:spLocks noGrp="1"/>
          </p:cNvSpPr>
          <p:nvPr>
            <p:ph type="body" sz="quarter" idx="14"/>
          </p:nvPr>
        </p:nvSpPr>
        <p:spPr>
          <a:xfrm>
            <a:off x="515938" y="329381"/>
            <a:ext cx="9413875" cy="358496"/>
          </a:xfrm>
          <a:prstGeom prst="rect">
            <a:avLst/>
          </a:prstGeom>
        </p:spPr>
        <p:txBody>
          <a:bodyPr lIns="0" tIns="0" rIns="0" bIns="0">
            <a:spAutoFit/>
          </a:bodyPr>
          <a:lstStyle>
            <a:lvl1pPr marL="0" indent="0">
              <a:lnSpc>
                <a:spcPct val="130000"/>
              </a:lnSpc>
              <a:spcBef>
                <a:spcPts val="0"/>
              </a:spcBef>
              <a:buNone/>
              <a:defRPr sz="2000" b="0" i="0" spc="40" baseline="0">
                <a:solidFill>
                  <a:schemeClr val="tx1"/>
                </a:solidFill>
                <a:latin typeface="Arial" panose="020B0604020202020204" pitchFamily="34" charset="0"/>
                <a:cs typeface="Arial" panose="020B0604020202020204" pitchFamily="34" charset="0"/>
              </a:defRPr>
            </a:lvl1pPr>
            <a:lvl2pPr marL="457200" indent="0">
              <a:buNone/>
              <a:defRPr sz="1800">
                <a:latin typeface="Arial" panose="020B0604020202020204" pitchFamily="34" charset="0"/>
                <a:cs typeface="Arial" panose="020B0604020202020204" pitchFamily="34" charset="0"/>
              </a:defRPr>
            </a:lvl2pPr>
            <a:lvl3pPr marL="914400" indent="0">
              <a:buNone/>
              <a:defRPr sz="1800">
                <a:latin typeface="Arial" panose="020B0604020202020204" pitchFamily="34" charset="0"/>
                <a:cs typeface="Arial" panose="020B0604020202020204" pitchFamily="34" charset="0"/>
              </a:defRPr>
            </a:lvl3pPr>
            <a:lvl4pPr marL="1371600" indent="0">
              <a:buNone/>
              <a:defRPr sz="1800">
                <a:latin typeface="Arial" panose="020B0604020202020204" pitchFamily="34" charset="0"/>
                <a:cs typeface="Arial" panose="020B0604020202020204" pitchFamily="34" charset="0"/>
              </a:defRPr>
            </a:lvl4pPr>
            <a:lvl5pPr marL="1828800" indent="0">
              <a:buNone/>
              <a:defRPr sz="1800">
                <a:latin typeface="Arial" panose="020B0604020202020204" pitchFamily="34" charset="0"/>
                <a:cs typeface="Arial" panose="020B0604020202020204" pitchFamily="34" charset="0"/>
              </a:defRPr>
            </a:lvl5pPr>
          </a:lstStyle>
          <a:p>
            <a:pPr lvl="0"/>
            <a:r>
              <a:rPr lang="en-US"/>
              <a:t>Click to edit Master text styles</a:t>
            </a:r>
            <a:endParaRPr lang="en-IN"/>
          </a:p>
        </p:txBody>
      </p:sp>
    </p:spTree>
    <p:extLst>
      <p:ext uri="{BB962C8B-B14F-4D97-AF65-F5344CB8AC3E}">
        <p14:creationId xmlns:p14="http://schemas.microsoft.com/office/powerpoint/2010/main" val="53182777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GB" smtClean="0"/>
              <a:t>10/06/2026</a:t>
            </a:fld>
            <a:endParaRPr lang="en-GB"/>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GB" smtClean="0"/>
              <a:t>‹#›</a:t>
            </a:fld>
            <a:endParaRPr lang="en-GB"/>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1.png"/><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1.png"/><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jpeg"/><Relationship Id="rId7" Type="http://schemas.openxmlformats.org/officeDocument/2006/relationships/image" Target="../media/image7.png"/><Relationship Id="rId8" Type="http://schemas.openxmlformats.org/officeDocument/2006/relationships/image" Target="../media/image8.png"/><Relationship Id="rId9" Type="http://schemas.openxmlformats.org/officeDocument/2006/relationships/image" Target="../media/image9.png"/><Relationship Id="rId10" Type="http://schemas.openxmlformats.org/officeDocument/2006/relationships/image" Target="../media/image10.png"/><Relationship Id="rId11" Type="http://schemas.openxmlformats.org/officeDocument/2006/relationships/image" Target="../media/image11.png"/><Relationship Id="rId12" Type="http://schemas.openxmlformats.org/officeDocument/2006/relationships/image" Target="../media/image12.png"/><Relationship Id="rId13" Type="http://schemas.openxmlformats.org/officeDocument/2006/relationships/image" Target="../media/image13.png"/><Relationship Id="rId14" Type="http://schemas.openxmlformats.org/officeDocument/2006/relationships/image" Target="../media/image14.png"/><Relationship Id="rId15" Type="http://schemas.openxmlformats.org/officeDocument/2006/relationships/image" Target="../media/image15.jpeg"/><Relationship Id="rId16" Type="http://schemas.openxmlformats.org/officeDocument/2006/relationships/image" Target="../media/image16.png"/><Relationship Id="rId17" Type="http://schemas.openxmlformats.org/officeDocument/2006/relationships/image" Target="../media/image17.png"/><Relationship Id="rId18" Type="http://schemas.openxmlformats.org/officeDocument/2006/relationships/image" Target="../media/image1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BC24094-4A3C-F1D4-9FCA-14AEDD765A43}"/>
              </a:ext>
            </a:extLst>
          </p:cNvPr>
          <p:cNvSpPr>
            <a:spLocks noGrp="1"/>
          </p:cNvSpPr>
          <p:nvPr>
            <p:ph type="body" sz="quarter" idx="14"/>
          </p:nvPr>
        </p:nvSpPr>
        <p:spPr>
          <a:xfrm>
            <a:off x="115105" y="366959"/>
            <a:ext cx="11220950" cy="430118"/>
          </a:xfrm>
        </p:spPr>
        <p:txBody>
          <a:bodyPr/>
          <a:lstStyle/>
          <a:p>
            <a:r>
              <a:rPr lang="en-US" sz="2400"/>
              <a:t>Cloude Architecture View-VM in Azure, Fabric DW, SharePoint </a:t>
            </a:r>
          </a:p>
        </p:txBody>
      </p:sp>
      <p:pic>
        <p:nvPicPr>
          <p:cNvPr id="5" name="Picture 4">
            <a:extLst>
              <a:ext uri="{FF2B5EF4-FFF2-40B4-BE49-F238E27FC236}">
                <a16:creationId xmlns:a16="http://schemas.microsoft.com/office/drawing/2014/main" id="{18B0DCAE-6744-F4B4-A1DA-34D5428CCFFD}"/>
              </a:ext>
            </a:extLst>
          </p:cNvPr>
          <p:cNvPicPr>
            <a:picLocks noChangeAspect="1"/>
          </p:cNvPicPr>
          <p:nvPr/>
        </p:nvPicPr>
        <p:blipFill>
          <a:blip r:embed="rId2"/>
          <a:stretch>
            <a:fillRect/>
          </a:stretch>
        </p:blipFill>
        <p:spPr>
          <a:xfrm>
            <a:off x="8947807" y="62630"/>
            <a:ext cx="1511378" cy="400071"/>
          </a:xfrm>
          <a:prstGeom prst="rect">
            <a:avLst/>
          </a:prstGeom>
        </p:spPr>
      </p:pic>
      <p:pic>
        <p:nvPicPr>
          <p:cNvPr id="1026" name="Picture 2">
            <a:extLst>
              <a:ext uri="{FF2B5EF4-FFF2-40B4-BE49-F238E27FC236}">
                <a16:creationId xmlns:a16="http://schemas.microsoft.com/office/drawing/2014/main" id="{6355A17A-67DF-1918-6B5B-48EC151C6B1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8925" y="926926"/>
            <a:ext cx="11612563" cy="57744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876587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BC24094-4A3C-F1D4-9FCA-14AEDD765A43}"/>
              </a:ext>
            </a:extLst>
          </p:cNvPr>
          <p:cNvSpPr>
            <a:spLocks noGrp="1"/>
          </p:cNvSpPr>
          <p:nvPr>
            <p:ph type="body" sz="quarter" idx="14"/>
          </p:nvPr>
        </p:nvSpPr>
        <p:spPr>
          <a:xfrm>
            <a:off x="115105" y="366959"/>
            <a:ext cx="11220950" cy="430118"/>
          </a:xfrm>
        </p:spPr>
        <p:txBody>
          <a:bodyPr/>
          <a:lstStyle/>
          <a:p>
            <a:r>
              <a:rPr lang="en-US" sz="2400"/>
              <a:t>Cloude Architecture View-VM in Azure, Fabric DW, SharePoint </a:t>
            </a:r>
          </a:p>
        </p:txBody>
      </p:sp>
      <p:pic>
        <p:nvPicPr>
          <p:cNvPr id="5" name="Picture 4">
            <a:extLst>
              <a:ext uri="{FF2B5EF4-FFF2-40B4-BE49-F238E27FC236}">
                <a16:creationId xmlns:a16="http://schemas.microsoft.com/office/drawing/2014/main" id="{18B0DCAE-6744-F4B4-A1DA-34D5428CCFFD}"/>
              </a:ext>
            </a:extLst>
          </p:cNvPr>
          <p:cNvPicPr>
            <a:picLocks noChangeAspect="1"/>
          </p:cNvPicPr>
          <p:nvPr/>
        </p:nvPicPr>
        <p:blipFill>
          <a:blip r:embed="rId2"/>
          <a:stretch>
            <a:fillRect/>
          </a:stretch>
        </p:blipFill>
        <p:spPr>
          <a:xfrm>
            <a:off x="8947807" y="62630"/>
            <a:ext cx="1511378" cy="400071"/>
          </a:xfrm>
          <a:prstGeom prst="rect">
            <a:avLst/>
          </a:prstGeom>
        </p:spPr>
      </p:pic>
      <p:pic>
        <p:nvPicPr>
          <p:cNvPr id="1026" name="Picture 2">
            <a:extLst>
              <a:ext uri="{FF2B5EF4-FFF2-40B4-BE49-F238E27FC236}">
                <a16:creationId xmlns:a16="http://schemas.microsoft.com/office/drawing/2014/main" id="{6355A17A-67DF-1918-6B5B-48EC151C6B1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8925" y="926926"/>
            <a:ext cx="11612563" cy="57744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825625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8877044-9B26-1B71-DAFF-B3A275AEC10A}"/>
              </a:ext>
            </a:extLst>
          </p:cNvPr>
          <p:cNvSpPr>
            <a:spLocks noGrp="1"/>
          </p:cNvSpPr>
          <p:nvPr>
            <p:ph type="body" sz="quarter" idx="14"/>
          </p:nvPr>
        </p:nvSpPr>
        <p:spPr>
          <a:xfrm>
            <a:off x="214568" y="155682"/>
            <a:ext cx="3640778" cy="294328"/>
          </a:xfrm>
        </p:spPr>
        <p:txBody>
          <a:bodyPr>
            <a:normAutofit fontScale="70000" lnSpcReduction="20000"/>
          </a:bodyPr>
          <a:lstStyle/>
          <a:p>
            <a:r>
              <a:rPr lang="en-US" b="1">
                <a:latin typeface="Arial"/>
                <a:cs typeface="Arial"/>
              </a:rPr>
              <a:t>Proposed Architecture</a:t>
            </a:r>
            <a:endParaRPr lang="en-US" b="1"/>
          </a:p>
        </p:txBody>
      </p:sp>
      <p:sp>
        <p:nvSpPr>
          <p:cNvPr id="75" name="TextBox 74">
            <a:extLst>
              <a:ext uri="{FF2B5EF4-FFF2-40B4-BE49-F238E27FC236}">
                <a16:creationId xmlns:a16="http://schemas.microsoft.com/office/drawing/2014/main" id="{46AAAC33-9DF6-D19D-2E69-9E634452FAC0}"/>
              </a:ext>
            </a:extLst>
          </p:cNvPr>
          <p:cNvSpPr txBox="1"/>
          <p:nvPr/>
        </p:nvSpPr>
        <p:spPr>
          <a:xfrm>
            <a:off x="3504329" y="6346133"/>
            <a:ext cx="8500869" cy="133757"/>
          </a:xfrm>
          <a:prstGeom prst="rect">
            <a:avLst/>
          </a:prstGeom>
          <a:ln/>
        </p:spPr>
        <p:style>
          <a:lnRef idx="0">
            <a:schemeClr val="dk1"/>
          </a:lnRef>
          <a:fillRef idx="3">
            <a:schemeClr val="dk1"/>
          </a:fillRef>
          <a:effectRef idx="3">
            <a:schemeClr val="dk1"/>
          </a:effectRef>
          <a:fontRef idx="minor">
            <a:schemeClr val="lt1"/>
          </a:fontRef>
        </p:style>
        <p:txBody>
          <a:bodyPr wrap="square" rtlCol="0" anchor="ctr" anchorCtr="0">
            <a:noAutofit/>
          </a:bodyPr>
          <a:lstStyle>
            <a:defPPr>
              <a:defRPr lang="en-US"/>
            </a:defPPr>
            <a:lvl1pPr algn="ctr">
              <a:defRPr sz="800" b="1">
                <a:solidFill>
                  <a:schemeClr val="bg1">
                    <a:lumMod val="50000"/>
                  </a:schemeClr>
                </a:solidFill>
                <a:latin typeface="Gill Sans MT" panose="020B0502020104020203" pitchFamily="34" charset="0"/>
                <a:cs typeface="Segoe UI" panose="020B0502040204020203" pitchFamily="34" charset="0"/>
              </a:defRPr>
            </a:lvl1pPr>
          </a:lstStyle>
          <a:p>
            <a:pPr defTabSz="914341">
              <a:defRPr/>
            </a:pPr>
            <a:r>
              <a:rPr lang="en-IN">
                <a:solidFill>
                  <a:schemeClr val="bg1"/>
                </a:solidFill>
                <a:latin typeface="Calibri" panose="020F0502020204030204" pitchFamily="34" charset="0"/>
                <a:cs typeface="Calibri" panose="020F0502020204030204" pitchFamily="34" charset="0"/>
              </a:rPr>
              <a:t>SECURITY &amp; ACCESS CONTROL</a:t>
            </a:r>
          </a:p>
        </p:txBody>
      </p:sp>
      <p:sp>
        <p:nvSpPr>
          <p:cNvPr id="184" name="Oval 183">
            <a:extLst>
              <a:ext uri="{FF2B5EF4-FFF2-40B4-BE49-F238E27FC236}">
                <a16:creationId xmlns:a16="http://schemas.microsoft.com/office/drawing/2014/main" id="{AAC6C804-C8C2-A3AA-EF17-4B4FCD58E15A}"/>
              </a:ext>
            </a:extLst>
          </p:cNvPr>
          <p:cNvSpPr/>
          <p:nvPr/>
        </p:nvSpPr>
        <p:spPr bwMode="auto">
          <a:xfrm>
            <a:off x="58748" y="3085118"/>
            <a:ext cx="586391" cy="586391"/>
          </a:xfrm>
          <a:prstGeom prst="ellipse">
            <a:avLst/>
          </a:prstGeom>
          <a:solidFill>
            <a:schemeClr val="bg1"/>
          </a:solidFill>
          <a:ln>
            <a:noFill/>
          </a:ln>
          <a:effectLst>
            <a:outerShdw blurRad="177800" dist="63500" dir="5940000" sx="104000" sy="104000" algn="tl" rotWithShape="0">
              <a:prstClr val="black">
                <a:alpha val="5000"/>
              </a:prstClr>
            </a:outerShdw>
          </a:effectLst>
        </p:spPr>
        <p:txBody>
          <a:bodyPr lIns="0" tIns="0" rIns="0" bIns="0" rtlCol="0" anchor="ctr"/>
          <a:lstStyle/>
          <a:p>
            <a:pPr algn="ctr"/>
            <a:endParaRPr lang="en-US">
              <a:latin typeface="Calibri" panose="020F0502020204030204" pitchFamily="34" charset="0"/>
              <a:cs typeface="Calibri" panose="020F0502020204030204" pitchFamily="34" charset="0"/>
            </a:endParaRPr>
          </a:p>
        </p:txBody>
      </p:sp>
      <p:sp>
        <p:nvSpPr>
          <p:cNvPr id="1460" name="Rectangle 1459">
            <a:extLst>
              <a:ext uri="{FF2B5EF4-FFF2-40B4-BE49-F238E27FC236}">
                <a16:creationId xmlns:a16="http://schemas.microsoft.com/office/drawing/2014/main" id="{D2481EBA-843A-DC51-20C3-E3DBF36D8E34}"/>
              </a:ext>
            </a:extLst>
          </p:cNvPr>
          <p:cNvSpPr/>
          <p:nvPr/>
        </p:nvSpPr>
        <p:spPr>
          <a:xfrm>
            <a:off x="6081105" y="6753487"/>
            <a:ext cx="2240040" cy="321927"/>
          </a:xfrm>
          <a:prstGeom prst="rect">
            <a:avLst/>
          </a:prstGeom>
          <a:noFill/>
          <a:ln>
            <a:noFill/>
          </a:ln>
          <a:effectLst>
            <a:outerShdw blurRad="317500" dist="50800" dir="5400000" sx="103000" sy="103000" algn="ctr" rotWithShape="0">
              <a:srgbClr val="000000">
                <a:alpha val="10000"/>
              </a:srgbClr>
            </a:outerShdw>
          </a:effectLst>
        </p:spPr>
        <p:txBody>
          <a:bodyPr lIns="0" tIns="91440" rIns="0" bIns="91440" rtlCol="0" anchor="ctr" anchorCtr="0"/>
          <a:lstStyle/>
          <a:p>
            <a:pPr lvl="0" algn="ctr" defTabSz="457200" fontAlgn="base">
              <a:spcBef>
                <a:spcPct val="0"/>
              </a:spcBef>
              <a:spcAft>
                <a:spcPct val="0"/>
              </a:spcAft>
              <a:buClr>
                <a:schemeClr val="tx1"/>
              </a:buClr>
              <a:buSzPct val="100000"/>
              <a:defRPr/>
            </a:pPr>
            <a:r>
              <a:rPr lang="en-US" sz="1000" b="1" spc="50">
                <a:solidFill>
                  <a:schemeClr val="dk1"/>
                </a:solidFill>
                <a:latin typeface="Calibri" panose="020F0502020204030204" pitchFamily="34" charset="0"/>
                <a:cs typeface="Calibri" panose="020F0502020204030204" pitchFamily="34" charset="0"/>
              </a:rPr>
              <a:t>Middleware Service Layer</a:t>
            </a:r>
          </a:p>
        </p:txBody>
      </p:sp>
      <p:sp>
        <p:nvSpPr>
          <p:cNvPr id="14" name="TextBox 13">
            <a:extLst>
              <a:ext uri="{FF2B5EF4-FFF2-40B4-BE49-F238E27FC236}">
                <a16:creationId xmlns:a16="http://schemas.microsoft.com/office/drawing/2014/main" id="{8D203B53-9D91-72E5-8AE2-1140CFEA414B}"/>
              </a:ext>
            </a:extLst>
          </p:cNvPr>
          <p:cNvSpPr txBox="1"/>
          <p:nvPr/>
        </p:nvSpPr>
        <p:spPr>
          <a:xfrm>
            <a:off x="2203450" y="6572231"/>
            <a:ext cx="9886461" cy="246221"/>
          </a:xfrm>
          <a:prstGeom prst="rect">
            <a:avLst/>
          </a:prstGeom>
        </p:spPr>
        <p:style>
          <a:lnRef idx="0">
            <a:schemeClr val="accent2"/>
          </a:lnRef>
          <a:fillRef idx="3">
            <a:schemeClr val="accent2"/>
          </a:fillRef>
          <a:effectRef idx="3">
            <a:schemeClr val="accent2"/>
          </a:effectRef>
          <a:fontRef idx="minor">
            <a:schemeClr val="lt1"/>
          </a:fontRef>
        </p:style>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00" i="0" u="none" strike="noStrike" kern="0" cap="none" spc="0" normalizeH="0" baseline="0" noProof="0">
                <a:ln>
                  <a:noFill/>
                </a:ln>
                <a:solidFill>
                  <a:schemeClr val="bg1"/>
                </a:solidFill>
                <a:effectLst/>
                <a:uLnTx/>
                <a:uFillTx/>
                <a:latin typeface="Calibri" panose="020F0502020204030204" pitchFamily="34" charset="0"/>
                <a:cs typeface="Calibri" panose="020F0502020204030204" pitchFamily="34" charset="0"/>
              </a:rPr>
              <a:t>Above proposed Architecture diagram will be refined post Solution Engineering Phase</a:t>
            </a:r>
          </a:p>
        </p:txBody>
      </p:sp>
      <p:sp>
        <p:nvSpPr>
          <p:cNvPr id="1238" name="Rectangle 1237">
            <a:extLst>
              <a:ext uri="{FF2B5EF4-FFF2-40B4-BE49-F238E27FC236}">
                <a16:creationId xmlns:a16="http://schemas.microsoft.com/office/drawing/2014/main" id="{BEB03F6E-C4C2-91D4-A99A-3A2A8F17A00F}"/>
              </a:ext>
            </a:extLst>
          </p:cNvPr>
          <p:cNvSpPr/>
          <p:nvPr/>
        </p:nvSpPr>
        <p:spPr>
          <a:xfrm>
            <a:off x="962278" y="804686"/>
            <a:ext cx="3164469" cy="5253576"/>
          </a:xfrm>
          <a:prstGeom prst="rect">
            <a:avLst/>
          </a:prstGeom>
          <a:solidFill>
            <a:schemeClr val="bg1"/>
          </a:solidFill>
          <a:ln>
            <a:solidFill>
              <a:schemeClr val="tx1">
                <a:alpha val="8000"/>
              </a:schemeClr>
            </a:solidFill>
          </a:ln>
          <a:effectLst>
            <a:outerShdw blurRad="317500" dist="50800" dir="5400000" sx="103000" sy="103000" algn="ctr" rotWithShape="0">
              <a:srgbClr val="000000">
                <a:alpha val="10000"/>
              </a:srgbClr>
            </a:outerShdw>
          </a:effectLst>
        </p:spPr>
        <p:txBody>
          <a:bodyPr vert="horz" lIns="91440" tIns="91440" rIns="0" bIns="91440" rtlCol="0" anchor="t" anchorCtr="0">
            <a:noAutofit/>
          </a:bodyPr>
          <a:lstStyle/>
          <a:p>
            <a:pPr algn="ctr"/>
            <a:endParaRPr lang="en-US" sz="900">
              <a:latin typeface="Calibri" panose="020F0502020204030204" pitchFamily="34" charset="0"/>
              <a:cs typeface="Calibri" panose="020F0502020204030204" pitchFamily="34" charset="0"/>
            </a:endParaRPr>
          </a:p>
        </p:txBody>
      </p:sp>
      <p:sp>
        <p:nvSpPr>
          <p:cNvPr id="73" name="TextBox 72">
            <a:extLst>
              <a:ext uri="{FF2B5EF4-FFF2-40B4-BE49-F238E27FC236}">
                <a16:creationId xmlns:a16="http://schemas.microsoft.com/office/drawing/2014/main" id="{54262883-AF00-3D20-8910-65A973132B57}"/>
              </a:ext>
            </a:extLst>
          </p:cNvPr>
          <p:cNvSpPr txBox="1"/>
          <p:nvPr/>
        </p:nvSpPr>
        <p:spPr>
          <a:xfrm>
            <a:off x="115491" y="5888845"/>
            <a:ext cx="850588" cy="338554"/>
          </a:xfrm>
          <a:prstGeom prst="rect">
            <a:avLst/>
          </a:prstGeom>
          <a:noFill/>
          <a:ln>
            <a:noFill/>
          </a:ln>
          <a:effectLst/>
        </p:spPr>
        <p:txBody>
          <a:bodyPr wrap="square" rtlCol="0">
            <a:spAutoFit/>
          </a:bodyPr>
          <a:lstStyle>
            <a:defPPr>
              <a:defRPr lang="en-US"/>
            </a:defPPr>
            <a:lvl1pPr algn="ctr" defTabSz="877824">
              <a:defRPr sz="768" b="1">
                <a:solidFill>
                  <a:prstClr val="white">
                    <a:lumMod val="50000"/>
                  </a:prstClr>
                </a:solidFill>
                <a:latin typeface="Gill Sans MT" panose="020B0502020104020203" pitchFamily="34" charset="0"/>
                <a:cs typeface="Segoe UI" panose="020B0502040204020203" pitchFamily="34" charset="0"/>
              </a:defRPr>
            </a:lvl1pPr>
          </a:lstStyle>
          <a:p>
            <a:r>
              <a:rPr lang="en-IN" sz="800">
                <a:solidFill>
                  <a:schemeClr val="tx1"/>
                </a:solidFill>
                <a:latin typeface="Calibri" panose="020F0502020204030204" pitchFamily="34" charset="0"/>
                <a:cs typeface="Calibri" panose="020F0502020204030204" pitchFamily="34" charset="0"/>
              </a:rPr>
              <a:t>SUPPORTING </a:t>
            </a:r>
          </a:p>
          <a:p>
            <a:r>
              <a:rPr lang="en-IN" sz="800">
                <a:solidFill>
                  <a:schemeClr val="tx1"/>
                </a:solidFill>
                <a:latin typeface="Calibri" panose="020F0502020204030204" pitchFamily="34" charset="0"/>
                <a:cs typeface="Calibri" panose="020F0502020204030204" pitchFamily="34" charset="0"/>
              </a:rPr>
              <a:t>PLATFORM</a:t>
            </a:r>
          </a:p>
        </p:txBody>
      </p:sp>
      <p:sp>
        <p:nvSpPr>
          <p:cNvPr id="74" name="TextBox 73">
            <a:extLst>
              <a:ext uri="{FF2B5EF4-FFF2-40B4-BE49-F238E27FC236}">
                <a16:creationId xmlns:a16="http://schemas.microsoft.com/office/drawing/2014/main" id="{0E2EFE77-F18F-84DF-8DA3-FB6458D70131}"/>
              </a:ext>
            </a:extLst>
          </p:cNvPr>
          <p:cNvSpPr txBox="1"/>
          <p:nvPr/>
        </p:nvSpPr>
        <p:spPr>
          <a:xfrm>
            <a:off x="1251632" y="6346133"/>
            <a:ext cx="2171751" cy="133757"/>
          </a:xfrm>
          <a:prstGeom prst="rect">
            <a:avLst/>
          </a:prstGeom>
          <a:ln/>
        </p:spPr>
        <p:style>
          <a:lnRef idx="0">
            <a:schemeClr val="dk1"/>
          </a:lnRef>
          <a:fillRef idx="3">
            <a:schemeClr val="dk1"/>
          </a:fillRef>
          <a:effectRef idx="3">
            <a:schemeClr val="dk1"/>
          </a:effectRef>
          <a:fontRef idx="minor">
            <a:schemeClr val="lt1"/>
          </a:fontRef>
        </p:style>
        <p:txBody>
          <a:bodyPr wrap="square" rtlCol="0" anchor="ctr" anchorCtr="0">
            <a:noAutofit/>
          </a:bodyPr>
          <a:lstStyle>
            <a:defPPr>
              <a:defRPr lang="en-US"/>
            </a:defPPr>
            <a:lvl1pPr algn="ctr">
              <a:defRPr sz="800" b="1">
                <a:solidFill>
                  <a:schemeClr val="bg1">
                    <a:lumMod val="50000"/>
                  </a:schemeClr>
                </a:solidFill>
                <a:latin typeface="Gill Sans MT" panose="020B0502020104020203" pitchFamily="34" charset="0"/>
                <a:cs typeface="Segoe UI" panose="020B0502040204020203" pitchFamily="34" charset="0"/>
              </a:defRPr>
            </a:lvl1pPr>
          </a:lstStyle>
          <a:p>
            <a:pPr defTabSz="914341">
              <a:defRPr/>
            </a:pPr>
            <a:r>
              <a:rPr lang="en-IN">
                <a:solidFill>
                  <a:schemeClr val="bg1"/>
                </a:solidFill>
                <a:latin typeface="Calibri" panose="020F0502020204030204" pitchFamily="34" charset="0"/>
                <a:cs typeface="Calibri" panose="020F0502020204030204" pitchFamily="34" charset="0"/>
              </a:rPr>
              <a:t>MONITORING &amp; NOTIFICATION</a:t>
            </a:r>
          </a:p>
        </p:txBody>
      </p:sp>
      <p:sp>
        <p:nvSpPr>
          <p:cNvPr id="116" name="Rectangle 115">
            <a:extLst>
              <a:ext uri="{FF2B5EF4-FFF2-40B4-BE49-F238E27FC236}">
                <a16:creationId xmlns:a16="http://schemas.microsoft.com/office/drawing/2014/main" id="{00F0D587-877D-467E-FC2B-F47D19AD1DD2}"/>
              </a:ext>
            </a:extLst>
          </p:cNvPr>
          <p:cNvSpPr/>
          <p:nvPr/>
        </p:nvSpPr>
        <p:spPr>
          <a:xfrm>
            <a:off x="1101626" y="881108"/>
            <a:ext cx="2822523" cy="206766"/>
          </a:xfrm>
          <a:prstGeom prst="rect">
            <a:avLst/>
          </a:prstGeom>
          <a:ln w="12700">
            <a:solidFill>
              <a:srgbClr val="5B9BD5"/>
            </a:solidFill>
            <a:prstDash val="dash"/>
          </a:ln>
        </p:spPr>
        <p:style>
          <a:lnRef idx="2">
            <a:schemeClr val="dk1"/>
          </a:lnRef>
          <a:fillRef idx="1">
            <a:schemeClr val="lt1"/>
          </a:fillRef>
          <a:effectRef idx="0">
            <a:schemeClr val="dk1"/>
          </a:effectRef>
          <a:fontRef idx="minor">
            <a:schemeClr val="dk1"/>
          </a:fontRef>
        </p:style>
        <p:txBody>
          <a:bodyPr vert="horz" lIns="91440" tIns="45720" rIns="0" bIns="91440" rtlCol="0" anchor="ctr" anchorCtr="0"/>
          <a:lstStyle/>
          <a:p>
            <a:pPr algn="ctr"/>
            <a:r>
              <a:rPr lang="en-US" sz="1100" b="1">
                <a:latin typeface="Calibri" panose="020F0502020204030204" pitchFamily="34" charset="0"/>
                <a:cs typeface="Calibri" panose="020F0502020204030204" pitchFamily="34" charset="0"/>
              </a:rPr>
              <a:t> Design System</a:t>
            </a:r>
          </a:p>
        </p:txBody>
      </p:sp>
      <p:pic>
        <p:nvPicPr>
          <p:cNvPr id="170" name="Picture 169">
            <a:extLst>
              <a:ext uri="{FF2B5EF4-FFF2-40B4-BE49-F238E27FC236}">
                <a16:creationId xmlns:a16="http://schemas.microsoft.com/office/drawing/2014/main" id="{1D3C41F4-285C-8379-9917-2560EB2B1577}"/>
              </a:ext>
            </a:extLst>
          </p:cNvPr>
          <p:cNvPicPr>
            <a:picLocks noChangeAspect="1"/>
          </p:cNvPicPr>
          <p:nvPr/>
        </p:nvPicPr>
        <p:blipFill>
          <a:blip r:embed="rId3"/>
          <a:stretch>
            <a:fillRect/>
          </a:stretch>
        </p:blipFill>
        <p:spPr>
          <a:xfrm>
            <a:off x="260871" y="3176188"/>
            <a:ext cx="452052" cy="452052"/>
          </a:xfrm>
          <a:prstGeom prst="rect">
            <a:avLst/>
          </a:prstGeom>
        </p:spPr>
      </p:pic>
      <p:sp>
        <p:nvSpPr>
          <p:cNvPr id="178" name="Rectangle 177">
            <a:extLst>
              <a:ext uri="{FF2B5EF4-FFF2-40B4-BE49-F238E27FC236}">
                <a16:creationId xmlns:a16="http://schemas.microsoft.com/office/drawing/2014/main" id="{CAE892DB-E80F-1F27-EDEA-00CE72F61A4D}"/>
              </a:ext>
            </a:extLst>
          </p:cNvPr>
          <p:cNvSpPr/>
          <p:nvPr/>
        </p:nvSpPr>
        <p:spPr>
          <a:xfrm>
            <a:off x="187058" y="1821398"/>
            <a:ext cx="647558" cy="483970"/>
          </a:xfrm>
          <a:prstGeom prst="rect">
            <a:avLst/>
          </a:prstGeom>
          <a:solidFill>
            <a:schemeClr val="bg1"/>
          </a:solidFill>
          <a:ln w="1270" cap="flat" cmpd="sng" algn="ctr">
            <a:noFill/>
            <a:prstDash val="solid"/>
            <a:miter lim="800000"/>
          </a:ln>
          <a:effectLst/>
        </p:spPr>
        <p:txBody>
          <a:bodyPr rtlCol="0" anchor="t" anchorCtr="0"/>
          <a:lstStyle/>
          <a:p>
            <a:pPr algn="ctr" defTabSz="914400">
              <a:defRPr/>
            </a:pPr>
            <a:r>
              <a:rPr lang="en-US" sz="1200" b="1" kern="0">
                <a:solidFill>
                  <a:prstClr val="black"/>
                </a:solidFill>
                <a:latin typeface="Calibri" panose="020F0502020204030204" pitchFamily="34" charset="0"/>
                <a:cs typeface="Calibri" panose="020F0502020204030204" pitchFamily="34" charset="0"/>
              </a:rPr>
              <a:t>End User</a:t>
            </a:r>
          </a:p>
        </p:txBody>
      </p:sp>
      <p:sp>
        <p:nvSpPr>
          <p:cNvPr id="179" name="TextBox 178">
            <a:extLst>
              <a:ext uri="{FF2B5EF4-FFF2-40B4-BE49-F238E27FC236}">
                <a16:creationId xmlns:a16="http://schemas.microsoft.com/office/drawing/2014/main" id="{A6F2BAC4-AEAA-3D37-1410-898F11C0112D}"/>
              </a:ext>
            </a:extLst>
          </p:cNvPr>
          <p:cNvSpPr txBox="1"/>
          <p:nvPr/>
        </p:nvSpPr>
        <p:spPr>
          <a:xfrm>
            <a:off x="260871" y="3666528"/>
            <a:ext cx="586391" cy="253916"/>
          </a:xfrm>
          <a:prstGeom prst="rect">
            <a:avLst/>
          </a:prstGeom>
          <a:noFill/>
        </p:spPr>
        <p:txBody>
          <a:bodyPr wrap="square" rtlCol="0">
            <a:spAutoFit/>
          </a:bodyPr>
          <a:lstStyle/>
          <a:p>
            <a:pPr algn="ctr" defTabSz="914377">
              <a:defRPr/>
            </a:pPr>
            <a:r>
              <a:rPr lang="en-IN" sz="1050" b="1" spc="50">
                <a:solidFill>
                  <a:schemeClr val="bg1">
                    <a:lumMod val="50000"/>
                  </a:schemeClr>
                </a:solidFill>
                <a:latin typeface="Calibri" panose="020F0502020204030204" pitchFamily="34" charset="0"/>
                <a:cs typeface="Calibri" panose="020F0502020204030204" pitchFamily="34" charset="0"/>
              </a:rPr>
              <a:t>WEB</a:t>
            </a:r>
          </a:p>
        </p:txBody>
      </p:sp>
      <p:pic>
        <p:nvPicPr>
          <p:cNvPr id="185" name="Picture 184">
            <a:extLst>
              <a:ext uri="{FF2B5EF4-FFF2-40B4-BE49-F238E27FC236}">
                <a16:creationId xmlns:a16="http://schemas.microsoft.com/office/drawing/2014/main" id="{794349E4-683A-7C23-51BB-D7CE010B4564}"/>
              </a:ext>
            </a:extLst>
          </p:cNvPr>
          <p:cNvPicPr>
            <a:picLocks noChangeAspect="1"/>
          </p:cNvPicPr>
          <p:nvPr/>
        </p:nvPicPr>
        <p:blipFill>
          <a:blip r:embed="rId4"/>
          <a:stretch>
            <a:fillRect/>
          </a:stretch>
        </p:blipFill>
        <p:spPr>
          <a:xfrm>
            <a:off x="258472" y="3178255"/>
            <a:ext cx="449674" cy="449674"/>
          </a:xfrm>
          <a:prstGeom prst="rect">
            <a:avLst/>
          </a:prstGeom>
        </p:spPr>
      </p:pic>
      <p:pic>
        <p:nvPicPr>
          <p:cNvPr id="1028" name="Picture 4" descr="User Icon Vector Art, Icons, and Graphics for Free Download">
            <a:extLst>
              <a:ext uri="{FF2B5EF4-FFF2-40B4-BE49-F238E27FC236}">
                <a16:creationId xmlns:a16="http://schemas.microsoft.com/office/drawing/2014/main" id="{D8AB22C1-065F-7321-EC95-3972458E847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33656" y="2390799"/>
            <a:ext cx="505203" cy="494319"/>
          </a:xfrm>
          <a:prstGeom prst="rect">
            <a:avLst/>
          </a:prstGeom>
          <a:noFill/>
          <a:extLst>
            <a:ext uri="{909E8E84-426E-40DD-AFC4-6F175D3DCCD1}">
              <a14:hiddenFill xmlns:a14="http://schemas.microsoft.com/office/drawing/2010/main">
                <a:solidFill>
                  <a:srgbClr val="FFFFFF"/>
                </a:solidFill>
              </a14:hiddenFill>
            </a:ext>
          </a:extLst>
        </p:spPr>
      </p:pic>
      <p:sp>
        <p:nvSpPr>
          <p:cNvPr id="1463" name="TextBox 1462">
            <a:extLst>
              <a:ext uri="{FF2B5EF4-FFF2-40B4-BE49-F238E27FC236}">
                <a16:creationId xmlns:a16="http://schemas.microsoft.com/office/drawing/2014/main" id="{79C3CA42-7718-836A-029D-8026E5ACFA26}"/>
              </a:ext>
            </a:extLst>
          </p:cNvPr>
          <p:cNvSpPr txBox="1"/>
          <p:nvPr/>
        </p:nvSpPr>
        <p:spPr>
          <a:xfrm>
            <a:off x="224306" y="4147724"/>
            <a:ext cx="539175" cy="430887"/>
          </a:xfrm>
          <a:prstGeom prst="rect">
            <a:avLst/>
          </a:prstGeom>
          <a:solidFill>
            <a:schemeClr val="bg1"/>
          </a:solidFill>
          <a:ln>
            <a:solidFill>
              <a:schemeClr val="tx1"/>
            </a:solidFill>
          </a:ln>
        </p:spPr>
        <p:txBody>
          <a:bodyPr wrap="square" rtlCol="0">
            <a:spAutoFit/>
          </a:bodyPr>
          <a:lstStyle/>
          <a:p>
            <a:r>
              <a:rPr lang="en-US" sz="1100">
                <a:latin typeface="Calibri" panose="020F0502020204030204" pitchFamily="34" charset="0"/>
                <a:cs typeface="Calibri" panose="020F0502020204030204" pitchFamily="34" charset="0"/>
              </a:rPr>
              <a:t>Web App</a:t>
            </a:r>
          </a:p>
        </p:txBody>
      </p:sp>
      <p:pic>
        <p:nvPicPr>
          <p:cNvPr id="8" name="Picture 7" descr="AWS Cloud Identity and Access Management (IAM) Security| CyberArk">
            <a:extLst>
              <a:ext uri="{FF2B5EF4-FFF2-40B4-BE49-F238E27FC236}">
                <a16:creationId xmlns:a16="http://schemas.microsoft.com/office/drawing/2014/main" id="{334D881F-4681-74F4-27E1-FFB7D7700A1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1682" y="5450541"/>
            <a:ext cx="636407" cy="427368"/>
          </a:xfrm>
          <a:prstGeom prst="rect">
            <a:avLst/>
          </a:prstGeom>
          <a:noFill/>
          <a:extLst>
            <a:ext uri="{909E8E84-426E-40DD-AFC4-6F175D3DCCD1}">
              <a14:hiddenFill xmlns:a14="http://schemas.microsoft.com/office/drawing/2010/main">
                <a:solidFill>
                  <a:srgbClr val="FFFFFF"/>
                </a:solidFill>
              </a14:hiddenFill>
            </a:ext>
          </a:extLst>
        </p:spPr>
      </p:pic>
      <p:cxnSp>
        <p:nvCxnSpPr>
          <p:cNvPr id="1391" name="Elbow Connector 1390">
            <a:extLst>
              <a:ext uri="{FF2B5EF4-FFF2-40B4-BE49-F238E27FC236}">
                <a16:creationId xmlns:a16="http://schemas.microsoft.com/office/drawing/2014/main" id="{97841A59-7E91-AA62-557B-8D731627A55D}"/>
              </a:ext>
            </a:extLst>
          </p:cNvPr>
          <p:cNvCxnSpPr>
            <a:cxnSpLocks/>
            <a:stCxn id="46" idx="1"/>
          </p:cNvCxnSpPr>
          <p:nvPr/>
        </p:nvCxnSpPr>
        <p:spPr>
          <a:xfrm rot="10800000" flipV="1">
            <a:off x="624069" y="2318266"/>
            <a:ext cx="450658" cy="182237"/>
          </a:xfrm>
          <a:prstGeom prst="bentConnector3">
            <a:avLst>
              <a:gd name="adj1" fmla="val 50000"/>
            </a:avLst>
          </a:prstGeom>
          <a:ln w="12700">
            <a:solidFill>
              <a:srgbClr val="C0000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6BFF407C-B86B-3B19-914A-847A6190BE3C}"/>
              </a:ext>
            </a:extLst>
          </p:cNvPr>
          <p:cNvCxnSpPr>
            <a:cxnSpLocks/>
          </p:cNvCxnSpPr>
          <p:nvPr/>
        </p:nvCxnSpPr>
        <p:spPr>
          <a:xfrm>
            <a:off x="981571" y="746625"/>
            <a:ext cx="3164469" cy="4519"/>
          </a:xfrm>
          <a:prstGeom prst="straightConnector1">
            <a:avLst/>
          </a:prstGeom>
          <a:ln w="28575">
            <a:solidFill>
              <a:schemeClr val="bg1">
                <a:lumMod val="65000"/>
              </a:schemeClr>
            </a:solidFill>
            <a:prstDash val="sysDot"/>
          </a:ln>
        </p:spPr>
        <p:style>
          <a:lnRef idx="3">
            <a:schemeClr val="accent3"/>
          </a:lnRef>
          <a:fillRef idx="0">
            <a:schemeClr val="accent3"/>
          </a:fillRef>
          <a:effectRef idx="2">
            <a:schemeClr val="accent3"/>
          </a:effectRef>
          <a:fontRef idx="minor">
            <a:schemeClr val="tx1"/>
          </a:fontRef>
        </p:style>
      </p:cxnSp>
      <p:sp>
        <p:nvSpPr>
          <p:cNvPr id="21" name="TextBox 20">
            <a:extLst>
              <a:ext uri="{FF2B5EF4-FFF2-40B4-BE49-F238E27FC236}">
                <a16:creationId xmlns:a16="http://schemas.microsoft.com/office/drawing/2014/main" id="{A78AE452-C0B3-0D97-C37D-9F4F700B002F}"/>
              </a:ext>
            </a:extLst>
          </p:cNvPr>
          <p:cNvSpPr txBox="1"/>
          <p:nvPr/>
        </p:nvSpPr>
        <p:spPr>
          <a:xfrm>
            <a:off x="1247611" y="414687"/>
            <a:ext cx="1474436" cy="276999"/>
          </a:xfrm>
          <a:prstGeom prst="rect">
            <a:avLst/>
          </a:prstGeom>
          <a:solidFill>
            <a:schemeClr val="bg1"/>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b="1">
                <a:solidFill>
                  <a:srgbClr val="595959"/>
                </a:solidFill>
                <a:latin typeface="Calibri"/>
                <a:cs typeface="Arial"/>
              </a:rPr>
              <a:t>Presentation Layer</a:t>
            </a:r>
            <a:endParaRPr lang="en-US" sz="1200" b="1">
              <a:solidFill>
                <a:srgbClr val="595959"/>
              </a:solidFill>
              <a:latin typeface="Calibri"/>
              <a:cs typeface="Calibri"/>
            </a:endParaRPr>
          </a:p>
        </p:txBody>
      </p:sp>
      <p:sp>
        <p:nvSpPr>
          <p:cNvPr id="36" name="TextBox 35">
            <a:extLst>
              <a:ext uri="{FF2B5EF4-FFF2-40B4-BE49-F238E27FC236}">
                <a16:creationId xmlns:a16="http://schemas.microsoft.com/office/drawing/2014/main" id="{277C949A-7588-D6B6-DD9D-5140C6D4504F}"/>
              </a:ext>
            </a:extLst>
          </p:cNvPr>
          <p:cNvSpPr txBox="1"/>
          <p:nvPr/>
        </p:nvSpPr>
        <p:spPr>
          <a:xfrm>
            <a:off x="47" y="6295108"/>
            <a:ext cx="770977" cy="215444"/>
          </a:xfrm>
          <a:prstGeom prst="rect">
            <a:avLst/>
          </a:prstGeom>
          <a:noFill/>
          <a:ln>
            <a:solidFill>
              <a:schemeClr val="bg1">
                <a:lumMod val="85000"/>
              </a:schemeClr>
            </a:solidFill>
          </a:ln>
          <a:effectLst/>
        </p:spPr>
        <p:txBody>
          <a:bodyPr wrap="square" lIns="91440" tIns="45720" rIns="91440" bIns="45720" rtlCol="0" anchor="t">
            <a:spAutoFit/>
          </a:bodyPr>
          <a:lstStyle>
            <a:defPPr>
              <a:defRPr lang="en-US"/>
            </a:defPPr>
            <a:lvl1pPr algn="ctr" defTabSz="877824">
              <a:defRPr sz="768" b="1">
                <a:solidFill>
                  <a:prstClr val="white">
                    <a:lumMod val="50000"/>
                  </a:prstClr>
                </a:solidFill>
                <a:latin typeface="Gill Sans MT" panose="020B0502020104020203" pitchFamily="34" charset="0"/>
                <a:cs typeface="Segoe UI" panose="020B0502040204020203" pitchFamily="34" charset="0"/>
              </a:defRPr>
            </a:lvl1pPr>
          </a:lstStyle>
          <a:p>
            <a:r>
              <a:rPr lang="en-IN" sz="800">
                <a:solidFill>
                  <a:schemeClr val="tx1"/>
                </a:solidFill>
                <a:latin typeface="Calibri"/>
                <a:cs typeface="Calibri"/>
              </a:rPr>
              <a:t>AA IT OPS</a:t>
            </a:r>
          </a:p>
        </p:txBody>
      </p:sp>
      <p:cxnSp>
        <p:nvCxnSpPr>
          <p:cNvPr id="40" name="Straight Arrow Connector 39">
            <a:extLst>
              <a:ext uri="{FF2B5EF4-FFF2-40B4-BE49-F238E27FC236}">
                <a16:creationId xmlns:a16="http://schemas.microsoft.com/office/drawing/2014/main" id="{B76E022C-624C-044E-9F6B-6E88CE8EC399}"/>
              </a:ext>
            </a:extLst>
          </p:cNvPr>
          <p:cNvCxnSpPr>
            <a:cxnSpLocks/>
          </p:cNvCxnSpPr>
          <p:nvPr/>
        </p:nvCxnSpPr>
        <p:spPr>
          <a:xfrm flipH="1">
            <a:off x="711682" y="6412802"/>
            <a:ext cx="477671" cy="1984"/>
          </a:xfrm>
          <a:prstGeom prst="straightConnector1">
            <a:avLst/>
          </a:prstGeom>
          <a:ln w="25400">
            <a:solidFill>
              <a:srgbClr val="C00000"/>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46" name="Rectangle 45">
            <a:extLst>
              <a:ext uri="{FF2B5EF4-FFF2-40B4-BE49-F238E27FC236}">
                <a16:creationId xmlns:a16="http://schemas.microsoft.com/office/drawing/2014/main" id="{4B052EBB-1AD2-4C35-FC07-7E8A78A7410C}"/>
              </a:ext>
            </a:extLst>
          </p:cNvPr>
          <p:cNvSpPr/>
          <p:nvPr/>
        </p:nvSpPr>
        <p:spPr>
          <a:xfrm>
            <a:off x="1074727" y="1270359"/>
            <a:ext cx="2856994" cy="2095815"/>
          </a:xfrm>
          <a:prstGeom prst="rect">
            <a:avLst/>
          </a:prstGeom>
          <a:solidFill>
            <a:schemeClr val="bg1"/>
          </a:solidFill>
          <a:ln>
            <a:noFill/>
          </a:ln>
          <a:effectLst>
            <a:outerShdw blurRad="317500" dist="50800" dir="5400000" sx="103000" sy="103000" algn="ctr" rotWithShape="0">
              <a:srgbClr val="000000">
                <a:alpha val="10000"/>
              </a:srgbClr>
            </a:outerShdw>
          </a:effectLst>
        </p:spPr>
        <p:txBody>
          <a:bodyPr vert="horz" lIns="0" tIns="91440" rIns="0" bIns="91440" rtlCol="0" anchor="t" anchorCtr="0"/>
          <a:lstStyle/>
          <a:p>
            <a:pPr lvl="0" algn="ctr" defTabSz="457200" fontAlgn="base">
              <a:spcBef>
                <a:spcPct val="0"/>
              </a:spcBef>
              <a:spcAft>
                <a:spcPct val="0"/>
              </a:spcAft>
              <a:buClr>
                <a:schemeClr val="tx1"/>
              </a:buClr>
              <a:buSzPct val="100000"/>
              <a:defRPr/>
            </a:pPr>
            <a:r>
              <a:rPr lang="en-US" sz="900" spc="50">
                <a:solidFill>
                  <a:schemeClr val="dk1"/>
                </a:solidFill>
                <a:latin typeface="Calibri" panose="020F0502020204030204" pitchFamily="34" charset="0"/>
                <a:cs typeface="Calibri" panose="020F0502020204030204" pitchFamily="34" charset="0"/>
              </a:rPr>
              <a:t>Application Building blocks</a:t>
            </a:r>
            <a:endParaRPr lang="en-US">
              <a:cs typeface="Arial"/>
            </a:endParaRPr>
          </a:p>
        </p:txBody>
      </p:sp>
      <p:sp>
        <p:nvSpPr>
          <p:cNvPr id="47" name="Rectangle 46">
            <a:extLst>
              <a:ext uri="{FF2B5EF4-FFF2-40B4-BE49-F238E27FC236}">
                <a16:creationId xmlns:a16="http://schemas.microsoft.com/office/drawing/2014/main" id="{9D0E2571-3A70-20AC-887B-641D96FE6D97}"/>
              </a:ext>
            </a:extLst>
          </p:cNvPr>
          <p:cNvSpPr/>
          <p:nvPr/>
        </p:nvSpPr>
        <p:spPr>
          <a:xfrm>
            <a:off x="1120903" y="2470693"/>
            <a:ext cx="1224000" cy="360000"/>
          </a:xfrm>
          <a:prstGeom prst="rect">
            <a:avLst/>
          </a:prstGeom>
          <a:solidFill>
            <a:schemeClr val="bg1"/>
          </a:solidFill>
          <a:ln>
            <a:solidFill>
              <a:schemeClr val="tx1">
                <a:alpha val="8000"/>
              </a:schemeClr>
            </a:solidFill>
          </a:ln>
          <a:effectLst>
            <a:outerShdw blurRad="317500" dist="50800" dir="5400000" sx="103000" sy="103000" algn="ctr" rotWithShape="0">
              <a:srgbClr val="000000">
                <a:alpha val="10000"/>
              </a:srgbClr>
            </a:outerShdw>
          </a:effectLst>
        </p:spPr>
        <p:txBody>
          <a:bodyPr lIns="0" tIns="91440" rIns="0" bIns="91440" rtlCol="0" anchor="ctr" anchorCtr="0"/>
          <a:lstStyle/>
          <a:p>
            <a:pPr algn="ctr" defTabSz="457200" fontAlgn="base">
              <a:spcBef>
                <a:spcPct val="0"/>
              </a:spcBef>
              <a:spcAft>
                <a:spcPct val="0"/>
              </a:spcAft>
              <a:buClr>
                <a:schemeClr val="tx1"/>
              </a:buClr>
              <a:buSzPct val="100000"/>
            </a:pPr>
            <a:r>
              <a:rPr lang="en-IN" sz="900" spc="50">
                <a:solidFill>
                  <a:schemeClr val="dk1"/>
                </a:solidFill>
                <a:latin typeface="Calibri" panose="020F0502020204030204" pitchFamily="34" charset="0"/>
                <a:cs typeface="Calibri" panose="020F0502020204030204" pitchFamily="34" charset="0"/>
              </a:rPr>
              <a:t>User  Access and Role Management</a:t>
            </a:r>
          </a:p>
        </p:txBody>
      </p:sp>
      <p:sp>
        <p:nvSpPr>
          <p:cNvPr id="48" name="Rectangle 47">
            <a:extLst>
              <a:ext uri="{FF2B5EF4-FFF2-40B4-BE49-F238E27FC236}">
                <a16:creationId xmlns:a16="http://schemas.microsoft.com/office/drawing/2014/main" id="{DC77D0C3-C762-42AB-6C83-02694193592E}"/>
              </a:ext>
            </a:extLst>
          </p:cNvPr>
          <p:cNvSpPr/>
          <p:nvPr/>
        </p:nvSpPr>
        <p:spPr>
          <a:xfrm>
            <a:off x="1101626" y="1964724"/>
            <a:ext cx="1224000" cy="360000"/>
          </a:xfrm>
          <a:prstGeom prst="rect">
            <a:avLst/>
          </a:prstGeom>
          <a:solidFill>
            <a:schemeClr val="bg1"/>
          </a:solidFill>
          <a:ln>
            <a:noFill/>
          </a:ln>
          <a:effectLst>
            <a:outerShdw blurRad="317500" dist="50800" dir="5400000" sx="103000" sy="103000" algn="ctr" rotWithShape="0">
              <a:srgbClr val="000000">
                <a:alpha val="10000"/>
              </a:srgbClr>
            </a:outerShdw>
          </a:effectLst>
        </p:spPr>
        <p:txBody>
          <a:bodyPr lIns="0" tIns="91440" rIns="0" bIns="91440" rtlCol="0" anchor="ctr" anchorCtr="0"/>
          <a:lstStyle/>
          <a:p>
            <a:pPr lvl="0" algn="ctr" defTabSz="457200" fontAlgn="base">
              <a:spcBef>
                <a:spcPct val="0"/>
              </a:spcBef>
              <a:spcAft>
                <a:spcPct val="0"/>
              </a:spcAft>
              <a:buClr>
                <a:schemeClr val="tx1"/>
              </a:buClr>
              <a:buSzPct val="100000"/>
              <a:defRPr/>
            </a:pPr>
            <a:r>
              <a:rPr lang="en-US" sz="900" spc="50">
                <a:solidFill>
                  <a:schemeClr val="dk1"/>
                </a:solidFill>
                <a:latin typeface="Calibri" panose="020F0502020204030204" pitchFamily="34" charset="0"/>
                <a:cs typeface="Calibri" panose="020F0502020204030204" pitchFamily="34" charset="0"/>
              </a:rPr>
              <a:t>Component</a:t>
            </a:r>
          </a:p>
        </p:txBody>
      </p:sp>
      <p:sp>
        <p:nvSpPr>
          <p:cNvPr id="49" name="Rectangle 48">
            <a:extLst>
              <a:ext uri="{FF2B5EF4-FFF2-40B4-BE49-F238E27FC236}">
                <a16:creationId xmlns:a16="http://schemas.microsoft.com/office/drawing/2014/main" id="{D3017D94-5A51-613C-7F3E-99796FB2F287}"/>
              </a:ext>
            </a:extLst>
          </p:cNvPr>
          <p:cNvSpPr/>
          <p:nvPr/>
        </p:nvSpPr>
        <p:spPr>
          <a:xfrm>
            <a:off x="2573231" y="1964724"/>
            <a:ext cx="1224000" cy="360000"/>
          </a:xfrm>
          <a:prstGeom prst="rect">
            <a:avLst/>
          </a:prstGeom>
          <a:solidFill>
            <a:schemeClr val="bg1"/>
          </a:solidFill>
          <a:ln>
            <a:solidFill>
              <a:schemeClr val="tx1">
                <a:alpha val="8000"/>
              </a:schemeClr>
            </a:solidFill>
          </a:ln>
          <a:effectLst>
            <a:outerShdw blurRad="317500" dist="50800" dir="5400000" sx="103000" sy="103000" algn="ctr" rotWithShape="0">
              <a:srgbClr val="000000">
                <a:alpha val="10000"/>
              </a:srgbClr>
            </a:outerShdw>
          </a:effectLst>
        </p:spPr>
        <p:txBody>
          <a:bodyPr lIns="0" tIns="91440" rIns="0" bIns="91440" rtlCol="0" anchor="ctr" anchorCtr="0"/>
          <a:lstStyle/>
          <a:p>
            <a:pPr algn="ctr" defTabSz="457200" fontAlgn="base">
              <a:spcBef>
                <a:spcPct val="0"/>
              </a:spcBef>
              <a:spcAft>
                <a:spcPct val="0"/>
              </a:spcAft>
              <a:buClr>
                <a:schemeClr val="tx1"/>
              </a:buClr>
              <a:buSzPct val="100000"/>
            </a:pPr>
            <a:r>
              <a:rPr lang="en-US" sz="900" spc="50">
                <a:solidFill>
                  <a:schemeClr val="dk1"/>
                </a:solidFill>
                <a:latin typeface="Calibri" panose="020F0502020204030204" pitchFamily="34" charset="0"/>
                <a:cs typeface="Calibri" panose="020F0502020204030204" pitchFamily="34" charset="0"/>
              </a:rPr>
              <a:t>HTTPS Call to API</a:t>
            </a:r>
          </a:p>
        </p:txBody>
      </p:sp>
      <p:sp>
        <p:nvSpPr>
          <p:cNvPr id="50" name="Rectangle 49">
            <a:extLst>
              <a:ext uri="{FF2B5EF4-FFF2-40B4-BE49-F238E27FC236}">
                <a16:creationId xmlns:a16="http://schemas.microsoft.com/office/drawing/2014/main" id="{67A43E6C-B8E0-0631-CF88-575B38A78E30}"/>
              </a:ext>
            </a:extLst>
          </p:cNvPr>
          <p:cNvSpPr/>
          <p:nvPr/>
        </p:nvSpPr>
        <p:spPr>
          <a:xfrm>
            <a:off x="2573669" y="2470693"/>
            <a:ext cx="1224000" cy="360000"/>
          </a:xfrm>
          <a:prstGeom prst="rect">
            <a:avLst/>
          </a:prstGeom>
          <a:solidFill>
            <a:schemeClr val="bg1"/>
          </a:solidFill>
          <a:ln>
            <a:solidFill>
              <a:schemeClr val="tx1">
                <a:alpha val="8000"/>
              </a:schemeClr>
            </a:solidFill>
          </a:ln>
          <a:effectLst>
            <a:outerShdw blurRad="317500" dist="50800" dir="5400000" sx="103000" sy="103000" algn="ctr" rotWithShape="0">
              <a:srgbClr val="000000">
                <a:alpha val="10000"/>
              </a:srgbClr>
            </a:outerShdw>
          </a:effectLst>
        </p:spPr>
        <p:txBody>
          <a:bodyPr lIns="0" tIns="91440" rIns="0" bIns="91440" rtlCol="0" anchor="ctr" anchorCtr="0"/>
          <a:lstStyle/>
          <a:p>
            <a:pPr lvl="0" algn="ctr" defTabSz="457200" fontAlgn="base">
              <a:spcBef>
                <a:spcPct val="0"/>
              </a:spcBef>
              <a:spcAft>
                <a:spcPct val="0"/>
              </a:spcAft>
              <a:buClr>
                <a:schemeClr val="tx1"/>
              </a:buClr>
              <a:buSzPct val="100000"/>
              <a:defRPr/>
            </a:pPr>
            <a:r>
              <a:rPr lang="en-US" sz="900" spc="50">
                <a:solidFill>
                  <a:schemeClr val="dk1"/>
                </a:solidFill>
                <a:latin typeface="Calibri" panose="020F0502020204030204" pitchFamily="34" charset="0"/>
                <a:cs typeface="Calibri" panose="020F0502020204030204" pitchFamily="34" charset="0"/>
              </a:rPr>
              <a:t>Authentication / Authorization</a:t>
            </a:r>
          </a:p>
        </p:txBody>
      </p:sp>
      <p:cxnSp>
        <p:nvCxnSpPr>
          <p:cNvPr id="1378" name="Straight Connector 1377">
            <a:extLst>
              <a:ext uri="{FF2B5EF4-FFF2-40B4-BE49-F238E27FC236}">
                <a16:creationId xmlns:a16="http://schemas.microsoft.com/office/drawing/2014/main" id="{767AF9EC-6809-AC7A-3829-15464D797B7C}"/>
              </a:ext>
            </a:extLst>
          </p:cNvPr>
          <p:cNvCxnSpPr>
            <a:cxnSpLocks/>
          </p:cNvCxnSpPr>
          <p:nvPr/>
        </p:nvCxnSpPr>
        <p:spPr>
          <a:xfrm>
            <a:off x="4225304" y="701348"/>
            <a:ext cx="38099" cy="5583144"/>
          </a:xfrm>
          <a:prstGeom prst="line">
            <a:avLst/>
          </a:prstGeom>
          <a:ln w="19050">
            <a:solidFill>
              <a:schemeClr val="bg1">
                <a:lumMod val="75000"/>
              </a:schemeClr>
            </a:solidFill>
            <a:prstDash val="dash"/>
          </a:ln>
        </p:spPr>
        <p:style>
          <a:lnRef idx="1">
            <a:schemeClr val="accent1"/>
          </a:lnRef>
          <a:fillRef idx="0">
            <a:schemeClr val="accent1"/>
          </a:fillRef>
          <a:effectRef idx="0">
            <a:schemeClr val="accent1"/>
          </a:effectRef>
          <a:fontRef idx="minor">
            <a:schemeClr val="tx1"/>
          </a:fontRef>
        </p:style>
      </p:cxnSp>
      <p:sp>
        <p:nvSpPr>
          <p:cNvPr id="1380" name="TextBox 1379">
            <a:extLst>
              <a:ext uri="{FF2B5EF4-FFF2-40B4-BE49-F238E27FC236}">
                <a16:creationId xmlns:a16="http://schemas.microsoft.com/office/drawing/2014/main" id="{73D0839A-521C-8DE0-F9B3-4259708D5614}"/>
              </a:ext>
            </a:extLst>
          </p:cNvPr>
          <p:cNvSpPr txBox="1"/>
          <p:nvPr/>
        </p:nvSpPr>
        <p:spPr>
          <a:xfrm rot="16200000">
            <a:off x="3879633" y="2298789"/>
            <a:ext cx="481844" cy="200055"/>
          </a:xfrm>
          <a:prstGeom prst="rect">
            <a:avLst/>
          </a:prstGeom>
          <a:solidFill>
            <a:schemeClr val="bg1"/>
          </a:solidFill>
        </p:spPr>
        <p:txBody>
          <a:bodyPr wrap="square" rtlCol="0">
            <a:spAutoFit/>
          </a:bodyPr>
          <a:lstStyle/>
          <a:p>
            <a:r>
              <a:rPr lang="en-US" sz="700" b="1">
                <a:latin typeface="Calibri" panose="020F0502020204030204" pitchFamily="34" charset="0"/>
                <a:cs typeface="Calibri" panose="020F0502020204030204" pitchFamily="34" charset="0"/>
              </a:rPr>
              <a:t>HTTPS</a:t>
            </a:r>
            <a:endParaRPr lang="en-US" sz="900" b="1">
              <a:latin typeface="Calibri" panose="020F0502020204030204" pitchFamily="34" charset="0"/>
              <a:cs typeface="Calibri" panose="020F0502020204030204" pitchFamily="34" charset="0"/>
            </a:endParaRPr>
          </a:p>
        </p:txBody>
      </p:sp>
      <p:sp>
        <p:nvSpPr>
          <p:cNvPr id="1384" name="Rectangle 1383">
            <a:extLst>
              <a:ext uri="{FF2B5EF4-FFF2-40B4-BE49-F238E27FC236}">
                <a16:creationId xmlns:a16="http://schemas.microsoft.com/office/drawing/2014/main" id="{0F207A50-4B4D-6D9A-8947-77075BE96556}"/>
              </a:ext>
            </a:extLst>
          </p:cNvPr>
          <p:cNvSpPr/>
          <p:nvPr/>
        </p:nvSpPr>
        <p:spPr>
          <a:xfrm>
            <a:off x="2553569" y="1510667"/>
            <a:ext cx="1224000" cy="360000"/>
          </a:xfrm>
          <a:prstGeom prst="rect">
            <a:avLst/>
          </a:prstGeom>
          <a:solidFill>
            <a:schemeClr val="bg1"/>
          </a:solidFill>
          <a:ln>
            <a:solidFill>
              <a:schemeClr val="tx1">
                <a:alpha val="8000"/>
              </a:schemeClr>
            </a:solidFill>
          </a:ln>
          <a:effectLst>
            <a:outerShdw blurRad="317500" dist="50800" dir="5400000" sx="103000" sy="103000" algn="ctr" rotWithShape="0">
              <a:srgbClr val="000000">
                <a:alpha val="10000"/>
              </a:srgbClr>
            </a:outerShdw>
          </a:effectLst>
        </p:spPr>
        <p:txBody>
          <a:bodyPr lIns="0" tIns="91440" rIns="0" bIns="91440" rtlCol="0" anchor="ctr" anchorCtr="0"/>
          <a:lstStyle/>
          <a:p>
            <a:pPr lvl="0" algn="ctr" defTabSz="457200" fontAlgn="base">
              <a:spcBef>
                <a:spcPct val="0"/>
              </a:spcBef>
              <a:spcAft>
                <a:spcPct val="0"/>
              </a:spcAft>
              <a:buClr>
                <a:schemeClr val="tx1"/>
              </a:buClr>
              <a:buSzPct val="100000"/>
              <a:defRPr/>
            </a:pPr>
            <a:r>
              <a:rPr lang="en-US" sz="900" spc="50">
                <a:solidFill>
                  <a:schemeClr val="dk1"/>
                </a:solidFill>
                <a:latin typeface="Calibri" panose="020F0502020204030204" pitchFamily="34" charset="0"/>
                <a:cs typeface="Calibri" panose="020F0502020204030204" pitchFamily="34" charset="0"/>
              </a:rPr>
              <a:t>Library</a:t>
            </a:r>
          </a:p>
        </p:txBody>
      </p:sp>
      <p:sp>
        <p:nvSpPr>
          <p:cNvPr id="1402" name="Rectangle 1401">
            <a:extLst>
              <a:ext uri="{FF2B5EF4-FFF2-40B4-BE49-F238E27FC236}">
                <a16:creationId xmlns:a16="http://schemas.microsoft.com/office/drawing/2014/main" id="{ACC35D3A-0D26-ED77-0C67-63C0013EAF88}"/>
              </a:ext>
            </a:extLst>
          </p:cNvPr>
          <p:cNvSpPr/>
          <p:nvPr/>
        </p:nvSpPr>
        <p:spPr>
          <a:xfrm>
            <a:off x="1740829" y="2974204"/>
            <a:ext cx="1224000" cy="360000"/>
          </a:xfrm>
          <a:prstGeom prst="rect">
            <a:avLst/>
          </a:prstGeom>
          <a:solidFill>
            <a:schemeClr val="bg1"/>
          </a:solidFill>
          <a:ln>
            <a:noFill/>
          </a:ln>
          <a:effectLst>
            <a:outerShdw blurRad="317500" dist="50800" dir="5400000" sx="103000" sy="103000" algn="ctr" rotWithShape="0">
              <a:srgbClr val="000000">
                <a:alpha val="10000"/>
              </a:srgbClr>
            </a:outerShdw>
          </a:effectLst>
        </p:spPr>
        <p:txBody>
          <a:bodyPr lIns="0" tIns="91440" rIns="0" bIns="91440" rtlCol="0" anchor="ctr" anchorCtr="0"/>
          <a:lstStyle/>
          <a:p>
            <a:pPr lvl="0" algn="ctr" defTabSz="457200" fontAlgn="base">
              <a:spcBef>
                <a:spcPct val="0"/>
              </a:spcBef>
              <a:spcAft>
                <a:spcPct val="0"/>
              </a:spcAft>
              <a:buClr>
                <a:schemeClr val="tx1"/>
              </a:buClr>
              <a:buSzPct val="100000"/>
              <a:defRPr/>
            </a:pPr>
            <a:r>
              <a:rPr lang="en-US" sz="900" spc="50">
                <a:solidFill>
                  <a:schemeClr val="dk1"/>
                </a:solidFill>
                <a:latin typeface="Calibri" panose="020F0502020204030204" pitchFamily="34" charset="0"/>
                <a:cs typeface="Calibri" panose="020F0502020204030204" pitchFamily="34" charset="0"/>
              </a:rPr>
              <a:t>Services</a:t>
            </a:r>
          </a:p>
        </p:txBody>
      </p:sp>
      <p:sp>
        <p:nvSpPr>
          <p:cNvPr id="1404" name="Rectangle 1403">
            <a:extLst>
              <a:ext uri="{FF2B5EF4-FFF2-40B4-BE49-F238E27FC236}">
                <a16:creationId xmlns:a16="http://schemas.microsoft.com/office/drawing/2014/main" id="{58A59B7E-05DE-1973-CBDA-833E943A3847}"/>
              </a:ext>
            </a:extLst>
          </p:cNvPr>
          <p:cNvSpPr/>
          <p:nvPr/>
        </p:nvSpPr>
        <p:spPr>
          <a:xfrm>
            <a:off x="1101626" y="1510667"/>
            <a:ext cx="1224000" cy="360000"/>
          </a:xfrm>
          <a:prstGeom prst="rect">
            <a:avLst/>
          </a:prstGeom>
          <a:solidFill>
            <a:schemeClr val="bg1"/>
          </a:solidFill>
          <a:ln>
            <a:solidFill>
              <a:schemeClr val="tx1">
                <a:alpha val="8000"/>
              </a:schemeClr>
            </a:solidFill>
          </a:ln>
          <a:effectLst>
            <a:outerShdw blurRad="317500" dist="50800" dir="5400000" sx="103000" sy="103000" algn="ctr" rotWithShape="0">
              <a:srgbClr val="000000">
                <a:alpha val="10000"/>
              </a:srgbClr>
            </a:outerShdw>
          </a:effectLst>
        </p:spPr>
        <p:txBody>
          <a:bodyPr lIns="0" tIns="91440" rIns="0" bIns="91440" rtlCol="0" anchor="ctr" anchorCtr="0"/>
          <a:lstStyle/>
          <a:p>
            <a:pPr lvl="0" algn="ctr" defTabSz="457200" fontAlgn="base">
              <a:spcBef>
                <a:spcPct val="0"/>
              </a:spcBef>
              <a:spcAft>
                <a:spcPct val="0"/>
              </a:spcAft>
              <a:buClr>
                <a:schemeClr val="tx1"/>
              </a:buClr>
              <a:buSzPct val="100000"/>
              <a:defRPr/>
            </a:pPr>
            <a:r>
              <a:rPr lang="en-US" sz="900" spc="50">
                <a:solidFill>
                  <a:schemeClr val="dk1"/>
                </a:solidFill>
                <a:latin typeface="Calibri" panose="020F0502020204030204" pitchFamily="34" charset="0"/>
                <a:cs typeface="Calibri" panose="020F0502020204030204" pitchFamily="34" charset="0"/>
              </a:rPr>
              <a:t>Routing</a:t>
            </a:r>
          </a:p>
        </p:txBody>
      </p:sp>
      <p:grpSp>
        <p:nvGrpSpPr>
          <p:cNvPr id="90" name="Group 89">
            <a:extLst>
              <a:ext uri="{FF2B5EF4-FFF2-40B4-BE49-F238E27FC236}">
                <a16:creationId xmlns:a16="http://schemas.microsoft.com/office/drawing/2014/main" id="{0B0B8B8F-41A2-81E9-5F10-F92C26E7235E}"/>
              </a:ext>
            </a:extLst>
          </p:cNvPr>
          <p:cNvGrpSpPr/>
          <p:nvPr/>
        </p:nvGrpSpPr>
        <p:grpSpPr>
          <a:xfrm>
            <a:off x="1056770" y="3575177"/>
            <a:ext cx="2981269" cy="2256364"/>
            <a:chOff x="5438615" y="2960607"/>
            <a:chExt cx="2978584" cy="2907379"/>
          </a:xfrm>
        </p:grpSpPr>
        <p:sp>
          <p:nvSpPr>
            <p:cNvPr id="80" name="Rectangle 79">
              <a:extLst>
                <a:ext uri="{FF2B5EF4-FFF2-40B4-BE49-F238E27FC236}">
                  <a16:creationId xmlns:a16="http://schemas.microsoft.com/office/drawing/2014/main" id="{3B711784-6659-3EDE-21C9-601B24052572}"/>
                </a:ext>
              </a:extLst>
            </p:cNvPr>
            <p:cNvSpPr/>
            <p:nvPr/>
          </p:nvSpPr>
          <p:spPr>
            <a:xfrm>
              <a:off x="5438615" y="2960607"/>
              <a:ext cx="2978584" cy="2907379"/>
            </a:xfrm>
            <a:prstGeom prst="rect">
              <a:avLst/>
            </a:prstGeom>
            <a:solidFill>
              <a:schemeClr val="bg1"/>
            </a:solidFill>
            <a:ln>
              <a:solidFill>
                <a:schemeClr val="tx1">
                  <a:alpha val="8000"/>
                </a:schemeClr>
              </a:solidFill>
            </a:ln>
            <a:effectLst>
              <a:outerShdw blurRad="317500" dist="50800" dir="5400000" sx="103000" sy="103000" algn="ctr" rotWithShape="0">
                <a:srgbClr val="000000">
                  <a:alpha val="10000"/>
                </a:srgbClr>
              </a:outerShdw>
            </a:effectLst>
          </p:spPr>
          <p:txBody>
            <a:bodyPr lIns="0" tIns="91440" rIns="0" bIns="91440" rtlCol="0" anchor="ctr" anchorCtr="0"/>
            <a:lstStyle/>
            <a:p>
              <a:pPr algn="ctr" defTabSz="457200" fontAlgn="base">
                <a:spcBef>
                  <a:spcPct val="0"/>
                </a:spcBef>
                <a:spcAft>
                  <a:spcPct val="0"/>
                </a:spcAft>
                <a:buClr>
                  <a:schemeClr val="tx1"/>
                </a:buClr>
                <a:buSzPct val="100000"/>
              </a:pPr>
              <a:endParaRPr lang="en-US" sz="900" spc="50">
                <a:solidFill>
                  <a:schemeClr val="dk1"/>
                </a:solidFill>
                <a:latin typeface="Calibri" panose="020F0502020204030204" pitchFamily="34" charset="0"/>
                <a:cs typeface="Calibri" panose="020F0502020204030204" pitchFamily="34" charset="0"/>
              </a:endParaRPr>
            </a:p>
          </p:txBody>
        </p:sp>
        <p:sp>
          <p:nvSpPr>
            <p:cNvPr id="81" name="Rectangle 80">
              <a:extLst>
                <a:ext uri="{FF2B5EF4-FFF2-40B4-BE49-F238E27FC236}">
                  <a16:creationId xmlns:a16="http://schemas.microsoft.com/office/drawing/2014/main" id="{04AFC308-B824-1C9B-AC62-52644936E629}"/>
                </a:ext>
              </a:extLst>
            </p:cNvPr>
            <p:cNvSpPr/>
            <p:nvPr/>
          </p:nvSpPr>
          <p:spPr>
            <a:xfrm>
              <a:off x="5522561" y="3265982"/>
              <a:ext cx="1283374" cy="408668"/>
            </a:xfrm>
            <a:prstGeom prst="rect">
              <a:avLst/>
            </a:prstGeom>
            <a:solidFill>
              <a:schemeClr val="bg1"/>
            </a:solidFill>
            <a:ln>
              <a:solidFill>
                <a:schemeClr val="tx1">
                  <a:alpha val="8000"/>
                </a:schemeClr>
              </a:solidFill>
            </a:ln>
            <a:effectLst>
              <a:outerShdw blurRad="317500" dist="50800" dir="5400000" sx="103000" sy="103000" algn="ctr" rotWithShape="0">
                <a:srgbClr val="000000">
                  <a:alpha val="10000"/>
                </a:srgbClr>
              </a:outerShdw>
            </a:effectLst>
          </p:spPr>
          <p:txBody>
            <a:bodyPr lIns="0" tIns="91440" rIns="0" bIns="91440" rtlCol="0" anchor="ctr" anchorCtr="0"/>
            <a:lstStyle/>
            <a:p>
              <a:pPr algn="ctr" defTabSz="457200" fontAlgn="base">
                <a:spcBef>
                  <a:spcPct val="0"/>
                </a:spcBef>
                <a:spcAft>
                  <a:spcPct val="0"/>
                </a:spcAft>
                <a:buClr>
                  <a:schemeClr val="tx1"/>
                </a:buClr>
                <a:buSzPct val="100000"/>
              </a:pPr>
              <a:r>
                <a:rPr lang="en-IN" sz="900" spc="50">
                  <a:solidFill>
                    <a:schemeClr val="dk1"/>
                  </a:solidFill>
                  <a:latin typeface="Calibri" panose="020F0502020204030204" pitchFamily="34" charset="0"/>
                  <a:cs typeface="Calibri" panose="020F0502020204030204" pitchFamily="34" charset="0"/>
                </a:rPr>
                <a:t>Login Functionality</a:t>
              </a:r>
            </a:p>
          </p:txBody>
        </p:sp>
        <p:sp>
          <p:nvSpPr>
            <p:cNvPr id="82" name="Rectangle 81">
              <a:extLst>
                <a:ext uri="{FF2B5EF4-FFF2-40B4-BE49-F238E27FC236}">
                  <a16:creationId xmlns:a16="http://schemas.microsoft.com/office/drawing/2014/main" id="{92BAB381-FECD-9ACD-7BE5-432432BC1B67}"/>
                </a:ext>
              </a:extLst>
            </p:cNvPr>
            <p:cNvSpPr/>
            <p:nvPr/>
          </p:nvSpPr>
          <p:spPr>
            <a:xfrm>
              <a:off x="5522564" y="3795440"/>
              <a:ext cx="1281422" cy="408668"/>
            </a:xfrm>
            <a:prstGeom prst="rect">
              <a:avLst/>
            </a:prstGeom>
            <a:solidFill>
              <a:schemeClr val="bg1"/>
            </a:solidFill>
            <a:ln>
              <a:solidFill>
                <a:schemeClr val="tx1">
                  <a:alpha val="8000"/>
                </a:schemeClr>
              </a:solidFill>
            </a:ln>
            <a:effectLst>
              <a:outerShdw blurRad="317500" dist="50800" dir="5400000" sx="103000" sy="103000" algn="ctr" rotWithShape="0">
                <a:srgbClr val="000000">
                  <a:alpha val="10000"/>
                </a:srgbClr>
              </a:outerShdw>
            </a:effectLst>
          </p:spPr>
          <p:txBody>
            <a:bodyPr lIns="0" tIns="91440" rIns="0" bIns="91440" rtlCol="0" anchor="ctr" anchorCtr="0"/>
            <a:lstStyle/>
            <a:p>
              <a:pPr algn="ctr" defTabSz="457200" fontAlgn="base">
                <a:spcBef>
                  <a:spcPct val="0"/>
                </a:spcBef>
                <a:spcAft>
                  <a:spcPct val="0"/>
                </a:spcAft>
                <a:buClr>
                  <a:schemeClr val="tx1"/>
                </a:buClr>
                <a:buSzPct val="100000"/>
              </a:pPr>
              <a:r>
                <a:rPr lang="en-IN" sz="900" spc="50">
                  <a:solidFill>
                    <a:schemeClr val="dk1"/>
                  </a:solidFill>
                  <a:latin typeface="Calibri" panose="020F0502020204030204" pitchFamily="34" charset="0"/>
                  <a:cs typeface="Calibri" panose="020F0502020204030204" pitchFamily="34" charset="0"/>
                </a:rPr>
                <a:t>Search Functionality</a:t>
              </a:r>
            </a:p>
          </p:txBody>
        </p:sp>
        <p:sp>
          <p:nvSpPr>
            <p:cNvPr id="83" name="Rectangle 82">
              <a:extLst>
                <a:ext uri="{FF2B5EF4-FFF2-40B4-BE49-F238E27FC236}">
                  <a16:creationId xmlns:a16="http://schemas.microsoft.com/office/drawing/2014/main" id="{65D4E89C-B823-F929-D4E8-BE279E9167D6}"/>
                </a:ext>
              </a:extLst>
            </p:cNvPr>
            <p:cNvSpPr/>
            <p:nvPr/>
          </p:nvSpPr>
          <p:spPr>
            <a:xfrm>
              <a:off x="5532690" y="4326244"/>
              <a:ext cx="2770721" cy="408668"/>
            </a:xfrm>
            <a:prstGeom prst="rect">
              <a:avLst/>
            </a:prstGeom>
            <a:solidFill>
              <a:schemeClr val="bg1"/>
            </a:solidFill>
            <a:ln>
              <a:solidFill>
                <a:schemeClr val="tx1">
                  <a:alpha val="8000"/>
                </a:schemeClr>
              </a:solidFill>
            </a:ln>
            <a:effectLst>
              <a:outerShdw blurRad="317500" dist="50800" dir="5400000" sx="103000" sy="103000" algn="ctr" rotWithShape="0">
                <a:srgbClr val="000000">
                  <a:alpha val="10000"/>
                </a:srgbClr>
              </a:outerShdw>
            </a:effectLst>
          </p:spPr>
          <p:txBody>
            <a:bodyPr lIns="0" tIns="91440" rIns="0" bIns="91440" rtlCol="0" anchor="ctr" anchorCtr="0"/>
            <a:lstStyle/>
            <a:p>
              <a:pPr algn="ctr" defTabSz="457200" fontAlgn="base">
                <a:spcBef>
                  <a:spcPct val="0"/>
                </a:spcBef>
                <a:spcAft>
                  <a:spcPct val="0"/>
                </a:spcAft>
                <a:buClr>
                  <a:schemeClr val="tx1"/>
                </a:buClr>
                <a:buSzPct val="100000"/>
              </a:pPr>
              <a:r>
                <a:rPr lang="en-IN" sz="900" spc="50">
                  <a:solidFill>
                    <a:schemeClr val="dk1"/>
                  </a:solidFill>
                  <a:latin typeface="Calibri" panose="020F0502020204030204" pitchFamily="34" charset="0"/>
                  <a:cs typeface="Calibri" panose="020F0502020204030204" pitchFamily="34" charset="0"/>
                </a:rPr>
                <a:t>Information (profile) Display</a:t>
              </a:r>
            </a:p>
          </p:txBody>
        </p:sp>
        <p:sp>
          <p:nvSpPr>
            <p:cNvPr id="84" name="Rectangle 83">
              <a:extLst>
                <a:ext uri="{FF2B5EF4-FFF2-40B4-BE49-F238E27FC236}">
                  <a16:creationId xmlns:a16="http://schemas.microsoft.com/office/drawing/2014/main" id="{57BBD33F-FA35-6C04-1C60-B202F0917D87}"/>
                </a:ext>
              </a:extLst>
            </p:cNvPr>
            <p:cNvSpPr/>
            <p:nvPr/>
          </p:nvSpPr>
          <p:spPr>
            <a:xfrm>
              <a:off x="6827349" y="3265982"/>
              <a:ext cx="1483628" cy="408668"/>
            </a:xfrm>
            <a:prstGeom prst="rect">
              <a:avLst/>
            </a:prstGeom>
            <a:solidFill>
              <a:schemeClr val="bg1"/>
            </a:solidFill>
            <a:ln>
              <a:solidFill>
                <a:schemeClr val="tx1">
                  <a:alpha val="8000"/>
                </a:schemeClr>
              </a:solidFill>
            </a:ln>
            <a:effectLst>
              <a:outerShdw blurRad="317500" dist="50800" dir="5400000" sx="103000" sy="103000" algn="ctr" rotWithShape="0">
                <a:srgbClr val="000000">
                  <a:alpha val="10000"/>
                </a:srgbClr>
              </a:outerShdw>
            </a:effectLst>
          </p:spPr>
          <p:txBody>
            <a:bodyPr lIns="0" tIns="91440" rIns="0" bIns="91440" rtlCol="0" anchor="ctr" anchorCtr="0"/>
            <a:lstStyle/>
            <a:p>
              <a:pPr algn="ctr" defTabSz="457200" fontAlgn="base">
                <a:spcBef>
                  <a:spcPct val="0"/>
                </a:spcBef>
                <a:spcAft>
                  <a:spcPct val="0"/>
                </a:spcAft>
                <a:buClr>
                  <a:schemeClr val="tx1"/>
                </a:buClr>
                <a:buSzPct val="100000"/>
              </a:pPr>
              <a:r>
                <a:rPr lang="en-IN" sz="900" spc="50">
                  <a:solidFill>
                    <a:schemeClr val="dk1"/>
                  </a:solidFill>
                  <a:latin typeface="Calibri" panose="020F0502020204030204" pitchFamily="34" charset="0"/>
                  <a:cs typeface="Calibri" panose="020F0502020204030204" pitchFamily="34" charset="0"/>
                </a:rPr>
                <a:t>Modules(n)</a:t>
              </a:r>
              <a:endParaRPr lang="en-US" sz="900" spc="50">
                <a:solidFill>
                  <a:schemeClr val="dk1"/>
                </a:solidFill>
                <a:latin typeface="Calibri" panose="020F0502020204030204" pitchFamily="34" charset="0"/>
                <a:cs typeface="Calibri" panose="020F0502020204030204" pitchFamily="34" charset="0"/>
              </a:endParaRPr>
            </a:p>
          </p:txBody>
        </p:sp>
        <p:sp>
          <p:nvSpPr>
            <p:cNvPr id="85" name="Rectangle 84">
              <a:extLst>
                <a:ext uri="{FF2B5EF4-FFF2-40B4-BE49-F238E27FC236}">
                  <a16:creationId xmlns:a16="http://schemas.microsoft.com/office/drawing/2014/main" id="{973158A6-BA6E-98AE-5992-78086DFC1215}"/>
                </a:ext>
              </a:extLst>
            </p:cNvPr>
            <p:cNvSpPr/>
            <p:nvPr/>
          </p:nvSpPr>
          <p:spPr>
            <a:xfrm>
              <a:off x="6827349" y="3795440"/>
              <a:ext cx="1483628" cy="408668"/>
            </a:xfrm>
            <a:prstGeom prst="rect">
              <a:avLst/>
            </a:prstGeom>
            <a:solidFill>
              <a:schemeClr val="bg1"/>
            </a:solidFill>
            <a:ln>
              <a:solidFill>
                <a:schemeClr val="tx1">
                  <a:alpha val="8000"/>
                </a:schemeClr>
              </a:solidFill>
            </a:ln>
            <a:effectLst>
              <a:outerShdw blurRad="317500" dist="50800" dir="5400000" sx="103000" sy="103000" algn="ctr" rotWithShape="0">
                <a:srgbClr val="000000">
                  <a:alpha val="10000"/>
                </a:srgbClr>
              </a:outerShdw>
            </a:effectLst>
          </p:spPr>
          <p:txBody>
            <a:bodyPr lIns="0" tIns="91440" rIns="0" bIns="91440" rtlCol="0" anchor="ctr" anchorCtr="0"/>
            <a:lstStyle/>
            <a:p>
              <a:pPr algn="ctr" defTabSz="457200" fontAlgn="base">
                <a:spcBef>
                  <a:spcPct val="0"/>
                </a:spcBef>
                <a:spcAft>
                  <a:spcPct val="0"/>
                </a:spcAft>
                <a:buClr>
                  <a:schemeClr val="tx1"/>
                </a:buClr>
                <a:buSzPct val="100000"/>
              </a:pPr>
              <a:r>
                <a:rPr lang="en-IN" sz="900" spc="50">
                  <a:solidFill>
                    <a:schemeClr val="dk1"/>
                  </a:solidFill>
                  <a:latin typeface="Calibri" panose="020F0502020204030204" pitchFamily="34" charset="0"/>
                  <a:cs typeface="Calibri" panose="020F0502020204030204" pitchFamily="34" charset="0"/>
                </a:rPr>
                <a:t>Reporting and Data Export</a:t>
              </a:r>
              <a:endParaRPr lang="en-US" sz="900" spc="50">
                <a:solidFill>
                  <a:schemeClr val="dk1"/>
                </a:solidFill>
                <a:latin typeface="Calibri" panose="020F0502020204030204" pitchFamily="34" charset="0"/>
                <a:cs typeface="Calibri" panose="020F0502020204030204" pitchFamily="34" charset="0"/>
              </a:endParaRPr>
            </a:p>
          </p:txBody>
        </p:sp>
        <p:sp>
          <p:nvSpPr>
            <p:cNvPr id="87" name="Rectangle 86">
              <a:extLst>
                <a:ext uri="{FF2B5EF4-FFF2-40B4-BE49-F238E27FC236}">
                  <a16:creationId xmlns:a16="http://schemas.microsoft.com/office/drawing/2014/main" id="{59CF6246-AACC-C667-36D7-D419EA8D0315}"/>
                </a:ext>
              </a:extLst>
            </p:cNvPr>
            <p:cNvSpPr/>
            <p:nvPr/>
          </p:nvSpPr>
          <p:spPr>
            <a:xfrm>
              <a:off x="5519813" y="4806378"/>
              <a:ext cx="2783599" cy="408668"/>
            </a:xfrm>
            <a:prstGeom prst="rect">
              <a:avLst/>
            </a:prstGeom>
            <a:solidFill>
              <a:srgbClr val="00B0F0"/>
            </a:solidFill>
            <a:ln>
              <a:solidFill>
                <a:schemeClr val="tx1">
                  <a:alpha val="8000"/>
                </a:schemeClr>
              </a:solidFill>
            </a:ln>
            <a:effectLst>
              <a:outerShdw blurRad="317500" dist="50800" dir="5400000" sx="103000" sy="103000" algn="ctr" rotWithShape="0">
                <a:srgbClr val="000000">
                  <a:alpha val="10000"/>
                </a:srgbClr>
              </a:outerShdw>
            </a:effectLst>
          </p:spPr>
          <p:txBody>
            <a:bodyPr lIns="0" tIns="91440" rIns="0" bIns="91440" rtlCol="0" anchor="ctr" anchorCtr="0"/>
            <a:lstStyle/>
            <a:p>
              <a:pPr algn="ctr" defTabSz="457200" fontAlgn="base">
                <a:spcBef>
                  <a:spcPct val="0"/>
                </a:spcBef>
                <a:spcAft>
                  <a:spcPct val="0"/>
                </a:spcAft>
                <a:buClr>
                  <a:schemeClr val="tx1"/>
                </a:buClr>
                <a:buSzPct val="100000"/>
              </a:pPr>
              <a:r>
                <a:rPr lang="en-IN" sz="900" spc="50">
                  <a:solidFill>
                    <a:schemeClr val="bg1"/>
                  </a:solidFill>
                  <a:latin typeface="Calibri" panose="020F0502020204030204" pitchFamily="34" charset="0"/>
                  <a:cs typeface="Calibri" panose="020F0502020204030204" pitchFamily="34" charset="0"/>
                </a:rPr>
                <a:t>User Specific Views</a:t>
              </a:r>
            </a:p>
          </p:txBody>
        </p:sp>
        <p:sp>
          <p:nvSpPr>
            <p:cNvPr id="89" name="Rectangle 88">
              <a:extLst>
                <a:ext uri="{FF2B5EF4-FFF2-40B4-BE49-F238E27FC236}">
                  <a16:creationId xmlns:a16="http://schemas.microsoft.com/office/drawing/2014/main" id="{6C0C790C-BA29-BF57-4918-AE51EA5D6E16}"/>
                </a:ext>
              </a:extLst>
            </p:cNvPr>
            <p:cNvSpPr/>
            <p:nvPr/>
          </p:nvSpPr>
          <p:spPr>
            <a:xfrm>
              <a:off x="5522564" y="5307853"/>
              <a:ext cx="2784472" cy="408668"/>
            </a:xfrm>
            <a:prstGeom prst="rect">
              <a:avLst/>
            </a:prstGeom>
            <a:solidFill>
              <a:srgbClr val="00B0F0"/>
            </a:solidFill>
            <a:ln>
              <a:solidFill>
                <a:schemeClr val="tx1">
                  <a:alpha val="8000"/>
                </a:schemeClr>
              </a:solidFill>
            </a:ln>
            <a:effectLst>
              <a:outerShdw blurRad="317500" dist="50800" dir="5400000" sx="103000" sy="103000" algn="ctr" rotWithShape="0">
                <a:srgbClr val="000000">
                  <a:alpha val="10000"/>
                </a:srgbClr>
              </a:outerShdw>
            </a:effectLst>
          </p:spPr>
          <p:txBody>
            <a:bodyPr lIns="0" tIns="91440" rIns="0" bIns="91440" rtlCol="0" anchor="ctr" anchorCtr="0"/>
            <a:lstStyle/>
            <a:p>
              <a:pPr algn="ctr" defTabSz="457200" fontAlgn="base">
                <a:spcBef>
                  <a:spcPct val="0"/>
                </a:spcBef>
                <a:spcAft>
                  <a:spcPct val="0"/>
                </a:spcAft>
                <a:buClr>
                  <a:schemeClr val="tx1"/>
                </a:buClr>
                <a:buSzPct val="100000"/>
              </a:pPr>
              <a:r>
                <a:rPr lang="en-IN" sz="900" spc="50">
                  <a:solidFill>
                    <a:schemeClr val="bg1"/>
                  </a:solidFill>
                  <a:latin typeface="Calibri" panose="020F0502020204030204" pitchFamily="34" charset="0"/>
                  <a:cs typeface="Calibri" panose="020F0502020204030204" pitchFamily="34" charset="0"/>
                </a:rPr>
                <a:t>GPT- Chatbot </a:t>
              </a:r>
            </a:p>
          </p:txBody>
        </p:sp>
      </p:grpSp>
      <p:sp>
        <p:nvSpPr>
          <p:cNvPr id="95" name="TextBox 94">
            <a:extLst>
              <a:ext uri="{FF2B5EF4-FFF2-40B4-BE49-F238E27FC236}">
                <a16:creationId xmlns:a16="http://schemas.microsoft.com/office/drawing/2014/main" id="{5C0F139F-EAF5-CFC0-F25A-97811A34C781}"/>
              </a:ext>
            </a:extLst>
          </p:cNvPr>
          <p:cNvSpPr txBox="1"/>
          <p:nvPr/>
        </p:nvSpPr>
        <p:spPr>
          <a:xfrm>
            <a:off x="1120545" y="3438823"/>
            <a:ext cx="982835" cy="261610"/>
          </a:xfrm>
          <a:prstGeom prst="rect">
            <a:avLst/>
          </a:prstGeom>
          <a:solidFill>
            <a:schemeClr val="bg1"/>
          </a:solidFill>
          <a:ln>
            <a:solidFill>
              <a:schemeClr val="tx1">
                <a:alpha val="8000"/>
              </a:schemeClr>
            </a:solidFill>
          </a:ln>
          <a:effectLst>
            <a:outerShdw blurRad="317500" dist="50800" dir="5400000" sx="103000" sy="103000" algn="ctr" rotWithShape="0">
              <a:srgbClr val="000000">
                <a:alpha val="10000"/>
              </a:srgbClr>
            </a:outerShdw>
          </a:effectLst>
        </p:spPr>
        <p:txBody>
          <a:bodyPr lIns="0" tIns="91440" rIns="0" bIns="91440" rtlCol="0" anchor="ctr" anchorCtr="0"/>
          <a:lstStyle>
            <a:defPPr>
              <a:defRPr lang="en-US"/>
            </a:defPPr>
            <a:lvl1pPr lvl="0" algn="ctr" defTabSz="457200" fontAlgn="base">
              <a:spcBef>
                <a:spcPct val="0"/>
              </a:spcBef>
              <a:spcAft>
                <a:spcPct val="0"/>
              </a:spcAft>
              <a:buClr>
                <a:schemeClr val="tx1"/>
              </a:buClr>
              <a:buSzPct val="100000"/>
              <a:defRPr sz="900" spc="50">
                <a:solidFill>
                  <a:schemeClr val="dk1"/>
                </a:solidFill>
                <a:latin typeface="Calibri" panose="020F0502020204030204" pitchFamily="34" charset="0"/>
                <a:cs typeface="Calibri" panose="020F0502020204030204" pitchFamily="34" charset="0"/>
              </a:defRPr>
            </a:lvl1pPr>
          </a:lstStyle>
          <a:p>
            <a:r>
              <a:rPr lang="en-US"/>
              <a:t>Modules</a:t>
            </a:r>
          </a:p>
        </p:txBody>
      </p:sp>
      <p:cxnSp>
        <p:nvCxnSpPr>
          <p:cNvPr id="1426" name="Straight Connector 1425">
            <a:extLst>
              <a:ext uri="{FF2B5EF4-FFF2-40B4-BE49-F238E27FC236}">
                <a16:creationId xmlns:a16="http://schemas.microsoft.com/office/drawing/2014/main" id="{5DA74F8A-66D1-5CBA-91A5-B8F0F2418F78}"/>
              </a:ext>
            </a:extLst>
          </p:cNvPr>
          <p:cNvCxnSpPr>
            <a:cxnSpLocks/>
          </p:cNvCxnSpPr>
          <p:nvPr/>
        </p:nvCxnSpPr>
        <p:spPr>
          <a:xfrm flipH="1">
            <a:off x="10099467" y="676095"/>
            <a:ext cx="18794" cy="5555387"/>
          </a:xfrm>
          <a:prstGeom prst="line">
            <a:avLst/>
          </a:prstGeom>
          <a:ln w="19050">
            <a:solidFill>
              <a:schemeClr val="bg1">
                <a:lumMod val="75000"/>
              </a:schemeClr>
            </a:solidFill>
            <a:prstDash val="dash"/>
          </a:ln>
        </p:spPr>
        <p:style>
          <a:lnRef idx="1">
            <a:schemeClr val="accent1"/>
          </a:lnRef>
          <a:fillRef idx="0">
            <a:schemeClr val="accent1"/>
          </a:fillRef>
          <a:effectRef idx="0">
            <a:schemeClr val="accent1"/>
          </a:effectRef>
          <a:fontRef idx="minor">
            <a:schemeClr val="tx1"/>
          </a:fontRef>
        </p:style>
      </p:cxnSp>
      <p:sp>
        <p:nvSpPr>
          <p:cNvPr id="1427" name="Rectangle 1426">
            <a:extLst>
              <a:ext uri="{FF2B5EF4-FFF2-40B4-BE49-F238E27FC236}">
                <a16:creationId xmlns:a16="http://schemas.microsoft.com/office/drawing/2014/main" id="{0110F6BB-F164-8895-6E42-50974992FF64}"/>
              </a:ext>
            </a:extLst>
          </p:cNvPr>
          <p:cNvSpPr/>
          <p:nvPr/>
        </p:nvSpPr>
        <p:spPr>
          <a:xfrm>
            <a:off x="4416771" y="805829"/>
            <a:ext cx="856397" cy="5405798"/>
          </a:xfrm>
          <a:prstGeom prst="rect">
            <a:avLst/>
          </a:prstGeom>
          <a:solidFill>
            <a:schemeClr val="bg1"/>
          </a:solidFill>
          <a:ln>
            <a:solidFill>
              <a:schemeClr val="tx1">
                <a:alpha val="8000"/>
              </a:schemeClr>
            </a:solidFill>
          </a:ln>
          <a:effectLst>
            <a:outerShdw blurRad="317500" dist="50800" dir="5400000" sx="103000" sy="103000" algn="ctr" rotWithShape="0">
              <a:srgbClr val="000000">
                <a:alpha val="10000"/>
              </a:srgbClr>
            </a:outerShdw>
          </a:effectLst>
        </p:spPr>
        <p:txBody>
          <a:bodyPr vert="horz" lIns="91440" tIns="91440" rIns="0" bIns="91440" rtlCol="0" anchor="t" anchorCtr="0">
            <a:noAutofit/>
          </a:bodyPr>
          <a:lstStyle/>
          <a:p>
            <a:pPr algn="ctr"/>
            <a:endParaRPr lang="en-US" sz="900">
              <a:latin typeface="Calibri" panose="020F0502020204030204" pitchFamily="34" charset="0"/>
              <a:cs typeface="Calibri" panose="020F0502020204030204" pitchFamily="34" charset="0"/>
            </a:endParaRPr>
          </a:p>
        </p:txBody>
      </p:sp>
      <p:sp>
        <p:nvSpPr>
          <p:cNvPr id="1428" name="Rectangle 1427">
            <a:extLst>
              <a:ext uri="{FF2B5EF4-FFF2-40B4-BE49-F238E27FC236}">
                <a16:creationId xmlns:a16="http://schemas.microsoft.com/office/drawing/2014/main" id="{E429218A-8104-CE46-8123-DD3D97684AD4}"/>
              </a:ext>
            </a:extLst>
          </p:cNvPr>
          <p:cNvSpPr/>
          <p:nvPr/>
        </p:nvSpPr>
        <p:spPr>
          <a:xfrm>
            <a:off x="5585832" y="821192"/>
            <a:ext cx="3492847" cy="1902987"/>
          </a:xfrm>
          <a:prstGeom prst="rect">
            <a:avLst/>
          </a:prstGeom>
          <a:solidFill>
            <a:schemeClr val="bg1"/>
          </a:solidFill>
          <a:ln>
            <a:solidFill>
              <a:schemeClr val="tx1">
                <a:alpha val="8000"/>
              </a:schemeClr>
            </a:solidFill>
          </a:ln>
          <a:effectLst>
            <a:outerShdw blurRad="317500" dist="50800" dir="5400000" sx="103000" sy="103000" algn="ctr" rotWithShape="0">
              <a:srgbClr val="000000">
                <a:alpha val="10000"/>
              </a:srgbClr>
            </a:outerShdw>
          </a:effectLst>
        </p:spPr>
        <p:txBody>
          <a:bodyPr rot="0" spcFirstLastPara="0" vertOverflow="overflow" horzOverflow="overflow" vert="horz" wrap="square" lIns="91440" tIns="91440" rIns="0" bIns="91440" numCol="1" spcCol="0" rtlCol="0" fromWordArt="0" anchor="t" anchorCtr="0" forceAA="0" compatLnSpc="1">
            <a:prstTxWarp prst="textNoShape">
              <a:avLst/>
            </a:prstTxWarp>
            <a:noAutofit/>
          </a:bodyPr>
          <a:lstStyle/>
          <a:p>
            <a:pPr algn="ctr"/>
            <a:r>
              <a:rPr lang="en-US" sz="900" b="1">
                <a:latin typeface="Calibri"/>
                <a:cs typeface="Calibri"/>
              </a:rPr>
              <a:t> REST / GRAPHQL / GRPC - API</a:t>
            </a:r>
          </a:p>
          <a:p>
            <a:pPr algn="ctr"/>
            <a:endParaRPr lang="en-US" sz="900">
              <a:latin typeface="Calibri" panose="020F0502020204030204" pitchFamily="34" charset="0"/>
              <a:cs typeface="Calibri" panose="020F0502020204030204" pitchFamily="34" charset="0"/>
            </a:endParaRPr>
          </a:p>
        </p:txBody>
      </p:sp>
      <p:sp>
        <p:nvSpPr>
          <p:cNvPr id="1429" name="Rectangle 1428">
            <a:extLst>
              <a:ext uri="{FF2B5EF4-FFF2-40B4-BE49-F238E27FC236}">
                <a16:creationId xmlns:a16="http://schemas.microsoft.com/office/drawing/2014/main" id="{39891A91-B5DC-4D16-13E4-F26379542116}"/>
              </a:ext>
            </a:extLst>
          </p:cNvPr>
          <p:cNvSpPr/>
          <p:nvPr/>
        </p:nvSpPr>
        <p:spPr>
          <a:xfrm rot="16200000">
            <a:off x="3833942" y="3821795"/>
            <a:ext cx="2101924" cy="630675"/>
          </a:xfrm>
          <a:prstGeom prst="rect">
            <a:avLst/>
          </a:prstGeom>
          <a:solidFill>
            <a:schemeClr val="bg1"/>
          </a:solidFill>
          <a:ln>
            <a:solidFill>
              <a:schemeClr val="tx1">
                <a:alpha val="8000"/>
              </a:schemeClr>
            </a:solidFill>
          </a:ln>
          <a:effectLst>
            <a:outerShdw blurRad="317500" dist="50800" dir="5400000" sx="103000" sy="103000" algn="ctr" rotWithShape="0">
              <a:srgbClr val="000000">
                <a:alpha val="10000"/>
              </a:srgbClr>
            </a:outerShdw>
          </a:effectLst>
        </p:spPr>
        <p:txBody>
          <a:bodyPr lIns="0" tIns="91440" rIns="0" bIns="91440" rtlCol="0" anchor="ctr" anchorCtr="0"/>
          <a:lstStyle/>
          <a:p>
            <a:pPr algn="ctr" defTabSz="457200" fontAlgn="base">
              <a:spcBef>
                <a:spcPct val="0"/>
              </a:spcBef>
              <a:spcAft>
                <a:spcPct val="0"/>
              </a:spcAft>
              <a:buClr>
                <a:schemeClr val="tx1"/>
              </a:buClr>
              <a:buSzPct val="100000"/>
            </a:pPr>
            <a:r>
              <a:rPr lang="en-US" sz="900" spc="50">
                <a:latin typeface="Calibri" panose="020F0502020204030204" pitchFamily="34" charset="0"/>
                <a:cs typeface="Calibri" panose="020F0502020204030204" pitchFamily="34" charset="0"/>
              </a:rPr>
              <a:t>Identity </a:t>
            </a:r>
          </a:p>
          <a:p>
            <a:pPr algn="ctr" defTabSz="457200" fontAlgn="base">
              <a:spcBef>
                <a:spcPct val="0"/>
              </a:spcBef>
              <a:spcAft>
                <a:spcPct val="0"/>
              </a:spcAft>
              <a:buClr>
                <a:schemeClr val="tx1"/>
              </a:buClr>
              <a:buSzPct val="100000"/>
            </a:pPr>
            <a:r>
              <a:rPr lang="en-US" sz="900" spc="50">
                <a:latin typeface="Calibri" panose="020F0502020204030204" pitchFamily="34" charset="0"/>
                <a:cs typeface="Calibri" panose="020F0502020204030204" pitchFamily="34" charset="0"/>
              </a:rPr>
              <a:t>Provider</a:t>
            </a:r>
          </a:p>
        </p:txBody>
      </p:sp>
      <p:sp>
        <p:nvSpPr>
          <p:cNvPr id="1430" name="Rectangle 1429">
            <a:extLst>
              <a:ext uri="{FF2B5EF4-FFF2-40B4-BE49-F238E27FC236}">
                <a16:creationId xmlns:a16="http://schemas.microsoft.com/office/drawing/2014/main" id="{C685F1B1-6F7F-7C59-BFFF-89164FD152BF}"/>
              </a:ext>
            </a:extLst>
          </p:cNvPr>
          <p:cNvSpPr/>
          <p:nvPr/>
        </p:nvSpPr>
        <p:spPr>
          <a:xfrm rot="16200000">
            <a:off x="4037874" y="1567256"/>
            <a:ext cx="1680799" cy="633046"/>
          </a:xfrm>
          <a:prstGeom prst="rect">
            <a:avLst/>
          </a:prstGeom>
          <a:solidFill>
            <a:schemeClr val="bg1"/>
          </a:solidFill>
          <a:ln>
            <a:solidFill>
              <a:schemeClr val="tx1">
                <a:alpha val="8000"/>
              </a:schemeClr>
            </a:solidFill>
          </a:ln>
          <a:effectLst>
            <a:outerShdw blurRad="317500" dist="50800" dir="5400000" sx="103000" sy="103000" algn="ctr" rotWithShape="0">
              <a:srgbClr val="000000">
                <a:alpha val="10000"/>
              </a:srgbClr>
            </a:outerShdw>
          </a:effectLst>
        </p:spPr>
        <p:txBody>
          <a:bodyPr lIns="0" tIns="91440" rIns="0" bIns="91440" rtlCol="0" anchor="ctr" anchorCtr="0"/>
          <a:lstStyle/>
          <a:p>
            <a:pPr algn="ctr" defTabSz="457200" fontAlgn="base">
              <a:spcBef>
                <a:spcPct val="0"/>
              </a:spcBef>
              <a:spcAft>
                <a:spcPct val="0"/>
              </a:spcAft>
              <a:buClr>
                <a:schemeClr val="tx1"/>
              </a:buClr>
              <a:buSzPct val="100000"/>
            </a:pPr>
            <a:r>
              <a:rPr lang="en-US" sz="900" spc="50">
                <a:latin typeface="Calibri" panose="020F0502020204030204" pitchFamily="34" charset="0"/>
                <a:cs typeface="Calibri" panose="020F0502020204030204" pitchFamily="34" charset="0"/>
              </a:rPr>
              <a:t>API </a:t>
            </a:r>
          </a:p>
          <a:p>
            <a:pPr algn="ctr" defTabSz="457200" fontAlgn="base">
              <a:spcBef>
                <a:spcPct val="0"/>
              </a:spcBef>
              <a:spcAft>
                <a:spcPct val="0"/>
              </a:spcAft>
              <a:buClr>
                <a:schemeClr val="tx1"/>
              </a:buClr>
              <a:buSzPct val="100000"/>
            </a:pPr>
            <a:r>
              <a:rPr lang="en-US" sz="900" spc="50">
                <a:latin typeface="Calibri" panose="020F0502020204030204" pitchFamily="34" charset="0"/>
                <a:cs typeface="Calibri" panose="020F0502020204030204" pitchFamily="34" charset="0"/>
              </a:rPr>
              <a:t>Gateway</a:t>
            </a:r>
          </a:p>
        </p:txBody>
      </p:sp>
      <p:pic>
        <p:nvPicPr>
          <p:cNvPr id="1432" name="Picture 6" descr="aws icon, iam icon">
            <a:extLst>
              <a:ext uri="{FF2B5EF4-FFF2-40B4-BE49-F238E27FC236}">
                <a16:creationId xmlns:a16="http://schemas.microsoft.com/office/drawing/2014/main" id="{31F17101-58AA-A9CE-080C-8C6C27831FD6}"/>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r="43479"/>
          <a:stretch/>
        </p:blipFill>
        <p:spPr bwMode="auto">
          <a:xfrm>
            <a:off x="4795494" y="4610848"/>
            <a:ext cx="192928" cy="341335"/>
          </a:xfrm>
          <a:prstGeom prst="rect">
            <a:avLst/>
          </a:prstGeom>
          <a:solidFill>
            <a:schemeClr val="bg1"/>
          </a:solidFill>
        </p:spPr>
      </p:pic>
      <p:pic>
        <p:nvPicPr>
          <p:cNvPr id="1433" name="Picture 8" descr="Test and monitor your API Gateway endpoints with Assertible : Assertible">
            <a:extLst>
              <a:ext uri="{FF2B5EF4-FFF2-40B4-BE49-F238E27FC236}">
                <a16:creationId xmlns:a16="http://schemas.microsoft.com/office/drawing/2014/main" id="{67F3C3C2-6F04-2354-399F-835A56D21B19}"/>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724137" y="1194273"/>
            <a:ext cx="333052" cy="333052"/>
          </a:xfrm>
          <a:prstGeom prst="rect">
            <a:avLst/>
          </a:prstGeom>
          <a:noFill/>
          <a:extLst>
            <a:ext uri="{909E8E84-426E-40DD-AFC4-6F175D3DCCD1}">
              <a14:hiddenFill xmlns:a14="http://schemas.microsoft.com/office/drawing/2010/main">
                <a:solidFill>
                  <a:srgbClr val="FFFFFF"/>
                </a:solidFill>
              </a14:hiddenFill>
            </a:ext>
          </a:extLst>
        </p:spPr>
      </p:pic>
      <p:cxnSp>
        <p:nvCxnSpPr>
          <p:cNvPr id="1434" name="Straight Arrow Connector 1433">
            <a:extLst>
              <a:ext uri="{FF2B5EF4-FFF2-40B4-BE49-F238E27FC236}">
                <a16:creationId xmlns:a16="http://schemas.microsoft.com/office/drawing/2014/main" id="{ED7BE1CB-DBAA-CB43-6E0B-C60C1C8BEF99}"/>
              </a:ext>
            </a:extLst>
          </p:cNvPr>
          <p:cNvCxnSpPr>
            <a:cxnSpLocks/>
          </p:cNvCxnSpPr>
          <p:nvPr/>
        </p:nvCxnSpPr>
        <p:spPr>
          <a:xfrm>
            <a:off x="5280050" y="960429"/>
            <a:ext cx="356953" cy="5442"/>
          </a:xfrm>
          <a:prstGeom prst="straightConnector1">
            <a:avLst/>
          </a:prstGeom>
          <a:ln w="25400">
            <a:solidFill>
              <a:srgbClr val="C00000"/>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435" name="Straight Arrow Connector 1434">
            <a:extLst>
              <a:ext uri="{FF2B5EF4-FFF2-40B4-BE49-F238E27FC236}">
                <a16:creationId xmlns:a16="http://schemas.microsoft.com/office/drawing/2014/main" id="{F17CD886-BB38-CC48-749A-61FADB5964CD}"/>
              </a:ext>
            </a:extLst>
          </p:cNvPr>
          <p:cNvCxnSpPr>
            <a:cxnSpLocks/>
          </p:cNvCxnSpPr>
          <p:nvPr/>
        </p:nvCxnSpPr>
        <p:spPr>
          <a:xfrm>
            <a:off x="4418288" y="730190"/>
            <a:ext cx="1028132" cy="4551"/>
          </a:xfrm>
          <a:prstGeom prst="straightConnector1">
            <a:avLst/>
          </a:prstGeom>
          <a:ln w="28575">
            <a:solidFill>
              <a:schemeClr val="bg1">
                <a:lumMod val="65000"/>
              </a:schemeClr>
            </a:solidFill>
            <a:prstDash val="sysDot"/>
          </a:ln>
        </p:spPr>
        <p:style>
          <a:lnRef idx="3">
            <a:schemeClr val="accent3"/>
          </a:lnRef>
          <a:fillRef idx="0">
            <a:schemeClr val="accent3"/>
          </a:fillRef>
          <a:effectRef idx="2">
            <a:schemeClr val="accent3"/>
          </a:effectRef>
          <a:fontRef idx="minor">
            <a:schemeClr val="tx1"/>
          </a:fontRef>
        </p:style>
      </p:cxnSp>
      <p:sp>
        <p:nvSpPr>
          <p:cNvPr id="1436" name="TextBox 1435">
            <a:extLst>
              <a:ext uri="{FF2B5EF4-FFF2-40B4-BE49-F238E27FC236}">
                <a16:creationId xmlns:a16="http://schemas.microsoft.com/office/drawing/2014/main" id="{3A1ED947-B243-A86C-F233-60E08BB21FFF}"/>
              </a:ext>
            </a:extLst>
          </p:cNvPr>
          <p:cNvSpPr txBox="1"/>
          <p:nvPr/>
        </p:nvSpPr>
        <p:spPr>
          <a:xfrm>
            <a:off x="4523152" y="414687"/>
            <a:ext cx="1084144" cy="276999"/>
          </a:xfrm>
          <a:prstGeom prst="rect">
            <a:avLst/>
          </a:prstGeom>
          <a:solidFill>
            <a:schemeClr val="bg1"/>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b="1">
                <a:solidFill>
                  <a:srgbClr val="595959"/>
                </a:solidFill>
                <a:latin typeface="Calibri"/>
                <a:cs typeface="Arial"/>
              </a:rPr>
              <a:t>API Gateway</a:t>
            </a:r>
            <a:endParaRPr lang="en-US" sz="1200" b="1">
              <a:solidFill>
                <a:srgbClr val="595959"/>
              </a:solidFill>
              <a:latin typeface="Calibri"/>
              <a:cs typeface="Calibri"/>
            </a:endParaRPr>
          </a:p>
        </p:txBody>
      </p:sp>
      <p:sp>
        <p:nvSpPr>
          <p:cNvPr id="1437" name="Rectangle 1436">
            <a:extLst>
              <a:ext uri="{FF2B5EF4-FFF2-40B4-BE49-F238E27FC236}">
                <a16:creationId xmlns:a16="http://schemas.microsoft.com/office/drawing/2014/main" id="{B4C3A84F-7DF0-8AA3-8428-DD0FA9D559F0}"/>
              </a:ext>
            </a:extLst>
          </p:cNvPr>
          <p:cNvSpPr/>
          <p:nvPr/>
        </p:nvSpPr>
        <p:spPr>
          <a:xfrm>
            <a:off x="5658425" y="1142954"/>
            <a:ext cx="1285291" cy="302419"/>
          </a:xfrm>
          <a:prstGeom prst="rect">
            <a:avLst/>
          </a:prstGeom>
          <a:solidFill>
            <a:schemeClr val="bg1">
              <a:lumMod val="95000"/>
            </a:schemeClr>
          </a:solidFill>
          <a:ln>
            <a:solidFill>
              <a:schemeClr val="tx1">
                <a:alpha val="8000"/>
              </a:schemeClr>
            </a:solidFill>
          </a:ln>
          <a:effectLst>
            <a:outerShdw blurRad="317500" dist="50800" dir="5400000" sx="103000" sy="103000" algn="ctr" rotWithShape="0">
              <a:srgbClr val="000000">
                <a:alpha val="10000"/>
              </a:srgbClr>
            </a:outerShdw>
          </a:effectLst>
        </p:spPr>
        <p:txBody>
          <a:bodyPr lIns="0" tIns="91440" rIns="0" bIns="91440" rtlCol="0" anchor="ctr" anchorCtr="0"/>
          <a:lstStyle/>
          <a:p>
            <a:pPr lvl="0" algn="ctr" defTabSz="457200" fontAlgn="base">
              <a:spcBef>
                <a:spcPct val="0"/>
              </a:spcBef>
              <a:spcAft>
                <a:spcPct val="0"/>
              </a:spcAft>
              <a:buClr>
                <a:schemeClr val="tx1"/>
              </a:buClr>
              <a:buSzPct val="100000"/>
              <a:defRPr/>
            </a:pPr>
            <a:r>
              <a:rPr lang="en-IN" sz="900" b="1" i="0">
                <a:effectLst/>
                <a:latin typeface="Söhne"/>
              </a:rPr>
              <a:t>AI Model Microservice</a:t>
            </a:r>
            <a:endParaRPr lang="en-US" sz="900" spc="50">
              <a:latin typeface="Calibri" panose="020F0502020204030204" pitchFamily="34" charset="0"/>
              <a:cs typeface="Calibri" panose="020F0502020204030204" pitchFamily="34" charset="0"/>
            </a:endParaRPr>
          </a:p>
        </p:txBody>
      </p:sp>
      <p:sp>
        <p:nvSpPr>
          <p:cNvPr id="1440" name="Rectangle 1439">
            <a:extLst>
              <a:ext uri="{FF2B5EF4-FFF2-40B4-BE49-F238E27FC236}">
                <a16:creationId xmlns:a16="http://schemas.microsoft.com/office/drawing/2014/main" id="{52CBAB60-7C45-1502-BEAD-CDE209590F2A}"/>
              </a:ext>
            </a:extLst>
          </p:cNvPr>
          <p:cNvSpPr/>
          <p:nvPr/>
        </p:nvSpPr>
        <p:spPr>
          <a:xfrm>
            <a:off x="7101229" y="2319483"/>
            <a:ext cx="1725223" cy="302419"/>
          </a:xfrm>
          <a:prstGeom prst="rect">
            <a:avLst/>
          </a:prstGeom>
          <a:solidFill>
            <a:schemeClr val="bg1">
              <a:lumMod val="95000"/>
            </a:schemeClr>
          </a:solidFill>
          <a:ln>
            <a:solidFill>
              <a:schemeClr val="tx1">
                <a:lumMod val="50000"/>
                <a:lumOff val="50000"/>
              </a:schemeClr>
            </a:solidFill>
            <a:prstDash val="sysDot"/>
            <a:headEnd type="arrow" w="med" len="sm"/>
            <a:tailEnd type="triangle" w="lg" len="med"/>
          </a:ln>
        </p:spPr>
        <p:style>
          <a:lnRef idx="2">
            <a:schemeClr val="dk1"/>
          </a:lnRef>
          <a:fillRef idx="1">
            <a:schemeClr val="lt1"/>
          </a:fillRef>
          <a:effectRef idx="0">
            <a:schemeClr val="dk1"/>
          </a:effectRef>
          <a:fontRef idx="minor">
            <a:schemeClr val="dk1"/>
          </a:fontRef>
        </p:style>
        <p:txBody>
          <a:bodyPr lIns="0" tIns="91440" rIns="0" bIns="91440" rtlCol="0" anchor="ctr" anchorCtr="0"/>
          <a:lstStyle/>
          <a:p>
            <a:pPr lvl="0" algn="ctr" defTabSz="457200" fontAlgn="base">
              <a:spcBef>
                <a:spcPct val="0"/>
              </a:spcBef>
              <a:spcAft>
                <a:spcPct val="0"/>
              </a:spcAft>
              <a:buClr>
                <a:schemeClr val="tx1"/>
              </a:buClr>
              <a:buSzPct val="100000"/>
              <a:defRPr/>
            </a:pPr>
            <a:r>
              <a:rPr lang="en-US" sz="900" spc="50">
                <a:latin typeface="Calibri" panose="020F0502020204030204" pitchFamily="34" charset="0"/>
                <a:cs typeface="Calibri" panose="020F0502020204030204" pitchFamily="34" charset="0"/>
              </a:rPr>
              <a:t>Wrappers/ Helper/ Utilities</a:t>
            </a:r>
          </a:p>
        </p:txBody>
      </p:sp>
      <p:sp>
        <p:nvSpPr>
          <p:cNvPr id="1441" name="TextBox 1440">
            <a:extLst>
              <a:ext uri="{FF2B5EF4-FFF2-40B4-BE49-F238E27FC236}">
                <a16:creationId xmlns:a16="http://schemas.microsoft.com/office/drawing/2014/main" id="{BF2CA9B6-4B23-29F4-A610-5394DF78CC34}"/>
              </a:ext>
            </a:extLst>
          </p:cNvPr>
          <p:cNvSpPr txBox="1"/>
          <p:nvPr/>
        </p:nvSpPr>
        <p:spPr>
          <a:xfrm>
            <a:off x="6422954" y="2900792"/>
            <a:ext cx="1314439" cy="344772"/>
          </a:xfrm>
          <a:prstGeom prst="rect">
            <a:avLst/>
          </a:prstGeom>
          <a:solidFill>
            <a:schemeClr val="bg1"/>
          </a:solidFill>
          <a:ln>
            <a:solidFill>
              <a:schemeClr val="bg1">
                <a:lumMod val="75000"/>
              </a:schemeClr>
            </a:solidFill>
          </a:ln>
          <a:effectLst>
            <a:outerShdw blurRad="76200" dir="18900000" sy="23000" kx="-1200000" algn="bl" rotWithShape="0">
              <a:schemeClr val="bg1">
                <a:alpha val="20000"/>
              </a:schemeClr>
            </a:outerShdw>
          </a:effectLst>
        </p:spPr>
        <p:txBody>
          <a:bodyPr wrap="square" rtlCol="0" anchor="ctr" anchorCtr="0">
            <a:noAutofit/>
          </a:bodyPr>
          <a:lstStyle>
            <a:defPPr>
              <a:defRPr lang="en-US"/>
            </a:defPPr>
            <a:lvl1pPr algn="ctr">
              <a:defRPr sz="800" b="1">
                <a:solidFill>
                  <a:schemeClr val="bg1">
                    <a:lumMod val="50000"/>
                  </a:schemeClr>
                </a:solidFill>
                <a:latin typeface="Gill Sans MT" panose="020B0502020104020203" pitchFamily="34" charset="0"/>
                <a:cs typeface="Segoe UI" panose="020B0502040204020203" pitchFamily="34" charset="0"/>
              </a:defRPr>
            </a:lvl1pPr>
          </a:lstStyle>
          <a:p>
            <a:pPr algn="l" defTabSz="914341">
              <a:defRPr/>
            </a:pPr>
            <a:r>
              <a:rPr lang="en-IN" sz="900">
                <a:solidFill>
                  <a:schemeClr val="tx1"/>
                </a:solidFill>
                <a:latin typeface="Calibri" panose="020F0502020204030204" pitchFamily="34" charset="0"/>
                <a:cs typeface="Calibri" panose="020F0502020204030204" pitchFamily="34" charset="0"/>
              </a:rPr>
              <a:t>CONNECTOR</a:t>
            </a:r>
          </a:p>
        </p:txBody>
      </p:sp>
      <p:sp>
        <p:nvSpPr>
          <p:cNvPr id="1442" name="Rectangle 1441">
            <a:extLst>
              <a:ext uri="{FF2B5EF4-FFF2-40B4-BE49-F238E27FC236}">
                <a16:creationId xmlns:a16="http://schemas.microsoft.com/office/drawing/2014/main" id="{62C58AA6-D2E3-8AFA-E0C3-731E676586C9}"/>
              </a:ext>
            </a:extLst>
          </p:cNvPr>
          <p:cNvSpPr/>
          <p:nvPr/>
        </p:nvSpPr>
        <p:spPr>
          <a:xfrm>
            <a:off x="5642801" y="1514671"/>
            <a:ext cx="1316538" cy="302419"/>
          </a:xfrm>
          <a:prstGeom prst="rect">
            <a:avLst/>
          </a:prstGeom>
          <a:solidFill>
            <a:schemeClr val="bg1">
              <a:lumMod val="95000"/>
            </a:schemeClr>
          </a:solidFill>
          <a:ln>
            <a:solidFill>
              <a:schemeClr val="tx1">
                <a:alpha val="8000"/>
              </a:schemeClr>
            </a:solidFill>
          </a:ln>
          <a:effectLst>
            <a:outerShdw blurRad="317500" dist="50800" dir="5400000" sx="103000" sy="103000" algn="ctr" rotWithShape="0">
              <a:srgbClr val="000000">
                <a:alpha val="10000"/>
              </a:srgbClr>
            </a:outerShdw>
          </a:effectLst>
        </p:spPr>
        <p:txBody>
          <a:bodyPr lIns="0" tIns="91440" rIns="0" bIns="91440" rtlCol="0" anchor="ctr" anchorCtr="0"/>
          <a:lstStyle/>
          <a:p>
            <a:pPr lvl="0" algn="ctr" defTabSz="457200" fontAlgn="base">
              <a:spcBef>
                <a:spcPct val="0"/>
              </a:spcBef>
              <a:spcAft>
                <a:spcPct val="0"/>
              </a:spcAft>
              <a:buClr>
                <a:schemeClr val="tx1"/>
              </a:buClr>
              <a:buSzPct val="100000"/>
              <a:defRPr/>
            </a:pPr>
            <a:r>
              <a:rPr lang="en-US" sz="900" spc="50">
                <a:latin typeface="Calibri" panose="020F0502020204030204" pitchFamily="34" charset="0"/>
                <a:cs typeface="Calibri" panose="020F0502020204030204" pitchFamily="34" charset="0"/>
              </a:rPr>
              <a:t>Search Functionality API</a:t>
            </a:r>
          </a:p>
        </p:txBody>
      </p:sp>
      <p:cxnSp>
        <p:nvCxnSpPr>
          <p:cNvPr id="1443" name="Straight Connector 1442">
            <a:extLst>
              <a:ext uri="{FF2B5EF4-FFF2-40B4-BE49-F238E27FC236}">
                <a16:creationId xmlns:a16="http://schemas.microsoft.com/office/drawing/2014/main" id="{DB146E38-8ADE-80DD-0EC1-C69FFC911A57}"/>
              </a:ext>
            </a:extLst>
          </p:cNvPr>
          <p:cNvCxnSpPr>
            <a:cxnSpLocks/>
          </p:cNvCxnSpPr>
          <p:nvPr/>
        </p:nvCxnSpPr>
        <p:spPr>
          <a:xfrm flipH="1">
            <a:off x="5429416" y="683262"/>
            <a:ext cx="40808" cy="5563916"/>
          </a:xfrm>
          <a:prstGeom prst="line">
            <a:avLst/>
          </a:prstGeom>
          <a:ln w="19050">
            <a:solidFill>
              <a:schemeClr val="bg1">
                <a:lumMod val="75000"/>
              </a:schemeClr>
            </a:solidFill>
            <a:prstDash val="dash"/>
          </a:ln>
        </p:spPr>
        <p:style>
          <a:lnRef idx="1">
            <a:schemeClr val="accent1"/>
          </a:lnRef>
          <a:fillRef idx="0">
            <a:schemeClr val="accent1"/>
          </a:fillRef>
          <a:effectRef idx="0">
            <a:schemeClr val="accent1"/>
          </a:effectRef>
          <a:fontRef idx="minor">
            <a:schemeClr val="tx1"/>
          </a:fontRef>
        </p:style>
      </p:cxnSp>
      <p:sp>
        <p:nvSpPr>
          <p:cNvPr id="1444" name="Rectangle 1443">
            <a:extLst>
              <a:ext uri="{FF2B5EF4-FFF2-40B4-BE49-F238E27FC236}">
                <a16:creationId xmlns:a16="http://schemas.microsoft.com/office/drawing/2014/main" id="{A78ED167-6B37-5D6E-0881-E6041F54BD91}"/>
              </a:ext>
            </a:extLst>
          </p:cNvPr>
          <p:cNvSpPr/>
          <p:nvPr/>
        </p:nvSpPr>
        <p:spPr>
          <a:xfrm>
            <a:off x="5645464" y="1894772"/>
            <a:ext cx="1311213" cy="302419"/>
          </a:xfrm>
          <a:prstGeom prst="rect">
            <a:avLst/>
          </a:prstGeom>
          <a:solidFill>
            <a:schemeClr val="bg1">
              <a:lumMod val="95000"/>
            </a:schemeClr>
          </a:solidFill>
          <a:ln>
            <a:solidFill>
              <a:schemeClr val="tx1">
                <a:alpha val="8000"/>
              </a:schemeClr>
            </a:solidFill>
          </a:ln>
          <a:effectLst>
            <a:outerShdw blurRad="317500" dist="50800" dir="5400000" sx="103000" sy="103000" algn="ctr" rotWithShape="0">
              <a:srgbClr val="000000">
                <a:alpha val="10000"/>
              </a:srgbClr>
            </a:outerShdw>
          </a:effectLst>
        </p:spPr>
        <p:txBody>
          <a:bodyPr lIns="0" tIns="91440" rIns="0" bIns="91440" rtlCol="0" anchor="ctr" anchorCtr="0"/>
          <a:lstStyle/>
          <a:p>
            <a:pPr lvl="0" algn="ctr" defTabSz="457200" fontAlgn="base">
              <a:spcBef>
                <a:spcPct val="0"/>
              </a:spcBef>
              <a:spcAft>
                <a:spcPct val="0"/>
              </a:spcAft>
              <a:buClr>
                <a:schemeClr val="tx1"/>
              </a:buClr>
              <a:buSzPct val="100000"/>
              <a:defRPr/>
            </a:pPr>
            <a:r>
              <a:rPr lang="en-US" sz="900" spc="50">
                <a:latin typeface="Calibri" panose="020F0502020204030204" pitchFamily="34" charset="0"/>
                <a:cs typeface="Calibri" panose="020F0502020204030204" pitchFamily="34" charset="0"/>
              </a:rPr>
              <a:t>Information(Profile)</a:t>
            </a:r>
          </a:p>
        </p:txBody>
      </p:sp>
      <p:sp>
        <p:nvSpPr>
          <p:cNvPr id="1445" name="Rectangle 1444">
            <a:extLst>
              <a:ext uri="{FF2B5EF4-FFF2-40B4-BE49-F238E27FC236}">
                <a16:creationId xmlns:a16="http://schemas.microsoft.com/office/drawing/2014/main" id="{0D79774F-68D2-0503-1B10-F494E6528F59}"/>
              </a:ext>
            </a:extLst>
          </p:cNvPr>
          <p:cNvSpPr/>
          <p:nvPr/>
        </p:nvSpPr>
        <p:spPr>
          <a:xfrm>
            <a:off x="5654756" y="2319483"/>
            <a:ext cx="1311212" cy="302419"/>
          </a:xfrm>
          <a:prstGeom prst="rect">
            <a:avLst/>
          </a:prstGeom>
          <a:solidFill>
            <a:schemeClr val="bg1">
              <a:lumMod val="95000"/>
            </a:schemeClr>
          </a:solidFill>
          <a:ln>
            <a:solidFill>
              <a:schemeClr val="tx1">
                <a:alpha val="8000"/>
              </a:schemeClr>
            </a:solidFill>
          </a:ln>
          <a:effectLst>
            <a:outerShdw blurRad="317500" dist="50800" dir="5400000" sx="103000" sy="103000" algn="ctr" rotWithShape="0">
              <a:srgbClr val="000000">
                <a:alpha val="10000"/>
              </a:srgbClr>
            </a:outerShdw>
          </a:effectLst>
        </p:spPr>
        <p:txBody>
          <a:bodyPr lIns="0" tIns="91440" rIns="0" bIns="91440" rtlCol="0" anchor="ctr" anchorCtr="0"/>
          <a:lstStyle/>
          <a:p>
            <a:pPr lvl="0" algn="ctr" defTabSz="457200" fontAlgn="base">
              <a:spcBef>
                <a:spcPct val="0"/>
              </a:spcBef>
              <a:spcAft>
                <a:spcPct val="0"/>
              </a:spcAft>
              <a:buClr>
                <a:schemeClr val="tx1"/>
              </a:buClr>
              <a:buSzPct val="100000"/>
              <a:defRPr/>
            </a:pPr>
            <a:r>
              <a:rPr lang="en-IN" sz="900" b="1" i="0">
                <a:effectLst/>
                <a:latin typeface="Söhne"/>
              </a:rPr>
              <a:t>Insurance Verification Microservice</a:t>
            </a:r>
            <a:endParaRPr lang="en-US" sz="900" spc="50">
              <a:latin typeface="Calibri" panose="020F0502020204030204" pitchFamily="34" charset="0"/>
              <a:cs typeface="Calibri" panose="020F0502020204030204" pitchFamily="34" charset="0"/>
            </a:endParaRPr>
          </a:p>
        </p:txBody>
      </p:sp>
      <p:sp>
        <p:nvSpPr>
          <p:cNvPr id="1446" name="Rectangle 1445">
            <a:extLst>
              <a:ext uri="{FF2B5EF4-FFF2-40B4-BE49-F238E27FC236}">
                <a16:creationId xmlns:a16="http://schemas.microsoft.com/office/drawing/2014/main" id="{FD3910CF-D278-69E0-13CB-17D52055DF1F}"/>
              </a:ext>
            </a:extLst>
          </p:cNvPr>
          <p:cNvSpPr/>
          <p:nvPr/>
        </p:nvSpPr>
        <p:spPr>
          <a:xfrm>
            <a:off x="7097736" y="1142954"/>
            <a:ext cx="1732208" cy="302419"/>
          </a:xfrm>
          <a:prstGeom prst="rect">
            <a:avLst/>
          </a:prstGeom>
          <a:solidFill>
            <a:schemeClr val="bg1">
              <a:lumMod val="95000"/>
            </a:schemeClr>
          </a:solidFill>
          <a:ln>
            <a:solidFill>
              <a:schemeClr val="tx1">
                <a:alpha val="8000"/>
              </a:schemeClr>
            </a:solidFill>
          </a:ln>
          <a:effectLst>
            <a:outerShdw blurRad="317500" dist="50800" dir="5400000" sx="103000" sy="103000" algn="ctr" rotWithShape="0">
              <a:srgbClr val="000000">
                <a:alpha val="10000"/>
              </a:srgbClr>
            </a:outerShdw>
          </a:effectLst>
        </p:spPr>
        <p:txBody>
          <a:bodyPr lIns="0" tIns="91440" rIns="0" bIns="91440" rtlCol="0" anchor="ctr" anchorCtr="0"/>
          <a:lstStyle/>
          <a:p>
            <a:pPr lvl="0" algn="ctr" defTabSz="457200" fontAlgn="base">
              <a:spcBef>
                <a:spcPct val="0"/>
              </a:spcBef>
              <a:spcAft>
                <a:spcPct val="0"/>
              </a:spcAft>
              <a:buClr>
                <a:schemeClr val="tx1"/>
              </a:buClr>
              <a:buSzPct val="100000"/>
              <a:defRPr/>
            </a:pPr>
            <a:r>
              <a:rPr lang="en-US" sz="900" spc="50">
                <a:latin typeface="Calibri" panose="020F0502020204030204" pitchFamily="34" charset="0"/>
                <a:cs typeface="Calibri" panose="020F0502020204030204" pitchFamily="34" charset="0"/>
              </a:rPr>
              <a:t>User Access /Role Management</a:t>
            </a:r>
          </a:p>
        </p:txBody>
      </p:sp>
      <p:sp>
        <p:nvSpPr>
          <p:cNvPr id="1447" name="Rectangle 1446">
            <a:extLst>
              <a:ext uri="{FF2B5EF4-FFF2-40B4-BE49-F238E27FC236}">
                <a16:creationId xmlns:a16="http://schemas.microsoft.com/office/drawing/2014/main" id="{2BB738D4-DB25-8A97-C083-9991F10850C5}"/>
              </a:ext>
            </a:extLst>
          </p:cNvPr>
          <p:cNvSpPr/>
          <p:nvPr/>
        </p:nvSpPr>
        <p:spPr>
          <a:xfrm>
            <a:off x="7101229" y="1514671"/>
            <a:ext cx="1725223" cy="302419"/>
          </a:xfrm>
          <a:prstGeom prst="rect">
            <a:avLst/>
          </a:prstGeom>
          <a:solidFill>
            <a:schemeClr val="bg1">
              <a:lumMod val="95000"/>
            </a:schemeClr>
          </a:solidFill>
          <a:ln>
            <a:solidFill>
              <a:schemeClr val="tx1">
                <a:alpha val="8000"/>
              </a:schemeClr>
            </a:solidFill>
          </a:ln>
          <a:effectLst>
            <a:outerShdw blurRad="317500" dist="50800" dir="5400000" sx="103000" sy="103000" algn="ctr" rotWithShape="0">
              <a:srgbClr val="000000">
                <a:alpha val="10000"/>
              </a:srgbClr>
            </a:outerShdw>
          </a:effectLst>
        </p:spPr>
        <p:txBody>
          <a:bodyPr lIns="0" tIns="91440" rIns="0" bIns="91440" rtlCol="0" anchor="ctr" anchorCtr="0"/>
          <a:lstStyle/>
          <a:p>
            <a:pPr lvl="0" algn="ctr" defTabSz="457200" fontAlgn="base">
              <a:spcBef>
                <a:spcPct val="0"/>
              </a:spcBef>
              <a:spcAft>
                <a:spcPct val="0"/>
              </a:spcAft>
              <a:buClr>
                <a:schemeClr val="tx1"/>
              </a:buClr>
              <a:buSzPct val="100000"/>
              <a:defRPr/>
            </a:pPr>
            <a:r>
              <a:rPr lang="en-US" sz="900" spc="50">
                <a:latin typeface="Calibri" panose="020F0502020204030204" pitchFamily="34" charset="0"/>
                <a:cs typeface="Calibri" panose="020F0502020204030204" pitchFamily="34" charset="0"/>
              </a:rPr>
              <a:t>User Views</a:t>
            </a:r>
          </a:p>
        </p:txBody>
      </p:sp>
      <p:sp>
        <p:nvSpPr>
          <p:cNvPr id="1448" name="Rectangle 1447">
            <a:extLst>
              <a:ext uri="{FF2B5EF4-FFF2-40B4-BE49-F238E27FC236}">
                <a16:creationId xmlns:a16="http://schemas.microsoft.com/office/drawing/2014/main" id="{63F00ADA-69D2-2455-59A3-54AC2A421C57}"/>
              </a:ext>
            </a:extLst>
          </p:cNvPr>
          <p:cNvSpPr/>
          <p:nvPr/>
        </p:nvSpPr>
        <p:spPr>
          <a:xfrm>
            <a:off x="7097736" y="1894772"/>
            <a:ext cx="1732208" cy="302419"/>
          </a:xfrm>
          <a:prstGeom prst="rect">
            <a:avLst/>
          </a:prstGeom>
          <a:solidFill>
            <a:schemeClr val="bg1">
              <a:lumMod val="95000"/>
            </a:schemeClr>
          </a:solidFill>
          <a:ln>
            <a:solidFill>
              <a:schemeClr val="tx1">
                <a:alpha val="8000"/>
              </a:schemeClr>
            </a:solidFill>
          </a:ln>
          <a:effectLst>
            <a:outerShdw blurRad="317500" dist="50800" dir="5400000" sx="103000" sy="103000" algn="ctr" rotWithShape="0">
              <a:srgbClr val="000000">
                <a:alpha val="10000"/>
              </a:srgbClr>
            </a:outerShdw>
          </a:effectLst>
        </p:spPr>
        <p:txBody>
          <a:bodyPr lIns="0" tIns="91440" rIns="0" bIns="91440" rtlCol="0" anchor="ctr" anchorCtr="0"/>
          <a:lstStyle/>
          <a:p>
            <a:pPr lvl="0" algn="ctr" defTabSz="457200" fontAlgn="base">
              <a:spcBef>
                <a:spcPct val="0"/>
              </a:spcBef>
              <a:spcAft>
                <a:spcPct val="0"/>
              </a:spcAft>
              <a:buClr>
                <a:schemeClr val="tx1"/>
              </a:buClr>
              <a:buSzPct val="100000"/>
              <a:defRPr/>
            </a:pPr>
            <a:r>
              <a:rPr lang="en-US" sz="900" spc="50">
                <a:latin typeface="Calibri" panose="020F0502020204030204" pitchFamily="34" charset="0"/>
                <a:cs typeface="Calibri" panose="020F0502020204030204" pitchFamily="34" charset="0"/>
              </a:rPr>
              <a:t>Notification Services</a:t>
            </a:r>
          </a:p>
        </p:txBody>
      </p:sp>
      <p:cxnSp>
        <p:nvCxnSpPr>
          <p:cNvPr id="1449" name="Straight Arrow Connector 1448">
            <a:extLst>
              <a:ext uri="{FF2B5EF4-FFF2-40B4-BE49-F238E27FC236}">
                <a16:creationId xmlns:a16="http://schemas.microsoft.com/office/drawing/2014/main" id="{8C6878B3-1544-C286-FADE-57252CC54071}"/>
              </a:ext>
            </a:extLst>
          </p:cNvPr>
          <p:cNvCxnSpPr>
            <a:cxnSpLocks/>
          </p:cNvCxnSpPr>
          <p:nvPr/>
        </p:nvCxnSpPr>
        <p:spPr>
          <a:xfrm flipV="1">
            <a:off x="5541686" y="712271"/>
            <a:ext cx="4446376" cy="11215"/>
          </a:xfrm>
          <a:prstGeom prst="straightConnector1">
            <a:avLst/>
          </a:prstGeom>
          <a:ln w="28575">
            <a:solidFill>
              <a:schemeClr val="bg1">
                <a:lumMod val="65000"/>
              </a:schemeClr>
            </a:solidFill>
            <a:prstDash val="sysDot"/>
          </a:ln>
        </p:spPr>
        <p:style>
          <a:lnRef idx="3">
            <a:schemeClr val="accent3"/>
          </a:lnRef>
          <a:fillRef idx="0">
            <a:schemeClr val="accent3"/>
          </a:fillRef>
          <a:effectRef idx="2">
            <a:schemeClr val="accent3"/>
          </a:effectRef>
          <a:fontRef idx="minor">
            <a:schemeClr val="tx1"/>
          </a:fontRef>
        </p:style>
      </p:cxnSp>
      <p:sp>
        <p:nvSpPr>
          <p:cNvPr id="1451" name="TextBox 1450">
            <a:extLst>
              <a:ext uri="{FF2B5EF4-FFF2-40B4-BE49-F238E27FC236}">
                <a16:creationId xmlns:a16="http://schemas.microsoft.com/office/drawing/2014/main" id="{21D2C9AC-3B76-21FC-0925-6D1A3D52910F}"/>
              </a:ext>
            </a:extLst>
          </p:cNvPr>
          <p:cNvSpPr txBox="1"/>
          <p:nvPr/>
        </p:nvSpPr>
        <p:spPr>
          <a:xfrm>
            <a:off x="5996030" y="414687"/>
            <a:ext cx="1858182"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b="1">
                <a:solidFill>
                  <a:srgbClr val="595959"/>
                </a:solidFill>
                <a:latin typeface="Calibri"/>
                <a:cs typeface="Arial"/>
              </a:rPr>
              <a:t>Backend Microservices</a:t>
            </a:r>
            <a:endParaRPr lang="en-US" sz="1200" b="1">
              <a:solidFill>
                <a:srgbClr val="595959"/>
              </a:solidFill>
              <a:latin typeface="Calibri"/>
              <a:cs typeface="Calibri"/>
            </a:endParaRPr>
          </a:p>
        </p:txBody>
      </p:sp>
      <p:sp>
        <p:nvSpPr>
          <p:cNvPr id="1452" name="Rectangle 1451">
            <a:extLst>
              <a:ext uri="{FF2B5EF4-FFF2-40B4-BE49-F238E27FC236}">
                <a16:creationId xmlns:a16="http://schemas.microsoft.com/office/drawing/2014/main" id="{1293DD2C-CAB2-6FBD-7E52-2359C38E29DC}"/>
              </a:ext>
            </a:extLst>
          </p:cNvPr>
          <p:cNvSpPr/>
          <p:nvPr/>
        </p:nvSpPr>
        <p:spPr>
          <a:xfrm>
            <a:off x="4367026" y="5888845"/>
            <a:ext cx="1095827" cy="334993"/>
          </a:xfrm>
          <a:prstGeom prst="rect">
            <a:avLst/>
          </a:prstGeom>
          <a:noFill/>
          <a:ln>
            <a:noFill/>
          </a:ln>
          <a:effectLst>
            <a:outerShdw blurRad="317500" dist="50800" dir="5400000" sx="103000" sy="103000" algn="ctr" rotWithShape="0">
              <a:srgbClr val="000000">
                <a:alpha val="10000"/>
              </a:srgbClr>
            </a:outerShdw>
          </a:effectLst>
        </p:spPr>
        <p:txBody>
          <a:bodyPr lIns="0" tIns="91440" rIns="0" bIns="91440" rtlCol="0" anchor="ctr" anchorCtr="0"/>
          <a:lstStyle/>
          <a:p>
            <a:pPr lvl="0" algn="ctr" defTabSz="457200" fontAlgn="base">
              <a:spcBef>
                <a:spcPct val="0"/>
              </a:spcBef>
              <a:spcAft>
                <a:spcPct val="0"/>
              </a:spcAft>
              <a:buClr>
                <a:schemeClr val="tx1"/>
              </a:buClr>
              <a:buSzPct val="100000"/>
              <a:defRPr/>
            </a:pPr>
            <a:r>
              <a:rPr lang="en-US" sz="1000" b="1" spc="50">
                <a:solidFill>
                  <a:schemeClr val="dk1"/>
                </a:solidFill>
                <a:latin typeface="Calibri" panose="020F0502020204030204" pitchFamily="34" charset="0"/>
                <a:cs typeface="Calibri" panose="020F0502020204030204" pitchFamily="34" charset="0"/>
              </a:rPr>
              <a:t>Gateway</a:t>
            </a:r>
          </a:p>
        </p:txBody>
      </p:sp>
      <p:grpSp>
        <p:nvGrpSpPr>
          <p:cNvPr id="1454" name="Group 1453">
            <a:extLst>
              <a:ext uri="{FF2B5EF4-FFF2-40B4-BE49-F238E27FC236}">
                <a16:creationId xmlns:a16="http://schemas.microsoft.com/office/drawing/2014/main" id="{AA061C00-2A69-5AC6-2B02-72E26E2B38D2}"/>
              </a:ext>
            </a:extLst>
          </p:cNvPr>
          <p:cNvGrpSpPr/>
          <p:nvPr/>
        </p:nvGrpSpPr>
        <p:grpSpPr>
          <a:xfrm>
            <a:off x="5515072" y="3506998"/>
            <a:ext cx="2879801" cy="1993691"/>
            <a:chOff x="7298030" y="1083085"/>
            <a:chExt cx="3533696" cy="2416527"/>
          </a:xfrm>
        </p:grpSpPr>
        <p:sp>
          <p:nvSpPr>
            <p:cNvPr id="1456" name="Rectangle 1455">
              <a:extLst>
                <a:ext uri="{FF2B5EF4-FFF2-40B4-BE49-F238E27FC236}">
                  <a16:creationId xmlns:a16="http://schemas.microsoft.com/office/drawing/2014/main" id="{6898E4DC-CC08-E7BF-F944-D2B7FACEA0D4}"/>
                </a:ext>
              </a:extLst>
            </p:cNvPr>
            <p:cNvSpPr/>
            <p:nvPr/>
          </p:nvSpPr>
          <p:spPr>
            <a:xfrm>
              <a:off x="7298030" y="1083085"/>
              <a:ext cx="3533696" cy="2416527"/>
            </a:xfrm>
            <a:prstGeom prst="rect">
              <a:avLst/>
            </a:prstGeom>
            <a:solidFill>
              <a:schemeClr val="bg1"/>
            </a:solidFill>
            <a:ln>
              <a:solidFill>
                <a:schemeClr val="tx1">
                  <a:alpha val="8000"/>
                </a:schemeClr>
              </a:solidFill>
            </a:ln>
            <a:effectLst>
              <a:outerShdw blurRad="317500" dist="50800" dir="5400000" sx="103000" sy="103000" algn="ctr" rotWithShape="0">
                <a:srgbClr val="000000">
                  <a:alpha val="10000"/>
                </a:srgbClr>
              </a:outerShdw>
            </a:effectLst>
          </p:spPr>
          <p:txBody>
            <a:bodyPr vert="horz" lIns="0" tIns="91440" rIns="0" bIns="91440" rtlCol="0" anchor="t" anchorCtr="0"/>
            <a:lstStyle/>
            <a:p>
              <a:pPr lvl="0" algn="ctr" defTabSz="457200" fontAlgn="base">
                <a:spcBef>
                  <a:spcPct val="0"/>
                </a:spcBef>
                <a:spcAft>
                  <a:spcPct val="0"/>
                </a:spcAft>
                <a:buClr>
                  <a:schemeClr val="tx1"/>
                </a:buClr>
                <a:buSzPct val="100000"/>
                <a:defRPr/>
              </a:pPr>
              <a:endParaRPr lang="en-US">
                <a:cs typeface="Arial"/>
              </a:endParaRPr>
            </a:p>
          </p:txBody>
        </p:sp>
        <p:grpSp>
          <p:nvGrpSpPr>
            <p:cNvPr id="1457" name="Group 1456">
              <a:extLst>
                <a:ext uri="{FF2B5EF4-FFF2-40B4-BE49-F238E27FC236}">
                  <a16:creationId xmlns:a16="http://schemas.microsoft.com/office/drawing/2014/main" id="{14E4BA9E-7A33-B25B-47DB-8E18CDA6C185}"/>
                </a:ext>
              </a:extLst>
            </p:cNvPr>
            <p:cNvGrpSpPr/>
            <p:nvPr/>
          </p:nvGrpSpPr>
          <p:grpSpPr>
            <a:xfrm>
              <a:off x="7368700" y="1114968"/>
              <a:ext cx="3410190" cy="2272614"/>
              <a:chOff x="2705260" y="2733526"/>
              <a:chExt cx="3410190" cy="2272614"/>
            </a:xfrm>
          </p:grpSpPr>
          <p:pic>
            <p:nvPicPr>
              <p:cNvPr id="1458" name="Picture 2" descr="Text Generation icon">
                <a:extLst>
                  <a:ext uri="{FF2B5EF4-FFF2-40B4-BE49-F238E27FC236}">
                    <a16:creationId xmlns:a16="http://schemas.microsoft.com/office/drawing/2014/main" id="{FECD07BB-EA34-5A36-7E55-F7E4632A3703}"/>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788751" y="2791864"/>
                <a:ext cx="647700" cy="647700"/>
              </a:xfrm>
              <a:prstGeom prst="rect">
                <a:avLst/>
              </a:prstGeom>
              <a:noFill/>
              <a:extLst>
                <a:ext uri="{909E8E84-426E-40DD-AFC4-6F175D3DCCD1}">
                  <a14:hiddenFill xmlns:a14="http://schemas.microsoft.com/office/drawing/2010/main">
                    <a:solidFill>
                      <a:srgbClr val="FFFFFF"/>
                    </a:solidFill>
                  </a14:hiddenFill>
                </a:ext>
              </a:extLst>
            </p:spPr>
          </p:pic>
          <p:sp>
            <p:nvSpPr>
              <p:cNvPr id="1459" name="TextBox 1458">
                <a:extLst>
                  <a:ext uri="{FF2B5EF4-FFF2-40B4-BE49-F238E27FC236}">
                    <a16:creationId xmlns:a16="http://schemas.microsoft.com/office/drawing/2014/main" id="{64D9A9FF-2BB3-A5F6-FC39-D7F74E2DD99B}"/>
                  </a:ext>
                </a:extLst>
              </p:cNvPr>
              <p:cNvSpPr txBox="1"/>
              <p:nvPr/>
            </p:nvSpPr>
            <p:spPr>
              <a:xfrm>
                <a:off x="2705260" y="3436441"/>
                <a:ext cx="915968" cy="415047"/>
              </a:xfrm>
              <a:prstGeom prst="rect">
                <a:avLst/>
              </a:prstGeom>
              <a:solidFill>
                <a:schemeClr val="bg1"/>
              </a:solidFill>
              <a:ln>
                <a:solidFill>
                  <a:schemeClr val="tx1">
                    <a:alpha val="8000"/>
                  </a:schemeClr>
                </a:solidFill>
              </a:ln>
              <a:effectLst>
                <a:outerShdw blurRad="317500" dist="50800" dir="5400000" sx="103000" sy="103000" algn="ctr" rotWithShape="0">
                  <a:srgbClr val="000000">
                    <a:alpha val="10000"/>
                  </a:srgbClr>
                </a:outerShdw>
              </a:effectLst>
            </p:spPr>
            <p:txBody>
              <a:bodyPr lIns="0" tIns="91440" rIns="0" bIns="91440" rtlCol="0" anchor="ctr" anchorCtr="0"/>
              <a:lstStyle>
                <a:defPPr>
                  <a:defRPr lang="en-US"/>
                </a:defPPr>
                <a:lvl1pPr lvl="0" algn="ctr" defTabSz="457200" fontAlgn="base">
                  <a:spcBef>
                    <a:spcPct val="0"/>
                  </a:spcBef>
                  <a:spcAft>
                    <a:spcPct val="0"/>
                  </a:spcAft>
                  <a:buClr>
                    <a:schemeClr val="tx1"/>
                  </a:buClr>
                  <a:buSzPct val="100000"/>
                  <a:defRPr sz="900" spc="50">
                    <a:latin typeface="Calibri" panose="020F0502020204030204" pitchFamily="34" charset="0"/>
                    <a:cs typeface="Calibri" panose="020F0502020204030204"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a:t>Text </a:t>
                </a:r>
              </a:p>
              <a:p>
                <a:r>
                  <a:rPr lang="en-US"/>
                  <a:t>Generation</a:t>
                </a:r>
              </a:p>
            </p:txBody>
          </p:sp>
          <p:pic>
            <p:nvPicPr>
              <p:cNvPr id="1461" name="Picture 4" descr="Chatbots icon">
                <a:extLst>
                  <a:ext uri="{FF2B5EF4-FFF2-40B4-BE49-F238E27FC236}">
                    <a16:creationId xmlns:a16="http://schemas.microsoft.com/office/drawing/2014/main" id="{6F06F76A-2A7A-2C36-ED5E-639E5A535213}"/>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833316" y="2817145"/>
                <a:ext cx="647700" cy="647699"/>
              </a:xfrm>
              <a:prstGeom prst="rect">
                <a:avLst/>
              </a:prstGeom>
              <a:noFill/>
              <a:extLst>
                <a:ext uri="{909E8E84-426E-40DD-AFC4-6F175D3DCCD1}">
                  <a14:hiddenFill xmlns:a14="http://schemas.microsoft.com/office/drawing/2010/main">
                    <a:solidFill>
                      <a:srgbClr val="FFFFFF"/>
                    </a:solidFill>
                  </a14:hiddenFill>
                </a:ext>
              </a:extLst>
            </p:spPr>
          </p:pic>
          <p:sp>
            <p:nvSpPr>
              <p:cNvPr id="1464" name="TextBox 1463">
                <a:extLst>
                  <a:ext uri="{FF2B5EF4-FFF2-40B4-BE49-F238E27FC236}">
                    <a16:creationId xmlns:a16="http://schemas.microsoft.com/office/drawing/2014/main" id="{9184D5CD-8535-8210-81FC-99F55752E41C}"/>
                  </a:ext>
                </a:extLst>
              </p:cNvPr>
              <p:cNvSpPr txBox="1"/>
              <p:nvPr/>
            </p:nvSpPr>
            <p:spPr>
              <a:xfrm>
                <a:off x="3707522" y="3436441"/>
                <a:ext cx="1021081" cy="415042"/>
              </a:xfrm>
              <a:prstGeom prst="rect">
                <a:avLst/>
              </a:prstGeom>
              <a:solidFill>
                <a:schemeClr val="bg1"/>
              </a:solidFill>
              <a:ln>
                <a:solidFill>
                  <a:schemeClr val="tx1">
                    <a:alpha val="8000"/>
                  </a:schemeClr>
                </a:solidFill>
              </a:ln>
              <a:effectLst>
                <a:outerShdw blurRad="317500" dist="50800" dir="5400000" sx="103000" sy="103000" algn="ctr" rotWithShape="0">
                  <a:srgbClr val="000000">
                    <a:alpha val="10000"/>
                  </a:srgbClr>
                </a:outerShdw>
              </a:effectLst>
            </p:spPr>
            <p:txBody>
              <a:bodyPr lIns="0" tIns="91440" rIns="0" bIns="91440" rtlCol="0" anchor="ctr" anchorCtr="0"/>
              <a:lstStyle>
                <a:defPPr>
                  <a:defRPr lang="en-US"/>
                </a:defPPr>
                <a:lvl1pPr lvl="0" algn="ctr" defTabSz="457200" fontAlgn="base">
                  <a:spcBef>
                    <a:spcPct val="0"/>
                  </a:spcBef>
                  <a:spcAft>
                    <a:spcPct val="0"/>
                  </a:spcAft>
                  <a:buClr>
                    <a:schemeClr val="tx1"/>
                  </a:buClr>
                  <a:buSzPct val="100000"/>
                  <a:defRPr sz="900" spc="50">
                    <a:solidFill>
                      <a:schemeClr val="tx1"/>
                    </a:solidFill>
                    <a:latin typeface="Calibri" panose="020F0502020204030204" pitchFamily="34" charset="0"/>
                    <a:cs typeface="Calibri" panose="020F0502020204030204"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IN"/>
                  <a:t>Chatbots</a:t>
                </a:r>
                <a:endParaRPr lang="en-US"/>
              </a:p>
            </p:txBody>
          </p:sp>
          <p:pic>
            <p:nvPicPr>
              <p:cNvPr id="1465" name="Picture 6" descr="Search icon">
                <a:extLst>
                  <a:ext uri="{FF2B5EF4-FFF2-40B4-BE49-F238E27FC236}">
                    <a16:creationId xmlns:a16="http://schemas.microsoft.com/office/drawing/2014/main" id="{F8643784-BB8F-067A-BF43-0352DEA9E0BD}"/>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809476" y="3887006"/>
                <a:ext cx="647700" cy="647700"/>
              </a:xfrm>
              <a:prstGeom prst="rect">
                <a:avLst/>
              </a:prstGeom>
              <a:noFill/>
              <a:extLst>
                <a:ext uri="{909E8E84-426E-40DD-AFC4-6F175D3DCCD1}">
                  <a14:hiddenFill xmlns:a14="http://schemas.microsoft.com/office/drawing/2010/main">
                    <a:solidFill>
                      <a:srgbClr val="FFFFFF"/>
                    </a:solidFill>
                  </a14:hiddenFill>
                </a:ext>
              </a:extLst>
            </p:spPr>
          </p:pic>
          <p:sp>
            <p:nvSpPr>
              <p:cNvPr id="1466" name="TextBox 1465">
                <a:extLst>
                  <a:ext uri="{FF2B5EF4-FFF2-40B4-BE49-F238E27FC236}">
                    <a16:creationId xmlns:a16="http://schemas.microsoft.com/office/drawing/2014/main" id="{FF02EE96-01EC-3535-BA63-6D8EC1201E17}"/>
                  </a:ext>
                </a:extLst>
              </p:cNvPr>
              <p:cNvSpPr txBox="1"/>
              <p:nvPr/>
            </p:nvSpPr>
            <p:spPr>
              <a:xfrm>
                <a:off x="2727124" y="4591093"/>
                <a:ext cx="814070" cy="415043"/>
              </a:xfrm>
              <a:prstGeom prst="rect">
                <a:avLst/>
              </a:prstGeom>
              <a:solidFill>
                <a:schemeClr val="bg1"/>
              </a:solidFill>
              <a:ln>
                <a:solidFill>
                  <a:schemeClr val="tx1">
                    <a:alpha val="8000"/>
                  </a:schemeClr>
                </a:solidFill>
              </a:ln>
              <a:effectLst>
                <a:outerShdw blurRad="317500" dist="50800" dir="5400000" sx="103000" sy="103000" algn="ctr" rotWithShape="0">
                  <a:srgbClr val="000000">
                    <a:alpha val="10000"/>
                  </a:srgbClr>
                </a:outerShdw>
              </a:effectLst>
            </p:spPr>
            <p:txBody>
              <a:bodyPr lIns="0" tIns="91440" rIns="0" bIns="91440" rtlCol="0" anchor="ctr" anchorCtr="0"/>
              <a:lstStyle>
                <a:defPPr>
                  <a:defRPr lang="en-US"/>
                </a:defPPr>
                <a:lvl1pPr lvl="0" algn="ctr" defTabSz="457200" fontAlgn="base">
                  <a:spcBef>
                    <a:spcPct val="0"/>
                  </a:spcBef>
                  <a:spcAft>
                    <a:spcPct val="0"/>
                  </a:spcAft>
                  <a:buClr>
                    <a:schemeClr val="tx1"/>
                  </a:buClr>
                  <a:buSzPct val="100000"/>
                  <a:defRPr sz="900" spc="50">
                    <a:solidFill>
                      <a:schemeClr val="tx1"/>
                    </a:solidFill>
                    <a:latin typeface="Calibri" panose="020F0502020204030204" pitchFamily="34" charset="0"/>
                    <a:cs typeface="Calibri" panose="020F0502020204030204"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a:t>Search</a:t>
                </a:r>
              </a:p>
            </p:txBody>
          </p:sp>
          <p:pic>
            <p:nvPicPr>
              <p:cNvPr id="1467" name="Picture 8" descr="Text Summarization icon">
                <a:extLst>
                  <a:ext uri="{FF2B5EF4-FFF2-40B4-BE49-F238E27FC236}">
                    <a16:creationId xmlns:a16="http://schemas.microsoft.com/office/drawing/2014/main" id="{626816F1-6BAE-2B44-0097-7C26D25246B0}"/>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928918" y="3994185"/>
                <a:ext cx="647700" cy="647699"/>
              </a:xfrm>
              <a:prstGeom prst="rect">
                <a:avLst/>
              </a:prstGeom>
              <a:noFill/>
              <a:extLst>
                <a:ext uri="{909E8E84-426E-40DD-AFC4-6F175D3DCCD1}">
                  <a14:hiddenFill xmlns:a14="http://schemas.microsoft.com/office/drawing/2010/main">
                    <a:solidFill>
                      <a:srgbClr val="FFFFFF"/>
                    </a:solidFill>
                  </a14:hiddenFill>
                </a:ext>
              </a:extLst>
            </p:spPr>
          </p:pic>
          <p:sp>
            <p:nvSpPr>
              <p:cNvPr id="1468" name="TextBox 1467">
                <a:extLst>
                  <a:ext uri="{FF2B5EF4-FFF2-40B4-BE49-F238E27FC236}">
                    <a16:creationId xmlns:a16="http://schemas.microsoft.com/office/drawing/2014/main" id="{766D2451-6889-782A-290C-2245FEB2F703}"/>
                  </a:ext>
                </a:extLst>
              </p:cNvPr>
              <p:cNvSpPr txBox="1"/>
              <p:nvPr/>
            </p:nvSpPr>
            <p:spPr>
              <a:xfrm>
                <a:off x="3696335" y="4591093"/>
                <a:ext cx="1125116" cy="415047"/>
              </a:xfrm>
              <a:prstGeom prst="rect">
                <a:avLst/>
              </a:prstGeom>
              <a:solidFill>
                <a:schemeClr val="bg1"/>
              </a:solidFill>
              <a:ln>
                <a:solidFill>
                  <a:schemeClr val="tx1">
                    <a:alpha val="8000"/>
                  </a:schemeClr>
                </a:solidFill>
              </a:ln>
              <a:effectLst>
                <a:outerShdw blurRad="317500" dist="50800" dir="5400000" sx="103000" sy="103000" algn="ctr" rotWithShape="0">
                  <a:srgbClr val="000000">
                    <a:alpha val="10000"/>
                  </a:srgbClr>
                </a:outerShdw>
              </a:effectLst>
            </p:spPr>
            <p:txBody>
              <a:bodyPr lIns="0" tIns="91440" rIns="0" bIns="91440" rtlCol="0" anchor="ctr" anchorCtr="0"/>
              <a:lstStyle>
                <a:defPPr>
                  <a:defRPr lang="en-US"/>
                </a:defPPr>
                <a:lvl1pPr lvl="0" algn="ctr" defTabSz="457200" fontAlgn="base">
                  <a:spcBef>
                    <a:spcPct val="0"/>
                  </a:spcBef>
                  <a:spcAft>
                    <a:spcPct val="0"/>
                  </a:spcAft>
                  <a:buClr>
                    <a:schemeClr val="tx1"/>
                  </a:buClr>
                  <a:buSzPct val="100000"/>
                  <a:defRPr sz="900" spc="50">
                    <a:solidFill>
                      <a:schemeClr val="tx1"/>
                    </a:solidFill>
                    <a:latin typeface="Calibri" panose="020F0502020204030204" pitchFamily="34" charset="0"/>
                    <a:cs typeface="Calibri" panose="020F0502020204030204"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a:t>Text </a:t>
                </a:r>
              </a:p>
              <a:p>
                <a:r>
                  <a:rPr lang="en-US"/>
                  <a:t>Summarization</a:t>
                </a:r>
              </a:p>
            </p:txBody>
          </p:sp>
          <p:pic>
            <p:nvPicPr>
              <p:cNvPr id="1469" name="Picture 10" descr="Image Generation icon">
                <a:extLst>
                  <a:ext uri="{FF2B5EF4-FFF2-40B4-BE49-F238E27FC236}">
                    <a16:creationId xmlns:a16="http://schemas.microsoft.com/office/drawing/2014/main" id="{DBA28526-3E02-0E34-5A8F-070548258F25}"/>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046536" y="2733526"/>
                <a:ext cx="647700" cy="647699"/>
              </a:xfrm>
              <a:prstGeom prst="rect">
                <a:avLst/>
              </a:prstGeom>
              <a:noFill/>
              <a:extLst>
                <a:ext uri="{909E8E84-426E-40DD-AFC4-6F175D3DCCD1}">
                  <a14:hiddenFill xmlns:a14="http://schemas.microsoft.com/office/drawing/2010/main">
                    <a:solidFill>
                      <a:srgbClr val="FFFFFF"/>
                    </a:solidFill>
                  </a14:hiddenFill>
                </a:ext>
              </a:extLst>
            </p:spPr>
          </p:pic>
          <p:sp>
            <p:nvSpPr>
              <p:cNvPr id="1470" name="TextBox 1469">
                <a:extLst>
                  <a:ext uri="{FF2B5EF4-FFF2-40B4-BE49-F238E27FC236}">
                    <a16:creationId xmlns:a16="http://schemas.microsoft.com/office/drawing/2014/main" id="{EC864A58-F141-3431-7670-6E1EDAC25CE4}"/>
                  </a:ext>
                </a:extLst>
              </p:cNvPr>
              <p:cNvSpPr txBox="1"/>
              <p:nvPr/>
            </p:nvSpPr>
            <p:spPr>
              <a:xfrm>
                <a:off x="4851458" y="3436441"/>
                <a:ext cx="1226360" cy="415047"/>
              </a:xfrm>
              <a:prstGeom prst="rect">
                <a:avLst/>
              </a:prstGeom>
              <a:solidFill>
                <a:schemeClr val="bg1"/>
              </a:solidFill>
              <a:ln>
                <a:solidFill>
                  <a:schemeClr val="tx1">
                    <a:alpha val="8000"/>
                  </a:schemeClr>
                </a:solidFill>
              </a:ln>
              <a:effectLst>
                <a:outerShdw blurRad="317500" dist="50800" dir="5400000" sx="103000" sy="103000" algn="ctr" rotWithShape="0">
                  <a:srgbClr val="000000">
                    <a:alpha val="10000"/>
                  </a:srgbClr>
                </a:outerShdw>
              </a:effectLst>
            </p:spPr>
            <p:txBody>
              <a:bodyPr lIns="0" tIns="91440" rIns="0" bIns="91440" rtlCol="0" anchor="ctr" anchorCtr="0"/>
              <a:lstStyle>
                <a:defPPr>
                  <a:defRPr lang="en-US"/>
                </a:defPPr>
                <a:lvl1pPr lvl="0" algn="ctr" defTabSz="457200" fontAlgn="base">
                  <a:spcBef>
                    <a:spcPct val="0"/>
                  </a:spcBef>
                  <a:spcAft>
                    <a:spcPct val="0"/>
                  </a:spcAft>
                  <a:buClr>
                    <a:schemeClr val="tx1"/>
                  </a:buClr>
                  <a:buSzPct val="100000"/>
                  <a:defRPr sz="900" spc="50">
                    <a:solidFill>
                      <a:schemeClr val="tx1"/>
                    </a:solidFill>
                    <a:latin typeface="Calibri" panose="020F0502020204030204" pitchFamily="34" charset="0"/>
                    <a:cs typeface="Calibri" panose="020F0502020204030204"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a:t>Image </a:t>
                </a:r>
              </a:p>
              <a:p>
                <a:r>
                  <a:rPr lang="en-US"/>
                  <a:t>Generation</a:t>
                </a:r>
              </a:p>
            </p:txBody>
          </p:sp>
          <p:pic>
            <p:nvPicPr>
              <p:cNvPr id="1471" name="Picture 12" descr="Image Classification icon">
                <a:extLst>
                  <a:ext uri="{FF2B5EF4-FFF2-40B4-BE49-F238E27FC236}">
                    <a16:creationId xmlns:a16="http://schemas.microsoft.com/office/drawing/2014/main" id="{A6144C8A-74B8-51E2-2874-F35D261A2FD2}"/>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070211" y="3926994"/>
                <a:ext cx="647700" cy="647701"/>
              </a:xfrm>
              <a:prstGeom prst="rect">
                <a:avLst/>
              </a:prstGeom>
              <a:noFill/>
              <a:extLst>
                <a:ext uri="{909E8E84-426E-40DD-AFC4-6F175D3DCCD1}">
                  <a14:hiddenFill xmlns:a14="http://schemas.microsoft.com/office/drawing/2010/main">
                    <a:solidFill>
                      <a:srgbClr val="FFFFFF"/>
                    </a:solidFill>
                  </a14:hiddenFill>
                </a:ext>
              </a:extLst>
            </p:spPr>
          </p:pic>
          <p:sp>
            <p:nvSpPr>
              <p:cNvPr id="128" name="TextBox 127">
                <a:extLst>
                  <a:ext uri="{FF2B5EF4-FFF2-40B4-BE49-F238E27FC236}">
                    <a16:creationId xmlns:a16="http://schemas.microsoft.com/office/drawing/2014/main" id="{D9D744C1-4911-4DB4-A014-A7C76B6A6F4B}"/>
                  </a:ext>
                </a:extLst>
              </p:cNvPr>
              <p:cNvSpPr txBox="1"/>
              <p:nvPr/>
            </p:nvSpPr>
            <p:spPr>
              <a:xfrm>
                <a:off x="4848475" y="4591093"/>
                <a:ext cx="1266975" cy="415047"/>
              </a:xfrm>
              <a:prstGeom prst="rect">
                <a:avLst/>
              </a:prstGeom>
              <a:solidFill>
                <a:schemeClr val="bg1"/>
              </a:solidFill>
              <a:ln>
                <a:solidFill>
                  <a:schemeClr val="tx1">
                    <a:alpha val="8000"/>
                  </a:schemeClr>
                </a:solidFill>
              </a:ln>
              <a:effectLst>
                <a:outerShdw blurRad="317500" dist="50800" dir="5400000" sx="103000" sy="103000" algn="ctr" rotWithShape="0">
                  <a:srgbClr val="000000">
                    <a:alpha val="10000"/>
                  </a:srgbClr>
                </a:outerShdw>
              </a:effectLst>
            </p:spPr>
            <p:txBody>
              <a:bodyPr lIns="0" tIns="91440" rIns="0" bIns="91440" rtlCol="0" anchor="ctr" anchorCtr="0"/>
              <a:lstStyle>
                <a:defPPr>
                  <a:defRPr lang="en-US"/>
                </a:defPPr>
                <a:lvl1pPr lvl="0" algn="ctr" defTabSz="457200" fontAlgn="base">
                  <a:spcBef>
                    <a:spcPct val="0"/>
                  </a:spcBef>
                  <a:spcAft>
                    <a:spcPct val="0"/>
                  </a:spcAft>
                  <a:buClr>
                    <a:schemeClr val="tx1"/>
                  </a:buClr>
                  <a:buSzPct val="100000"/>
                  <a:defRPr sz="900" spc="50">
                    <a:solidFill>
                      <a:schemeClr val="tx1"/>
                    </a:solidFill>
                    <a:latin typeface="Calibri" panose="020F0502020204030204" pitchFamily="34" charset="0"/>
                    <a:cs typeface="Calibri" panose="020F0502020204030204"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a:t>Personalization</a:t>
                </a:r>
              </a:p>
            </p:txBody>
          </p:sp>
        </p:grpSp>
      </p:grpSp>
      <p:sp>
        <p:nvSpPr>
          <p:cNvPr id="1455" name="TextBox 1454">
            <a:extLst>
              <a:ext uri="{FF2B5EF4-FFF2-40B4-BE49-F238E27FC236}">
                <a16:creationId xmlns:a16="http://schemas.microsoft.com/office/drawing/2014/main" id="{FED4B6A3-FE66-F972-EDE6-380447D0BCA0}"/>
              </a:ext>
            </a:extLst>
          </p:cNvPr>
          <p:cNvSpPr txBox="1"/>
          <p:nvPr/>
        </p:nvSpPr>
        <p:spPr>
          <a:xfrm>
            <a:off x="6205964" y="3324535"/>
            <a:ext cx="2259235" cy="246221"/>
          </a:xfrm>
          <a:prstGeom prst="rect">
            <a:avLst/>
          </a:prstGeom>
          <a:solidFill>
            <a:schemeClr val="bg1"/>
          </a:solidFill>
          <a:ln>
            <a:solidFill>
              <a:schemeClr val="bg1">
                <a:lumMod val="95000"/>
              </a:schemeClr>
            </a:solidFill>
          </a:ln>
        </p:spPr>
        <p:txBody>
          <a:bodyPr wrap="square">
            <a:spAutoFit/>
          </a:bodyPr>
          <a:lstStyle/>
          <a:p>
            <a:r>
              <a:rPr lang="en-IN" sz="1000" b="1" i="0">
                <a:effectLst/>
                <a:latin typeface="Calibri" panose="020F0502020204030204" pitchFamily="34" charset="0"/>
                <a:cs typeface="Calibri" panose="020F0502020204030204" pitchFamily="34" charset="0"/>
              </a:rPr>
              <a:t>Amazon Bedrock (</a:t>
            </a:r>
            <a:r>
              <a:rPr lang="en-IN" sz="1000" b="1" i="0">
                <a:solidFill>
                  <a:srgbClr val="333333"/>
                </a:solidFill>
                <a:effectLst/>
                <a:latin typeface="Calibri" panose="020F0502020204030204" pitchFamily="34" charset="0"/>
                <a:cs typeface="Calibri" panose="020F0502020204030204" pitchFamily="34" charset="0"/>
              </a:rPr>
              <a:t>Generative AI/GPT)</a:t>
            </a:r>
            <a:endParaRPr lang="en-IN" sz="1000" b="1" i="0">
              <a:effectLst/>
              <a:latin typeface="Calibri" panose="020F0502020204030204" pitchFamily="34" charset="0"/>
              <a:cs typeface="Calibri" panose="020F0502020204030204" pitchFamily="34" charset="0"/>
            </a:endParaRPr>
          </a:p>
        </p:txBody>
      </p:sp>
      <p:cxnSp>
        <p:nvCxnSpPr>
          <p:cNvPr id="129" name="Elbow Connector 128">
            <a:extLst>
              <a:ext uri="{FF2B5EF4-FFF2-40B4-BE49-F238E27FC236}">
                <a16:creationId xmlns:a16="http://schemas.microsoft.com/office/drawing/2014/main" id="{94A01830-CFCF-901A-2E15-84D67025145C}"/>
              </a:ext>
            </a:extLst>
          </p:cNvPr>
          <p:cNvCxnSpPr>
            <a:cxnSpLocks/>
            <a:stCxn id="1440" idx="2"/>
            <a:endCxn id="1441" idx="0"/>
          </p:cNvCxnSpPr>
          <p:nvPr/>
        </p:nvCxnSpPr>
        <p:spPr>
          <a:xfrm rot="5400000">
            <a:off x="7382563" y="2319514"/>
            <a:ext cx="278890" cy="883667"/>
          </a:xfrm>
          <a:prstGeom prst="bentConnector3">
            <a:avLst>
              <a:gd name="adj1" fmla="val 50000"/>
            </a:avLst>
          </a:prstGeom>
          <a:ln>
            <a:solidFill>
              <a:schemeClr val="tx1"/>
            </a:solidFill>
            <a:prstDash val="dash"/>
            <a:headEnd type="arrow" w="med" len="sm"/>
            <a:tailEnd type="triangle" w="lg" len="med"/>
          </a:ln>
          <a:effectLst>
            <a:outerShdw blurRad="50800" dist="38100" algn="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130" name="Elbow Connector 129">
            <a:extLst>
              <a:ext uri="{FF2B5EF4-FFF2-40B4-BE49-F238E27FC236}">
                <a16:creationId xmlns:a16="http://schemas.microsoft.com/office/drawing/2014/main" id="{2EABB8EE-9AD7-C5E7-B111-88CB00285D0B}"/>
              </a:ext>
            </a:extLst>
          </p:cNvPr>
          <p:cNvCxnSpPr>
            <a:cxnSpLocks/>
            <a:stCxn id="1441" idx="1"/>
            <a:endCxn id="16" idx="0"/>
          </p:cNvCxnSpPr>
          <p:nvPr/>
        </p:nvCxnSpPr>
        <p:spPr>
          <a:xfrm rot="10800000" flipV="1">
            <a:off x="6032240" y="3073177"/>
            <a:ext cx="390714" cy="230443"/>
          </a:xfrm>
          <a:prstGeom prst="bentConnector2">
            <a:avLst/>
          </a:prstGeom>
          <a:ln>
            <a:solidFill>
              <a:schemeClr val="tx1"/>
            </a:solidFill>
            <a:prstDash val="dash"/>
            <a:headEnd type="arrow" w="med" len="sm"/>
            <a:tailEnd type="triangle" w="lg" len="med"/>
          </a:ln>
          <a:effectLst>
            <a:outerShdw blurRad="50800" dist="38100" algn="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132" name="Elbow Connector 1390">
            <a:extLst>
              <a:ext uri="{FF2B5EF4-FFF2-40B4-BE49-F238E27FC236}">
                <a16:creationId xmlns:a16="http://schemas.microsoft.com/office/drawing/2014/main" id="{37021176-37B4-8D9D-9CE7-628B5074D41D}"/>
              </a:ext>
            </a:extLst>
          </p:cNvPr>
          <p:cNvCxnSpPr>
            <a:cxnSpLocks/>
            <a:stCxn id="1430" idx="0"/>
            <a:endCxn id="49" idx="3"/>
          </p:cNvCxnSpPr>
          <p:nvPr/>
        </p:nvCxnSpPr>
        <p:spPr>
          <a:xfrm rot="10800000" flipV="1">
            <a:off x="3797231" y="1883778"/>
            <a:ext cx="764520" cy="260945"/>
          </a:xfrm>
          <a:prstGeom prst="bentConnector3">
            <a:avLst>
              <a:gd name="adj1" fmla="val 50000"/>
            </a:avLst>
          </a:prstGeom>
          <a:ln w="12700">
            <a:solidFill>
              <a:srgbClr val="C0000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35" name="Straight Arrow Connector 134">
            <a:extLst>
              <a:ext uri="{FF2B5EF4-FFF2-40B4-BE49-F238E27FC236}">
                <a16:creationId xmlns:a16="http://schemas.microsoft.com/office/drawing/2014/main" id="{BCF1FE33-8D78-945E-0204-7BF5D716FFEB}"/>
              </a:ext>
            </a:extLst>
          </p:cNvPr>
          <p:cNvCxnSpPr>
            <a:cxnSpLocks/>
          </p:cNvCxnSpPr>
          <p:nvPr/>
        </p:nvCxnSpPr>
        <p:spPr>
          <a:xfrm>
            <a:off x="2774779" y="3197022"/>
            <a:ext cx="0" cy="445303"/>
          </a:xfrm>
          <a:prstGeom prst="straightConnector1">
            <a:avLst/>
          </a:prstGeom>
          <a:ln w="25400">
            <a:solidFill>
              <a:srgbClr val="C00000"/>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grpSp>
        <p:nvGrpSpPr>
          <p:cNvPr id="169" name="Group 168">
            <a:extLst>
              <a:ext uri="{FF2B5EF4-FFF2-40B4-BE49-F238E27FC236}">
                <a16:creationId xmlns:a16="http://schemas.microsoft.com/office/drawing/2014/main" id="{3561DB87-1F88-2410-EB3D-9DEFE8E207C5}"/>
              </a:ext>
            </a:extLst>
          </p:cNvPr>
          <p:cNvGrpSpPr/>
          <p:nvPr/>
        </p:nvGrpSpPr>
        <p:grpSpPr>
          <a:xfrm>
            <a:off x="5897985" y="5638567"/>
            <a:ext cx="1880217" cy="592151"/>
            <a:chOff x="8448896" y="3319696"/>
            <a:chExt cx="1880217" cy="592151"/>
          </a:xfrm>
        </p:grpSpPr>
        <p:sp>
          <p:nvSpPr>
            <p:cNvPr id="136" name="Rectangle 135">
              <a:extLst>
                <a:ext uri="{FF2B5EF4-FFF2-40B4-BE49-F238E27FC236}">
                  <a16:creationId xmlns:a16="http://schemas.microsoft.com/office/drawing/2014/main" id="{688DFC7C-7A71-2F81-7DB1-5C78A7B1F675}"/>
                </a:ext>
              </a:extLst>
            </p:cNvPr>
            <p:cNvSpPr/>
            <p:nvPr/>
          </p:nvSpPr>
          <p:spPr>
            <a:xfrm>
              <a:off x="8448896" y="3319696"/>
              <a:ext cx="1880217" cy="59215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802" b="1">
                <a:solidFill>
                  <a:schemeClr val="tx1"/>
                </a:solidFill>
              </a:endParaRPr>
            </a:p>
          </p:txBody>
        </p:sp>
        <p:pic>
          <p:nvPicPr>
            <p:cNvPr id="137" name="Picture 24" descr="Enterprise Service Bus Images, Stock Photos &amp;amp; Vectors | Shutterstock">
              <a:extLst>
                <a:ext uri="{FF2B5EF4-FFF2-40B4-BE49-F238E27FC236}">
                  <a16:creationId xmlns:a16="http://schemas.microsoft.com/office/drawing/2014/main" id="{A3D8E41B-6835-B8A6-6A99-6BFBCCC77CE8}"/>
                </a:ext>
              </a:extLst>
            </p:cNvPr>
            <p:cNvPicPr>
              <a:picLocks noChangeAspect="1" noChangeArrowheads="1"/>
            </p:cNvPicPr>
            <p:nvPr/>
          </p:nvPicPr>
          <p:blipFill>
            <a:blip r:embed="rId15" cstate="hqprint">
              <a:extLst>
                <a:ext uri="{28A0092B-C50C-407E-A947-70E740481C1C}">
                  <a14:useLocalDpi xmlns:a14="http://schemas.microsoft.com/office/drawing/2010/main"/>
                </a:ext>
              </a:extLst>
            </a:blip>
            <a:srcRect/>
            <a:stretch>
              <a:fillRect/>
            </a:stretch>
          </p:blipFill>
          <p:spPr bwMode="auto">
            <a:xfrm>
              <a:off x="8895454" y="3468292"/>
              <a:ext cx="1031479" cy="369800"/>
            </a:xfrm>
            <a:prstGeom prst="rect">
              <a:avLst/>
            </a:prstGeom>
            <a:noFill/>
            <a:effectLst>
              <a:outerShdw blurRad="50800" dist="38100" algn="l" rotWithShape="0">
                <a:prstClr val="black">
                  <a:alpha val="40000"/>
                </a:prstClr>
              </a:outerShdw>
            </a:effectLst>
            <a:extLst>
              <a:ext uri="{909E8E84-426E-40DD-AFC4-6F175D3DCCD1}">
                <a14:hiddenFill xmlns:a14="http://schemas.microsoft.com/office/drawing/2010/main">
                  <a:solidFill>
                    <a:srgbClr val="FFFFFF"/>
                  </a:solidFill>
                </a14:hiddenFill>
              </a:ext>
            </a:extLst>
          </p:spPr>
        </p:pic>
      </p:grpSp>
      <p:pic>
        <p:nvPicPr>
          <p:cNvPr id="158" name="Picture 8" descr="Database Icon or Logo in Modern Line Style Stock Vector - Illustration of  connection, internet: 81369618">
            <a:extLst>
              <a:ext uri="{FF2B5EF4-FFF2-40B4-BE49-F238E27FC236}">
                <a16:creationId xmlns:a16="http://schemas.microsoft.com/office/drawing/2014/main" id="{7992D170-96C9-F8A8-6E78-AA3454A69620}"/>
              </a:ext>
            </a:extLst>
          </p:cNvPr>
          <p:cNvPicPr>
            <a:picLocks noChangeAspect="1" noChangeArrowheads="1"/>
          </p:cNvPicPr>
          <p:nvPr/>
        </p:nvPicPr>
        <p:blipFill rotWithShape="1">
          <a:blip r:embed="rId16">
            <a:extLst>
              <a:ext uri="{28A0092B-C50C-407E-A947-70E740481C1C}">
                <a14:useLocalDpi xmlns:a14="http://schemas.microsoft.com/office/drawing/2010/main" val="0"/>
              </a:ext>
            </a:extLst>
          </a:blip>
          <a:srcRect l="24357" r="23929"/>
          <a:stretch/>
        </p:blipFill>
        <p:spPr bwMode="auto">
          <a:xfrm>
            <a:off x="9266720" y="980962"/>
            <a:ext cx="573538" cy="1109050"/>
          </a:xfrm>
          <a:prstGeom prst="rect">
            <a:avLst/>
          </a:prstGeom>
          <a:noFill/>
          <a:ln w="28575">
            <a:solidFill>
              <a:srgbClr val="C00000"/>
            </a:solidFill>
            <a:prstDash val="sysDash"/>
          </a:ln>
          <a:extLst>
            <a:ext uri="{909E8E84-426E-40DD-AFC4-6F175D3DCCD1}">
              <a14:hiddenFill xmlns:a14="http://schemas.microsoft.com/office/drawing/2010/main">
                <a:solidFill>
                  <a:srgbClr val="FFFFFF"/>
                </a:solidFill>
              </a14:hiddenFill>
            </a:ext>
          </a:extLst>
        </p:spPr>
      </p:pic>
      <p:cxnSp>
        <p:nvCxnSpPr>
          <p:cNvPr id="159" name="Straight Arrow Connector 202">
            <a:extLst>
              <a:ext uri="{FF2B5EF4-FFF2-40B4-BE49-F238E27FC236}">
                <a16:creationId xmlns:a16="http://schemas.microsoft.com/office/drawing/2014/main" id="{C30F8495-6FEF-7891-5F26-86499B974110}"/>
              </a:ext>
            </a:extLst>
          </p:cNvPr>
          <p:cNvCxnSpPr>
            <a:cxnSpLocks/>
            <a:endCxn id="158" idx="2"/>
          </p:cNvCxnSpPr>
          <p:nvPr/>
        </p:nvCxnSpPr>
        <p:spPr>
          <a:xfrm flipV="1">
            <a:off x="7791489" y="2090012"/>
            <a:ext cx="1762000" cy="844581"/>
          </a:xfrm>
          <a:prstGeom prst="bentConnector2">
            <a:avLst/>
          </a:prstGeom>
          <a:ln>
            <a:solidFill>
              <a:schemeClr val="tx1"/>
            </a:solidFill>
            <a:prstDash val="dash"/>
            <a:headEnd type="arrow" w="med" len="sm"/>
            <a:tailEnd type="triangle" w="lg" len="med"/>
          </a:ln>
          <a:effectLst>
            <a:outerShdw blurRad="50800" dist="38100" algn="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162" name="Rectangle: Rounded Corners 14">
            <a:extLst>
              <a:ext uri="{FF2B5EF4-FFF2-40B4-BE49-F238E27FC236}">
                <a16:creationId xmlns:a16="http://schemas.microsoft.com/office/drawing/2014/main" id="{187EDD26-DB53-357E-C0A5-C3B883734E6E}"/>
              </a:ext>
            </a:extLst>
          </p:cNvPr>
          <p:cNvSpPr/>
          <p:nvPr/>
        </p:nvSpPr>
        <p:spPr>
          <a:xfrm>
            <a:off x="10238320" y="1270360"/>
            <a:ext cx="1847193" cy="4983432"/>
          </a:xfrm>
          <a:prstGeom prst="roundRect">
            <a:avLst/>
          </a:prstGeom>
          <a:solidFill>
            <a:schemeClr val="bg1"/>
          </a:solidFill>
          <a:ln>
            <a:noFill/>
          </a:ln>
          <a:effectLst>
            <a:outerShdw blurRad="317500" dist="50800" dir="5400000" sx="103000" sy="103000" algn="ctr" rotWithShape="0">
              <a:srgbClr val="000000">
                <a:alpha val="10000"/>
              </a:srgbClr>
            </a:outerShdw>
          </a:effectLst>
        </p:spPr>
        <p:txBody>
          <a:bodyPr vert="horz" lIns="0" tIns="91440" rIns="0" bIns="91440" rtlCol="0" anchor="ctr" anchorCtr="0"/>
          <a:lstStyle/>
          <a:p>
            <a:pPr algn="ctr" defTabSz="457200" fontAlgn="base">
              <a:spcBef>
                <a:spcPct val="0"/>
              </a:spcBef>
              <a:spcAft>
                <a:spcPct val="0"/>
              </a:spcAft>
              <a:buClr>
                <a:schemeClr val="tx1"/>
              </a:buClr>
              <a:buSzPct val="100000"/>
            </a:pPr>
            <a:r>
              <a:rPr lang="en-US" sz="1400" b="1" spc="50">
                <a:solidFill>
                  <a:schemeClr val="dk1"/>
                </a:solidFill>
                <a:latin typeface="Calibri" panose="020F0502020204030204" pitchFamily="34" charset="0"/>
                <a:cs typeface="Calibri" panose="020F0502020204030204" pitchFamily="34" charset="0"/>
              </a:rPr>
              <a:t>External API</a:t>
            </a:r>
            <a:endParaRPr lang="en-US" sz="1400" b="1" spc="50">
              <a:solidFill>
                <a:schemeClr val="dk1"/>
              </a:solidFill>
              <a:latin typeface="Calibri" panose="020F0502020204030204" pitchFamily="34" charset="0"/>
              <a:cs typeface="Calibri" panose="020F0502020204030204" pitchFamily="34" charset="0"/>
              <a:sym typeface="Arial"/>
            </a:endParaRPr>
          </a:p>
        </p:txBody>
      </p:sp>
      <p:sp>
        <p:nvSpPr>
          <p:cNvPr id="163" name="TextBox 162">
            <a:extLst>
              <a:ext uri="{FF2B5EF4-FFF2-40B4-BE49-F238E27FC236}">
                <a16:creationId xmlns:a16="http://schemas.microsoft.com/office/drawing/2014/main" id="{612EDB5B-0B53-7CBE-CEC2-46628F20DF01}"/>
              </a:ext>
            </a:extLst>
          </p:cNvPr>
          <p:cNvSpPr txBox="1"/>
          <p:nvPr/>
        </p:nvSpPr>
        <p:spPr>
          <a:xfrm>
            <a:off x="10223297" y="414687"/>
            <a:ext cx="2005561" cy="2616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a:ln>
                  <a:noFill/>
                </a:ln>
                <a:solidFill>
                  <a:prstClr val="black"/>
                </a:solidFill>
                <a:effectLst/>
                <a:uLnTx/>
                <a:uFillTx/>
                <a:latin typeface="Calibri" panose="020F0502020204030204" pitchFamily="34" charset="0"/>
                <a:cs typeface="Calibri" panose="020F0502020204030204" pitchFamily="34" charset="0"/>
                <a:sym typeface="Arial"/>
              </a:rPr>
              <a:t>Backend Down Stream Systems</a:t>
            </a:r>
          </a:p>
        </p:txBody>
      </p:sp>
      <p:sp>
        <p:nvSpPr>
          <p:cNvPr id="189" name="Rectangle 188">
            <a:extLst>
              <a:ext uri="{FF2B5EF4-FFF2-40B4-BE49-F238E27FC236}">
                <a16:creationId xmlns:a16="http://schemas.microsoft.com/office/drawing/2014/main" id="{B0CCAD23-629B-B0F5-D8F3-CC58052648F5}"/>
              </a:ext>
            </a:extLst>
          </p:cNvPr>
          <p:cNvSpPr/>
          <p:nvPr/>
        </p:nvSpPr>
        <p:spPr>
          <a:xfrm>
            <a:off x="8597426" y="3241851"/>
            <a:ext cx="1432167" cy="1534212"/>
          </a:xfrm>
          <a:prstGeom prst="rect">
            <a:avLst/>
          </a:prstGeom>
          <a:solidFill>
            <a:schemeClr val="bg1"/>
          </a:solidFill>
          <a:ln>
            <a:noFill/>
          </a:ln>
          <a:effectLst>
            <a:outerShdw blurRad="317500" dist="50800" dir="5400000" sx="103000" sy="103000" algn="ctr" rotWithShape="0">
              <a:srgbClr val="000000">
                <a:alpha val="10000"/>
              </a:srgbClr>
            </a:outerShdw>
          </a:effectLst>
        </p:spPr>
        <p:txBody>
          <a:bodyPr vert="horz" lIns="0" tIns="91440" rIns="0" bIns="91440" rtlCol="0" anchor="t" anchorCtr="0"/>
          <a:lstStyle/>
          <a:p>
            <a:pPr algn="ctr" defTabSz="457200" fontAlgn="base">
              <a:spcBef>
                <a:spcPct val="0"/>
              </a:spcBef>
              <a:spcAft>
                <a:spcPct val="0"/>
              </a:spcAft>
              <a:buClr>
                <a:schemeClr val="tx1"/>
              </a:buClr>
              <a:buSzPct val="100000"/>
            </a:pPr>
            <a:r>
              <a:rPr lang="en-US" sz="900" b="1" spc="50">
                <a:solidFill>
                  <a:schemeClr val="dk1"/>
                </a:solidFill>
                <a:latin typeface="Calibri" panose="020F0502020204030204" pitchFamily="34" charset="0"/>
                <a:cs typeface="Calibri" panose="020F0502020204030204" pitchFamily="34" charset="0"/>
              </a:rPr>
              <a:t>Utilities</a:t>
            </a:r>
          </a:p>
        </p:txBody>
      </p:sp>
      <p:sp>
        <p:nvSpPr>
          <p:cNvPr id="190" name="TextBox 189">
            <a:extLst>
              <a:ext uri="{FF2B5EF4-FFF2-40B4-BE49-F238E27FC236}">
                <a16:creationId xmlns:a16="http://schemas.microsoft.com/office/drawing/2014/main" id="{3636C424-96CF-6FE9-FA2A-EDEC93FE97A2}"/>
              </a:ext>
            </a:extLst>
          </p:cNvPr>
          <p:cNvSpPr txBox="1"/>
          <p:nvPr/>
        </p:nvSpPr>
        <p:spPr>
          <a:xfrm>
            <a:off x="8655991" y="3489942"/>
            <a:ext cx="1325193" cy="200055"/>
          </a:xfrm>
          <a:prstGeom prst="rect">
            <a:avLst/>
          </a:prstGeom>
          <a:solidFill>
            <a:schemeClr val="bg1"/>
          </a:solidFill>
          <a:ln>
            <a:solidFill>
              <a:schemeClr val="tx1">
                <a:alpha val="8000"/>
              </a:schemeClr>
            </a:solidFill>
          </a:ln>
          <a:effectLst>
            <a:outerShdw blurRad="317500" dist="50800" dir="5400000" sx="103000" sy="103000" algn="ctr" rotWithShape="0">
              <a:srgbClr val="000000">
                <a:alpha val="10000"/>
              </a:srgbClr>
            </a:outerShdw>
          </a:effectLst>
        </p:spPr>
        <p:txBody>
          <a:bodyPr lIns="0" tIns="91440" rIns="0" bIns="91440" rtlCol="0" anchor="ctr" anchorCtr="0"/>
          <a:lstStyle>
            <a:defPPr>
              <a:defRPr lang="en-US"/>
            </a:defPPr>
            <a:lvl1pPr lvl="0" algn="ctr" defTabSz="457200" fontAlgn="base">
              <a:spcBef>
                <a:spcPct val="0"/>
              </a:spcBef>
              <a:spcAft>
                <a:spcPct val="0"/>
              </a:spcAft>
              <a:buClr>
                <a:schemeClr val="tx1"/>
              </a:buClr>
              <a:buSzPct val="100000"/>
              <a:defRPr sz="900" spc="50">
                <a:solidFill>
                  <a:schemeClr val="tx1"/>
                </a:solidFill>
                <a:latin typeface="Calibri" panose="020F0502020204030204" pitchFamily="34" charset="0"/>
                <a:cs typeface="Calibri" panose="020F0502020204030204"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IN"/>
              <a:t>Bulk Upload</a:t>
            </a:r>
          </a:p>
        </p:txBody>
      </p:sp>
      <p:sp>
        <p:nvSpPr>
          <p:cNvPr id="191" name="TextBox 190">
            <a:extLst>
              <a:ext uri="{FF2B5EF4-FFF2-40B4-BE49-F238E27FC236}">
                <a16:creationId xmlns:a16="http://schemas.microsoft.com/office/drawing/2014/main" id="{0324B243-1A94-579F-77BB-5EFE8EBF452B}"/>
              </a:ext>
            </a:extLst>
          </p:cNvPr>
          <p:cNvSpPr txBox="1"/>
          <p:nvPr/>
        </p:nvSpPr>
        <p:spPr>
          <a:xfrm>
            <a:off x="8642466" y="3788952"/>
            <a:ext cx="1325193" cy="307777"/>
          </a:xfrm>
          <a:prstGeom prst="rect">
            <a:avLst/>
          </a:prstGeom>
          <a:solidFill>
            <a:schemeClr val="bg1"/>
          </a:solidFill>
          <a:ln>
            <a:solidFill>
              <a:schemeClr val="tx1">
                <a:alpha val="8000"/>
              </a:schemeClr>
            </a:solidFill>
          </a:ln>
          <a:effectLst>
            <a:outerShdw blurRad="317500" dist="50800" dir="5400000" sx="103000" sy="103000" algn="ctr" rotWithShape="0">
              <a:srgbClr val="000000">
                <a:alpha val="10000"/>
              </a:srgbClr>
            </a:outerShdw>
          </a:effectLst>
        </p:spPr>
        <p:txBody>
          <a:bodyPr lIns="0" tIns="91440" rIns="0" bIns="91440" rtlCol="0" anchor="ctr" anchorCtr="0"/>
          <a:lstStyle>
            <a:defPPr>
              <a:defRPr lang="en-US"/>
            </a:defPPr>
            <a:lvl1pPr lvl="0" algn="ctr" defTabSz="457200" fontAlgn="base">
              <a:spcBef>
                <a:spcPct val="0"/>
              </a:spcBef>
              <a:spcAft>
                <a:spcPct val="0"/>
              </a:spcAft>
              <a:buClr>
                <a:schemeClr val="tx1"/>
              </a:buClr>
              <a:buSzPct val="100000"/>
              <a:defRPr sz="900" spc="50">
                <a:solidFill>
                  <a:schemeClr val="tx1"/>
                </a:solidFill>
                <a:latin typeface="Calibri" panose="020F0502020204030204" pitchFamily="34" charset="0"/>
                <a:cs typeface="Calibri" panose="020F0502020204030204"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IN"/>
              <a:t>Parser for Feed File Generation</a:t>
            </a:r>
          </a:p>
        </p:txBody>
      </p:sp>
      <p:sp>
        <p:nvSpPr>
          <p:cNvPr id="1472" name="TextBox 1471">
            <a:extLst>
              <a:ext uri="{FF2B5EF4-FFF2-40B4-BE49-F238E27FC236}">
                <a16:creationId xmlns:a16="http://schemas.microsoft.com/office/drawing/2014/main" id="{AB58CC55-ABBE-0C14-42D2-D5FFAD997098}"/>
              </a:ext>
            </a:extLst>
          </p:cNvPr>
          <p:cNvSpPr txBox="1"/>
          <p:nvPr/>
        </p:nvSpPr>
        <p:spPr>
          <a:xfrm>
            <a:off x="8642466" y="4192379"/>
            <a:ext cx="1325193" cy="200055"/>
          </a:xfrm>
          <a:prstGeom prst="rect">
            <a:avLst/>
          </a:prstGeom>
          <a:solidFill>
            <a:schemeClr val="bg1"/>
          </a:solidFill>
          <a:ln>
            <a:solidFill>
              <a:schemeClr val="tx1">
                <a:alpha val="8000"/>
              </a:schemeClr>
            </a:solidFill>
          </a:ln>
          <a:effectLst>
            <a:outerShdw blurRad="317500" dist="50800" dir="5400000" sx="103000" sy="103000" algn="ctr" rotWithShape="0">
              <a:srgbClr val="000000">
                <a:alpha val="10000"/>
              </a:srgbClr>
            </a:outerShdw>
          </a:effectLst>
        </p:spPr>
        <p:txBody>
          <a:bodyPr lIns="0" tIns="91440" rIns="0" bIns="91440" rtlCol="0" anchor="ctr" anchorCtr="0"/>
          <a:lstStyle>
            <a:defPPr>
              <a:defRPr lang="en-US"/>
            </a:defPPr>
            <a:lvl1pPr lvl="0" algn="ctr" defTabSz="457200" fontAlgn="base">
              <a:spcBef>
                <a:spcPct val="0"/>
              </a:spcBef>
              <a:spcAft>
                <a:spcPct val="0"/>
              </a:spcAft>
              <a:buClr>
                <a:schemeClr val="tx1"/>
              </a:buClr>
              <a:buSzPct val="100000"/>
              <a:defRPr sz="900" spc="50">
                <a:solidFill>
                  <a:schemeClr val="tx1"/>
                </a:solidFill>
                <a:latin typeface="Calibri" panose="020F0502020204030204" pitchFamily="34" charset="0"/>
                <a:cs typeface="Calibri" panose="020F0502020204030204"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IN"/>
              <a:t>Archive</a:t>
            </a:r>
          </a:p>
        </p:txBody>
      </p:sp>
      <p:sp>
        <p:nvSpPr>
          <p:cNvPr id="1473" name="TextBox 1472">
            <a:extLst>
              <a:ext uri="{FF2B5EF4-FFF2-40B4-BE49-F238E27FC236}">
                <a16:creationId xmlns:a16="http://schemas.microsoft.com/office/drawing/2014/main" id="{1E4025C8-242E-08E9-E8D5-2C741172C485}"/>
              </a:ext>
            </a:extLst>
          </p:cNvPr>
          <p:cNvSpPr txBox="1"/>
          <p:nvPr/>
        </p:nvSpPr>
        <p:spPr>
          <a:xfrm>
            <a:off x="8649180" y="4470327"/>
            <a:ext cx="1325193" cy="200055"/>
          </a:xfrm>
          <a:prstGeom prst="rect">
            <a:avLst/>
          </a:prstGeom>
          <a:solidFill>
            <a:schemeClr val="bg1"/>
          </a:solidFill>
          <a:ln>
            <a:solidFill>
              <a:schemeClr val="tx1">
                <a:alpha val="8000"/>
              </a:schemeClr>
            </a:solidFill>
          </a:ln>
          <a:effectLst>
            <a:outerShdw blurRad="317500" dist="50800" dir="5400000" sx="103000" sy="103000" algn="ctr" rotWithShape="0">
              <a:srgbClr val="000000">
                <a:alpha val="10000"/>
              </a:srgbClr>
            </a:outerShdw>
          </a:effectLst>
        </p:spPr>
        <p:txBody>
          <a:bodyPr lIns="0" tIns="91440" rIns="0" bIns="91440" rtlCol="0" anchor="ctr" anchorCtr="0"/>
          <a:lstStyle>
            <a:defPPr>
              <a:defRPr lang="en-US"/>
            </a:defPPr>
            <a:lvl1pPr lvl="0" algn="ctr" defTabSz="457200" fontAlgn="base">
              <a:spcBef>
                <a:spcPct val="0"/>
              </a:spcBef>
              <a:spcAft>
                <a:spcPct val="0"/>
              </a:spcAft>
              <a:buClr>
                <a:schemeClr val="tx1"/>
              </a:buClr>
              <a:buSzPct val="100000"/>
              <a:defRPr sz="900" spc="50">
                <a:solidFill>
                  <a:schemeClr val="tx1"/>
                </a:solidFill>
                <a:latin typeface="Calibri" panose="020F0502020204030204" pitchFamily="34" charset="0"/>
                <a:cs typeface="Calibri" panose="020F0502020204030204" pitchFamily="34" charset="0"/>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IN"/>
              <a:t>Purge</a:t>
            </a:r>
          </a:p>
        </p:txBody>
      </p:sp>
      <p:pic>
        <p:nvPicPr>
          <p:cNvPr id="1474" name="Picture 2" descr="Cron Jobs. According to google cron stands for “a… | by Ranjan Bajracharya  | Medium">
            <a:extLst>
              <a:ext uri="{FF2B5EF4-FFF2-40B4-BE49-F238E27FC236}">
                <a16:creationId xmlns:a16="http://schemas.microsoft.com/office/drawing/2014/main" id="{A957386F-BD55-2AD8-FBA8-B08450C56B09}"/>
              </a:ext>
            </a:extLst>
          </p:cNvPr>
          <p:cNvPicPr>
            <a:picLocks noChangeAspect="1" noChangeArrowheads="1"/>
          </p:cNvPicPr>
          <p:nvPr/>
        </p:nvPicPr>
        <p:blipFill rotWithShape="1">
          <a:blip r:embed="rId17">
            <a:extLst>
              <a:ext uri="{28A0092B-C50C-407E-A947-70E740481C1C}">
                <a14:useLocalDpi xmlns:a14="http://schemas.microsoft.com/office/drawing/2010/main" val="0"/>
              </a:ext>
            </a:extLst>
          </a:blip>
          <a:srcRect l="20031" t="20660" r="16278" b="37919"/>
          <a:stretch/>
        </p:blipFill>
        <p:spPr bwMode="auto">
          <a:xfrm>
            <a:off x="8832752" y="5245536"/>
            <a:ext cx="842788" cy="413534"/>
          </a:xfrm>
          <a:prstGeom prst="rect">
            <a:avLst/>
          </a:prstGeom>
          <a:noFill/>
          <a:effectLst>
            <a:outerShdw blurRad="50800" dist="38100" algn="l" rotWithShape="0">
              <a:prstClr val="black">
                <a:alpha val="40000"/>
              </a:prstClr>
            </a:outerShdw>
          </a:effectLst>
          <a:extLst>
            <a:ext uri="{909E8E84-426E-40DD-AFC4-6F175D3DCCD1}">
              <a14:hiddenFill xmlns:a14="http://schemas.microsoft.com/office/drawing/2010/main">
                <a:solidFill>
                  <a:srgbClr val="FFFFFF"/>
                </a:solidFill>
              </a14:hiddenFill>
            </a:ext>
          </a:extLst>
        </p:spPr>
      </p:pic>
      <p:cxnSp>
        <p:nvCxnSpPr>
          <p:cNvPr id="1475" name="Straight Arrow Connector 202">
            <a:extLst>
              <a:ext uri="{FF2B5EF4-FFF2-40B4-BE49-F238E27FC236}">
                <a16:creationId xmlns:a16="http://schemas.microsoft.com/office/drawing/2014/main" id="{0E59AD3D-F515-1009-2707-8D625713CC38}"/>
              </a:ext>
            </a:extLst>
          </p:cNvPr>
          <p:cNvCxnSpPr>
            <a:cxnSpLocks/>
            <a:stCxn id="1474" idx="1"/>
            <a:endCxn id="189" idx="2"/>
          </p:cNvCxnSpPr>
          <p:nvPr/>
        </p:nvCxnSpPr>
        <p:spPr>
          <a:xfrm rot="10800000" flipH="1">
            <a:off x="8832752" y="4776063"/>
            <a:ext cx="480758" cy="676240"/>
          </a:xfrm>
          <a:prstGeom prst="bentConnector4">
            <a:avLst>
              <a:gd name="adj1" fmla="val -47550"/>
              <a:gd name="adj2" fmla="val 65288"/>
            </a:avLst>
          </a:prstGeom>
          <a:ln>
            <a:solidFill>
              <a:schemeClr val="tx1"/>
            </a:solidFill>
            <a:prstDash val="dash"/>
            <a:headEnd type="arrow" w="med" len="sm"/>
            <a:tailEnd type="triangle" w="lg" len="med"/>
          </a:ln>
          <a:effectLst>
            <a:outerShdw blurRad="50800" dist="38100" algn="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1497" name="Straight Arrow Connector 202">
            <a:extLst>
              <a:ext uri="{FF2B5EF4-FFF2-40B4-BE49-F238E27FC236}">
                <a16:creationId xmlns:a16="http://schemas.microsoft.com/office/drawing/2014/main" id="{1A204745-7601-4FC7-E3C1-B8C608921D2A}"/>
              </a:ext>
            </a:extLst>
          </p:cNvPr>
          <p:cNvCxnSpPr>
            <a:cxnSpLocks/>
          </p:cNvCxnSpPr>
          <p:nvPr/>
        </p:nvCxnSpPr>
        <p:spPr>
          <a:xfrm>
            <a:off x="7784144" y="6037770"/>
            <a:ext cx="2902851" cy="9645"/>
          </a:xfrm>
          <a:prstGeom prst="bentConnector3">
            <a:avLst>
              <a:gd name="adj1" fmla="val 50000"/>
            </a:avLst>
          </a:prstGeom>
          <a:ln>
            <a:solidFill>
              <a:schemeClr val="tx1"/>
            </a:solidFill>
            <a:prstDash val="dash"/>
            <a:headEnd type="arrow" w="med" len="sm"/>
            <a:tailEnd type="triangle" w="lg" len="med"/>
          </a:ln>
          <a:effectLst>
            <a:outerShdw blurRad="50800" dist="38100" algn="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1502" name="Straight Arrow Connector 202">
            <a:extLst>
              <a:ext uri="{FF2B5EF4-FFF2-40B4-BE49-F238E27FC236}">
                <a16:creationId xmlns:a16="http://schemas.microsoft.com/office/drawing/2014/main" id="{B564192A-FAD7-602B-61AC-9D51704B6A9D}"/>
              </a:ext>
            </a:extLst>
          </p:cNvPr>
          <p:cNvCxnSpPr>
            <a:cxnSpLocks/>
            <a:endCxn id="136" idx="3"/>
          </p:cNvCxnSpPr>
          <p:nvPr/>
        </p:nvCxnSpPr>
        <p:spPr>
          <a:xfrm rot="16200000" flipH="1">
            <a:off x="6394659" y="4551100"/>
            <a:ext cx="2726278" cy="40807"/>
          </a:xfrm>
          <a:prstGeom prst="bentConnector4">
            <a:avLst>
              <a:gd name="adj1" fmla="val -27"/>
              <a:gd name="adj2" fmla="val 1842152"/>
            </a:avLst>
          </a:prstGeom>
          <a:ln>
            <a:solidFill>
              <a:schemeClr val="tx1"/>
            </a:solidFill>
            <a:prstDash val="dash"/>
            <a:headEnd type="arrow" w="med" len="sm"/>
            <a:tailEnd type="triangle" w="lg" len="med"/>
          </a:ln>
          <a:effectLst>
            <a:outerShdw blurRad="50800" dist="38100" algn="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1513" name="Straight Arrow Connector 202">
            <a:extLst>
              <a:ext uri="{FF2B5EF4-FFF2-40B4-BE49-F238E27FC236}">
                <a16:creationId xmlns:a16="http://schemas.microsoft.com/office/drawing/2014/main" id="{8479EA87-CE36-0008-E596-753B479690F4}"/>
              </a:ext>
            </a:extLst>
          </p:cNvPr>
          <p:cNvCxnSpPr>
            <a:cxnSpLocks/>
            <a:stCxn id="1441" idx="3"/>
            <a:endCxn id="189" idx="0"/>
          </p:cNvCxnSpPr>
          <p:nvPr/>
        </p:nvCxnSpPr>
        <p:spPr>
          <a:xfrm>
            <a:off x="7737393" y="3073178"/>
            <a:ext cx="1576117" cy="168673"/>
          </a:xfrm>
          <a:prstGeom prst="bentConnector2">
            <a:avLst/>
          </a:prstGeom>
          <a:ln>
            <a:solidFill>
              <a:schemeClr val="tx1"/>
            </a:solidFill>
            <a:prstDash val="dash"/>
            <a:headEnd type="arrow" w="med" len="sm"/>
            <a:tailEnd type="triangle" w="lg" len="med"/>
          </a:ln>
          <a:effectLst>
            <a:outerShdw blurRad="50800" dist="38100" algn="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1523" name="Straight Arrow Connector 1522">
            <a:extLst>
              <a:ext uri="{FF2B5EF4-FFF2-40B4-BE49-F238E27FC236}">
                <a16:creationId xmlns:a16="http://schemas.microsoft.com/office/drawing/2014/main" id="{511EBCDE-57E4-8262-49DB-DB6068745399}"/>
              </a:ext>
            </a:extLst>
          </p:cNvPr>
          <p:cNvCxnSpPr>
            <a:cxnSpLocks/>
          </p:cNvCxnSpPr>
          <p:nvPr/>
        </p:nvCxnSpPr>
        <p:spPr>
          <a:xfrm>
            <a:off x="4878254" y="2682177"/>
            <a:ext cx="0" cy="414220"/>
          </a:xfrm>
          <a:prstGeom prst="straightConnector1">
            <a:avLst/>
          </a:prstGeom>
          <a:ln w="25400">
            <a:solidFill>
              <a:srgbClr val="C00000"/>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pic>
        <p:nvPicPr>
          <p:cNvPr id="2050" name="Picture 2" descr="6,400+ Application Programming Interface Illustrations, Royalty-Free Vector  Graphics &amp; Clip Art - iStock | Application programming interface icon">
            <a:extLst>
              <a:ext uri="{FF2B5EF4-FFF2-40B4-BE49-F238E27FC236}">
                <a16:creationId xmlns:a16="http://schemas.microsoft.com/office/drawing/2014/main" id="{0739CC40-0F09-59A7-EFD3-5C9BE83ED1B2}"/>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7391511" y="2921689"/>
            <a:ext cx="310937" cy="310937"/>
          </a:xfrm>
          <a:prstGeom prst="rect">
            <a:avLst/>
          </a:prstGeom>
          <a:noFill/>
          <a:extLst>
            <a:ext uri="{909E8E84-426E-40DD-AFC4-6F175D3DCCD1}">
              <a14:hiddenFill xmlns:a14="http://schemas.microsoft.com/office/drawing/2010/main">
                <a:solidFill>
                  <a:srgbClr val="FFFFFF"/>
                </a:solidFill>
              </a14:hiddenFill>
            </a:ext>
          </a:extLst>
        </p:spPr>
      </p:pic>
      <p:sp>
        <p:nvSpPr>
          <p:cNvPr id="1029" name="TextBox 1028">
            <a:extLst>
              <a:ext uri="{FF2B5EF4-FFF2-40B4-BE49-F238E27FC236}">
                <a16:creationId xmlns:a16="http://schemas.microsoft.com/office/drawing/2014/main" id="{479883A0-4BB1-18DB-4F48-12516D4A92C8}"/>
              </a:ext>
            </a:extLst>
          </p:cNvPr>
          <p:cNvSpPr txBox="1"/>
          <p:nvPr/>
        </p:nvSpPr>
        <p:spPr>
          <a:xfrm>
            <a:off x="1276243" y="5890485"/>
            <a:ext cx="2536537" cy="261610"/>
          </a:xfrm>
          <a:prstGeom prst="rect">
            <a:avLst/>
          </a:prstGeom>
          <a:solidFill>
            <a:schemeClr val="bg1"/>
          </a:solidFill>
        </p:spPr>
        <p:txBody>
          <a:bodyPr wrap="square">
            <a:spAutoFit/>
          </a:bodyPr>
          <a:lstStyle/>
          <a:p>
            <a:pPr algn="ctr"/>
            <a:r>
              <a:rPr lang="en-IN" sz="1100" b="1" i="0">
                <a:effectLst/>
                <a:latin typeface="Calibri" panose="020F0502020204030204" pitchFamily="34" charset="0"/>
                <a:cs typeface="Calibri" panose="020F0502020204030204" pitchFamily="34" charset="0"/>
              </a:rPr>
              <a:t>Microfrontend Composed Application(s)</a:t>
            </a:r>
          </a:p>
        </p:txBody>
      </p:sp>
      <p:sp>
        <p:nvSpPr>
          <p:cNvPr id="3" name="Oval 2">
            <a:extLst>
              <a:ext uri="{FF2B5EF4-FFF2-40B4-BE49-F238E27FC236}">
                <a16:creationId xmlns:a16="http://schemas.microsoft.com/office/drawing/2014/main" id="{33B5444F-D683-BFD5-CCF9-B4CAABAAD46A}"/>
              </a:ext>
            </a:extLst>
          </p:cNvPr>
          <p:cNvSpPr/>
          <p:nvPr/>
        </p:nvSpPr>
        <p:spPr>
          <a:xfrm>
            <a:off x="980873" y="385111"/>
            <a:ext cx="319838" cy="321762"/>
          </a:xfrm>
          <a:prstGeom prst="ellipse">
            <a:avLst/>
          </a:prstGeom>
          <a:solidFill>
            <a:srgbClr val="C00000"/>
          </a:solidFill>
        </p:spPr>
        <p:style>
          <a:lnRef idx="0">
            <a:schemeClr val="dk1"/>
          </a:lnRef>
          <a:fillRef idx="3">
            <a:schemeClr val="dk1"/>
          </a:fillRef>
          <a:effectRef idx="3">
            <a:schemeClr val="dk1"/>
          </a:effectRef>
          <a:fontRef idx="minor">
            <a:schemeClr val="lt1"/>
          </a:fontRef>
        </p:style>
        <p:txBody>
          <a:bodyPr rtlCol="0" anchor="ctr"/>
          <a:lstStyle/>
          <a:p>
            <a:pPr algn="ctr"/>
            <a:r>
              <a:rPr lang="en-US" sz="1000" b="1"/>
              <a:t>1</a:t>
            </a:r>
          </a:p>
        </p:txBody>
      </p:sp>
      <p:sp>
        <p:nvSpPr>
          <p:cNvPr id="9" name="Oval 8">
            <a:extLst>
              <a:ext uri="{FF2B5EF4-FFF2-40B4-BE49-F238E27FC236}">
                <a16:creationId xmlns:a16="http://schemas.microsoft.com/office/drawing/2014/main" id="{402BD68C-B348-24E5-E4E4-5915B90C8DB8}"/>
              </a:ext>
            </a:extLst>
          </p:cNvPr>
          <p:cNvSpPr/>
          <p:nvPr/>
        </p:nvSpPr>
        <p:spPr>
          <a:xfrm>
            <a:off x="4244080" y="353046"/>
            <a:ext cx="319838" cy="321762"/>
          </a:xfrm>
          <a:prstGeom prst="ellipse">
            <a:avLst/>
          </a:prstGeom>
          <a:solidFill>
            <a:srgbClr val="C00000"/>
          </a:solidFill>
        </p:spPr>
        <p:style>
          <a:lnRef idx="0">
            <a:schemeClr val="dk1"/>
          </a:lnRef>
          <a:fillRef idx="3">
            <a:schemeClr val="dk1"/>
          </a:fillRef>
          <a:effectRef idx="3">
            <a:schemeClr val="dk1"/>
          </a:effectRef>
          <a:fontRef idx="minor">
            <a:schemeClr val="lt1"/>
          </a:fontRef>
        </p:style>
        <p:txBody>
          <a:bodyPr rtlCol="0" anchor="ctr"/>
          <a:lstStyle/>
          <a:p>
            <a:pPr algn="ctr"/>
            <a:r>
              <a:rPr lang="en-US" sz="1000" b="1"/>
              <a:t>2</a:t>
            </a:r>
          </a:p>
        </p:txBody>
      </p:sp>
      <p:cxnSp>
        <p:nvCxnSpPr>
          <p:cNvPr id="10" name="Straight Arrow Connector 9">
            <a:extLst>
              <a:ext uri="{FF2B5EF4-FFF2-40B4-BE49-F238E27FC236}">
                <a16:creationId xmlns:a16="http://schemas.microsoft.com/office/drawing/2014/main" id="{0729A51D-C004-3F24-0522-2F9B1D78FB5F}"/>
              </a:ext>
            </a:extLst>
          </p:cNvPr>
          <p:cNvCxnSpPr>
            <a:cxnSpLocks/>
          </p:cNvCxnSpPr>
          <p:nvPr/>
        </p:nvCxnSpPr>
        <p:spPr>
          <a:xfrm>
            <a:off x="10099467" y="706815"/>
            <a:ext cx="2092533" cy="0"/>
          </a:xfrm>
          <a:prstGeom prst="straightConnector1">
            <a:avLst/>
          </a:prstGeom>
          <a:ln w="28575">
            <a:solidFill>
              <a:schemeClr val="bg1">
                <a:lumMod val="65000"/>
              </a:schemeClr>
            </a:solidFill>
            <a:prstDash val="sysDot"/>
          </a:ln>
        </p:spPr>
        <p:style>
          <a:lnRef idx="3">
            <a:schemeClr val="accent3"/>
          </a:lnRef>
          <a:fillRef idx="0">
            <a:schemeClr val="accent3"/>
          </a:fillRef>
          <a:effectRef idx="2">
            <a:schemeClr val="accent3"/>
          </a:effectRef>
          <a:fontRef idx="minor">
            <a:schemeClr val="tx1"/>
          </a:fontRef>
        </p:style>
      </p:cxnSp>
      <p:sp>
        <p:nvSpPr>
          <p:cNvPr id="15" name="Oval 14">
            <a:extLst>
              <a:ext uri="{FF2B5EF4-FFF2-40B4-BE49-F238E27FC236}">
                <a16:creationId xmlns:a16="http://schemas.microsoft.com/office/drawing/2014/main" id="{5873C213-45E0-E980-DBAF-FB2211A09005}"/>
              </a:ext>
            </a:extLst>
          </p:cNvPr>
          <p:cNvSpPr/>
          <p:nvPr/>
        </p:nvSpPr>
        <p:spPr>
          <a:xfrm>
            <a:off x="5729992" y="348058"/>
            <a:ext cx="319838" cy="321762"/>
          </a:xfrm>
          <a:prstGeom prst="ellipse">
            <a:avLst/>
          </a:prstGeom>
          <a:solidFill>
            <a:srgbClr val="C00000"/>
          </a:solidFill>
        </p:spPr>
        <p:style>
          <a:lnRef idx="0">
            <a:schemeClr val="dk1"/>
          </a:lnRef>
          <a:fillRef idx="3">
            <a:schemeClr val="dk1"/>
          </a:fillRef>
          <a:effectRef idx="3">
            <a:schemeClr val="dk1"/>
          </a:effectRef>
          <a:fontRef idx="minor">
            <a:schemeClr val="lt1"/>
          </a:fontRef>
        </p:style>
        <p:txBody>
          <a:bodyPr rtlCol="0" anchor="ctr"/>
          <a:lstStyle/>
          <a:p>
            <a:pPr algn="ctr"/>
            <a:r>
              <a:rPr lang="en-US" sz="1000" b="1"/>
              <a:t>3</a:t>
            </a:r>
          </a:p>
        </p:txBody>
      </p:sp>
      <p:sp>
        <p:nvSpPr>
          <p:cNvPr id="16" name="Oval 15">
            <a:extLst>
              <a:ext uri="{FF2B5EF4-FFF2-40B4-BE49-F238E27FC236}">
                <a16:creationId xmlns:a16="http://schemas.microsoft.com/office/drawing/2014/main" id="{4C7873C5-107D-D354-39F7-9560D2B4DA82}"/>
              </a:ext>
            </a:extLst>
          </p:cNvPr>
          <p:cNvSpPr/>
          <p:nvPr/>
        </p:nvSpPr>
        <p:spPr>
          <a:xfrm>
            <a:off x="5872321" y="3303621"/>
            <a:ext cx="319838" cy="321762"/>
          </a:xfrm>
          <a:prstGeom prst="ellipse">
            <a:avLst/>
          </a:prstGeom>
          <a:solidFill>
            <a:srgbClr val="C00000"/>
          </a:solidFill>
        </p:spPr>
        <p:style>
          <a:lnRef idx="0">
            <a:schemeClr val="dk1"/>
          </a:lnRef>
          <a:fillRef idx="3">
            <a:schemeClr val="dk1"/>
          </a:fillRef>
          <a:effectRef idx="3">
            <a:schemeClr val="dk1"/>
          </a:effectRef>
          <a:fontRef idx="minor">
            <a:schemeClr val="lt1"/>
          </a:fontRef>
        </p:style>
        <p:txBody>
          <a:bodyPr rtlCol="0" anchor="ctr"/>
          <a:lstStyle/>
          <a:p>
            <a:pPr algn="ctr"/>
            <a:r>
              <a:rPr lang="en-US" sz="1000" b="1"/>
              <a:t>4</a:t>
            </a:r>
          </a:p>
        </p:txBody>
      </p:sp>
      <p:sp>
        <p:nvSpPr>
          <p:cNvPr id="22" name="Oval 21">
            <a:extLst>
              <a:ext uri="{FF2B5EF4-FFF2-40B4-BE49-F238E27FC236}">
                <a16:creationId xmlns:a16="http://schemas.microsoft.com/office/drawing/2014/main" id="{423836F4-5395-A602-6EBA-A50B8F7B3DDA}"/>
              </a:ext>
            </a:extLst>
          </p:cNvPr>
          <p:cNvSpPr/>
          <p:nvPr/>
        </p:nvSpPr>
        <p:spPr>
          <a:xfrm>
            <a:off x="9979893" y="345222"/>
            <a:ext cx="319838" cy="321762"/>
          </a:xfrm>
          <a:prstGeom prst="ellipse">
            <a:avLst/>
          </a:prstGeom>
          <a:solidFill>
            <a:srgbClr val="C00000"/>
          </a:solidFill>
        </p:spPr>
        <p:style>
          <a:lnRef idx="0">
            <a:schemeClr val="dk1"/>
          </a:lnRef>
          <a:fillRef idx="3">
            <a:schemeClr val="dk1"/>
          </a:fillRef>
          <a:effectRef idx="3">
            <a:schemeClr val="dk1"/>
          </a:effectRef>
          <a:fontRef idx="minor">
            <a:schemeClr val="lt1"/>
          </a:fontRef>
        </p:style>
        <p:txBody>
          <a:bodyPr rtlCol="0" anchor="ctr"/>
          <a:lstStyle/>
          <a:p>
            <a:pPr algn="ctr"/>
            <a:r>
              <a:rPr lang="en-US" sz="1000" b="1"/>
              <a:t>5</a:t>
            </a:r>
          </a:p>
        </p:txBody>
      </p:sp>
    </p:spTree>
    <p:extLst>
      <p:ext uri="{BB962C8B-B14F-4D97-AF65-F5344CB8AC3E}">
        <p14:creationId xmlns:p14="http://schemas.microsoft.com/office/powerpoint/2010/main" val="382840540"/>
      </p:ext>
    </p:extLst>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2"/>
          <p:cNvSpPr txBox="1"/>
          <p:nvPr/>
        </p:nvSpPr>
        <p:spPr>
          <a:xfrm>
            <a:off x="365760" y="164592"/>
            <a:ext cx="10515600" cy="457200"/>
          </a:xfrm>
          <a:prstGeom prst="rect">
            <a:avLst/>
          </a:prstGeom>
          <a:noFill/>
        </p:spPr>
        <p:txBody>
          <a:bodyPr wrap="square">
            <a:spAutoFit/>
          </a:bodyPr>
          <a:lstStyle/>
          <a:p>
            <a:pPr algn="l"/>
            <a:r>
              <a:rPr sz="2200" b="1" i="0">
                <a:solidFill>
                  <a:srgbClr val="202020"/>
                </a:solidFill>
                <a:latin typeface="Calibri"/>
              </a:rPr>
              <a:t>VendorPulse Solution Architecture (Shell)</a:t>
            </a:r>
          </a:p>
        </p:txBody>
      </p:sp>
      <p:sp>
        <p:nvSpPr>
          <p:cNvPr id="5" name="TextBox 3"/>
          <p:cNvSpPr txBox="1"/>
          <p:nvPr/>
        </p:nvSpPr>
        <p:spPr>
          <a:xfrm>
            <a:off x="365760" y="603504"/>
            <a:ext cx="11430000" cy="274320"/>
          </a:xfrm>
          <a:prstGeom prst="rect">
            <a:avLst/>
          </a:prstGeom>
          <a:noFill/>
        </p:spPr>
        <p:txBody>
          <a:bodyPr wrap="square">
            <a:spAutoFit/>
          </a:bodyPr>
          <a:lstStyle/>
          <a:p>
            <a:pPr algn="l"/>
            <a:r>
              <a:rPr sz="1050" b="0" i="0">
                <a:solidFill>
                  <a:srgbClr val="595959"/>
                </a:solidFill>
                <a:latin typeface="Calibri"/>
              </a:rPr>
              <a:t>Single-tenant in Shell Azure.  Deterministic core first, AI second.  Agent layer: MAF SDK on Microsoft Foundry.</a:t>
            </a:r>
          </a:p>
        </p:txBody>
      </p:sp>
      <p:cxnSp>
        <p:nvCxnSpPr>
          <p:cNvPr id="6" name="Connector 4"/>
          <p:cNvCxnSpPr/>
          <p:nvPr/>
        </p:nvCxnSpPr>
        <p:spPr>
          <a:xfrm>
            <a:off x="365760" y="932688"/>
            <a:ext cx="11457432" cy="0"/>
          </a:xfrm>
          <a:prstGeom prst="line">
            <a:avLst/>
          </a:prstGeom>
          <a:ln w="12700">
            <a:solidFill>
              <a:srgbClr val="BFBFBF"/>
            </a:solidFill>
          </a:ln>
          <a:effectLst/>
        </p:spPr>
        <p:style>
          <a:lnRef idx="2">
            <a:schemeClr val="accent1"/>
          </a:lnRef>
          <a:fillRef idx="0">
            <a:schemeClr val="accent1"/>
          </a:fillRef>
          <a:effectRef idx="1">
            <a:schemeClr val="accent1"/>
          </a:effectRef>
          <a:fontRef idx="minor">
            <a:schemeClr val="tx1"/>
          </a:fontRef>
        </p:style>
      </p:cxnSp>
      <p:sp>
        <p:nvSpPr>
          <p:cNvPr id="7" name="TextBox 5"/>
          <p:cNvSpPr txBox="1"/>
          <p:nvPr/>
        </p:nvSpPr>
        <p:spPr>
          <a:xfrm>
            <a:off x="320040" y="1188720"/>
            <a:ext cx="2194560" cy="256032"/>
          </a:xfrm>
          <a:prstGeom prst="rect">
            <a:avLst/>
          </a:prstGeom>
          <a:noFill/>
        </p:spPr>
        <p:txBody>
          <a:bodyPr wrap="square">
            <a:spAutoFit/>
          </a:bodyPr>
          <a:lstStyle/>
          <a:p>
            <a:pPr algn="l"/>
            <a:r>
              <a:rPr sz="1200" b="1" i="0">
                <a:solidFill>
                  <a:srgbClr val="595959"/>
                </a:solidFill>
                <a:latin typeface="Calibri"/>
              </a:rPr>
              <a:t>Client</a:t>
            </a:r>
          </a:p>
        </p:txBody>
      </p:sp>
      <p:cxnSp>
        <p:nvCxnSpPr>
          <p:cNvPr id="8" name="Connector 6"/>
          <p:cNvCxnSpPr/>
          <p:nvPr/>
        </p:nvCxnSpPr>
        <p:spPr>
          <a:xfrm>
            <a:off x="320040" y="1499616"/>
            <a:ext cx="2194560" cy="0"/>
          </a:xfrm>
          <a:prstGeom prst="line">
            <a:avLst/>
          </a:prstGeom>
          <a:ln w="12700">
            <a:solidFill>
              <a:srgbClr val="BFBFBF"/>
            </a:solidFill>
          </a:ln>
          <a:effectLst/>
        </p:spPr>
        <p:style>
          <a:lnRef idx="2">
            <a:schemeClr val="accent1"/>
          </a:lnRef>
          <a:fillRef idx="0">
            <a:schemeClr val="accent1"/>
          </a:fillRef>
          <a:effectRef idx="1">
            <a:schemeClr val="accent1"/>
          </a:effectRef>
          <a:fontRef idx="minor">
            <a:schemeClr val="tx1"/>
          </a:fontRef>
        </p:style>
      </p:cxnSp>
      <p:sp>
        <p:nvSpPr>
          <p:cNvPr id="9" name="Oval 7"/>
          <p:cNvSpPr/>
          <p:nvPr/>
        </p:nvSpPr>
        <p:spPr>
          <a:xfrm>
            <a:off x="301751" y="914400"/>
            <a:ext cx="274320" cy="27432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1100">
                <a:solidFill>
                  <a:srgbClr val="FFFFFF"/>
                </a:solidFill>
                <a:latin typeface="Calibri"/>
              </a:rPr>
              <a:t>1</a:t>
            </a:r>
          </a:p>
        </p:txBody>
      </p:sp>
      <p:sp>
        <p:nvSpPr>
          <p:cNvPr id="10" name="Rectangle 8"/>
          <p:cNvSpPr/>
          <p:nvPr/>
        </p:nvSpPr>
        <p:spPr>
          <a:xfrm>
            <a:off x="365760" y="1572768"/>
            <a:ext cx="292608" cy="292608"/>
          </a:xfrm>
          <a:prstGeom prst="rect">
            <a:avLst/>
          </a:prstGeom>
          <a:solidFill>
            <a:srgbClr val="FFFFFF"/>
          </a:solidFill>
          <a:ln w="9525">
            <a:solidFill>
              <a:srgbClr val="BFBFB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b="0" sz="600">
                <a:solidFill>
                  <a:srgbClr val="BFBFBF"/>
                </a:solidFill>
                <a:latin typeface="Calibri"/>
              </a:rPr>
              <a:t>icon</a:t>
            </a:r>
          </a:p>
        </p:txBody>
      </p:sp>
      <p:sp>
        <p:nvSpPr>
          <p:cNvPr id="11" name="Rectangle 9"/>
          <p:cNvSpPr/>
          <p:nvPr/>
        </p:nvSpPr>
        <p:spPr>
          <a:xfrm>
            <a:off x="320040" y="2011680"/>
            <a:ext cx="2194560" cy="384048"/>
          </a:xfrm>
          <a:prstGeom prst="rect">
            <a:avLst/>
          </a:prstGeom>
          <a:solidFill>
            <a:srgbClr val="FFFFFF"/>
          </a:solidFill>
          <a:ln w="9525">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b="1" sz="1050">
                <a:solidFill>
                  <a:srgbClr val="202020"/>
                </a:solidFill>
                <a:latin typeface="Calibri"/>
              </a:rPr>
              <a:t>Web client (browser)</a:t>
            </a:r>
          </a:p>
        </p:txBody>
      </p:sp>
      <p:sp>
        <p:nvSpPr>
          <p:cNvPr id="12" name="Rectangle 10"/>
          <p:cNvSpPr/>
          <p:nvPr/>
        </p:nvSpPr>
        <p:spPr>
          <a:xfrm>
            <a:off x="320040" y="2560320"/>
            <a:ext cx="2194560" cy="777240"/>
          </a:xfrm>
          <a:prstGeom prst="rect">
            <a:avLst/>
          </a:prstGeom>
          <a:solidFill>
            <a:srgbClr val="FFFFFF"/>
          </a:solidFill>
          <a:ln w="9525">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b="1" sz="1000">
                <a:solidFill>
                  <a:srgbClr val="202020"/>
                </a:solidFill>
                <a:latin typeface="Calibri"/>
              </a:rPr>
              <a:t>VMO Coordinator / Sponsor / Viewer</a:t>
            </a:r>
          </a:p>
          <a:p>
            <a:pPr algn="ctr"/>
            <a:r>
              <a:rPr sz="800">
                <a:solidFill>
                  <a:srgbClr val="595959"/>
                </a:solidFill>
                <a:latin typeface="Calibri"/>
              </a:rPr>
              <a:t>authenticated via Entra SSO</a:t>
            </a:r>
          </a:p>
        </p:txBody>
      </p:sp>
      <p:sp>
        <p:nvSpPr>
          <p:cNvPr id="13" name="Rectangle 11"/>
          <p:cNvSpPr/>
          <p:nvPr/>
        </p:nvSpPr>
        <p:spPr>
          <a:xfrm>
            <a:off x="320040" y="3520440"/>
            <a:ext cx="2194560" cy="777240"/>
          </a:xfrm>
          <a:prstGeom prst="rect">
            <a:avLst/>
          </a:prstGeom>
          <a:solidFill>
            <a:srgbClr val="FFFFFF"/>
          </a:solidFill>
          <a:ln w="9525">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b="1" sz="1000">
                <a:solidFill>
                  <a:srgbClr val="202020"/>
                </a:solidFill>
                <a:latin typeface="Calibri"/>
              </a:rPr>
              <a:t>React 19 SPA</a:t>
            </a:r>
          </a:p>
          <a:p>
            <a:pPr algn="ctr"/>
            <a:r>
              <a:rPr sz="800">
                <a:solidFill>
                  <a:srgbClr val="595959"/>
                </a:solidFill>
                <a:latin typeface="Calibri"/>
              </a:rPr>
              <a:t>Design System / ApprovalPanel</a:t>
            </a:r>
          </a:p>
        </p:txBody>
      </p:sp>
      <p:sp>
        <p:nvSpPr>
          <p:cNvPr id="14" name="Rectangle 12"/>
          <p:cNvSpPr/>
          <p:nvPr/>
        </p:nvSpPr>
        <p:spPr>
          <a:xfrm>
            <a:off x="320040" y="4480560"/>
            <a:ext cx="2194560" cy="777240"/>
          </a:xfrm>
          <a:prstGeom prst="rect">
            <a:avLst/>
          </a:prstGeom>
          <a:solidFill>
            <a:srgbClr val="FFFFFF"/>
          </a:solidFill>
          <a:ln w="9525">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b="1" sz="1000">
                <a:solidFill>
                  <a:srgbClr val="202020"/>
                </a:solidFill>
                <a:latin typeface="Calibri"/>
              </a:rPr>
              <a:t>Native scorecard form</a:t>
            </a:r>
          </a:p>
          <a:p>
            <a:pPr algn="ctr"/>
            <a:r>
              <a:rPr sz="800">
                <a:solidFill>
                  <a:srgbClr val="595959"/>
                </a:solidFill>
                <a:latin typeface="Calibri"/>
              </a:rPr>
              <a:t>magic-link, Entra SSO (ADR-005)</a:t>
            </a:r>
          </a:p>
        </p:txBody>
      </p:sp>
      <p:sp>
        <p:nvSpPr>
          <p:cNvPr id="15" name="Rectangle 13"/>
          <p:cNvSpPr/>
          <p:nvPr/>
        </p:nvSpPr>
        <p:spPr>
          <a:xfrm>
            <a:off x="320040" y="5440680"/>
            <a:ext cx="2194560" cy="777240"/>
          </a:xfrm>
          <a:prstGeom prst="rect">
            <a:avLst/>
          </a:prstGeom>
          <a:solidFill>
            <a:srgbClr val="FFFFFF"/>
          </a:solidFill>
          <a:ln w="1587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b="1" sz="1000">
                <a:solidFill>
                  <a:srgbClr val="202020"/>
                </a:solidFill>
                <a:latin typeface="Calibri"/>
              </a:rPr>
              <a:t>AI-generated, pending approval</a:t>
            </a:r>
          </a:p>
          <a:p>
            <a:pPr algn="ctr"/>
            <a:r>
              <a:rPr sz="800">
                <a:solidFill>
                  <a:srgbClr val="595959"/>
                </a:solidFill>
                <a:latin typeface="Calibri"/>
              </a:rPr>
              <a:t>transparency badge (IRM 3.5.3)</a:t>
            </a:r>
          </a:p>
        </p:txBody>
      </p:sp>
      <p:sp>
        <p:nvSpPr>
          <p:cNvPr id="16" name="TextBox 14"/>
          <p:cNvSpPr txBox="1"/>
          <p:nvPr/>
        </p:nvSpPr>
        <p:spPr>
          <a:xfrm>
            <a:off x="2697480" y="1188720"/>
            <a:ext cx="1005840" cy="256032"/>
          </a:xfrm>
          <a:prstGeom prst="rect">
            <a:avLst/>
          </a:prstGeom>
          <a:noFill/>
        </p:spPr>
        <p:txBody>
          <a:bodyPr wrap="square">
            <a:spAutoFit/>
          </a:bodyPr>
          <a:lstStyle/>
          <a:p>
            <a:pPr algn="l"/>
            <a:r>
              <a:rPr sz="1200" b="1" i="0">
                <a:solidFill>
                  <a:srgbClr val="595959"/>
                </a:solidFill>
                <a:latin typeface="Calibri"/>
              </a:rPr>
              <a:t>Edge</a:t>
            </a:r>
          </a:p>
        </p:txBody>
      </p:sp>
      <p:cxnSp>
        <p:nvCxnSpPr>
          <p:cNvPr id="17" name="Connector 15"/>
          <p:cNvCxnSpPr/>
          <p:nvPr/>
        </p:nvCxnSpPr>
        <p:spPr>
          <a:xfrm>
            <a:off x="2697480" y="1499616"/>
            <a:ext cx="1005840" cy="0"/>
          </a:xfrm>
          <a:prstGeom prst="line">
            <a:avLst/>
          </a:prstGeom>
          <a:ln w="12700">
            <a:solidFill>
              <a:srgbClr val="BFBFBF"/>
            </a:solidFill>
          </a:ln>
          <a:effectLst/>
        </p:spPr>
        <p:style>
          <a:lnRef idx="2">
            <a:schemeClr val="accent1"/>
          </a:lnRef>
          <a:fillRef idx="0">
            <a:schemeClr val="accent1"/>
          </a:fillRef>
          <a:effectRef idx="1">
            <a:schemeClr val="accent1"/>
          </a:effectRef>
          <a:fontRef idx="minor">
            <a:schemeClr val="tx1"/>
          </a:fontRef>
        </p:style>
      </p:cxnSp>
      <p:sp>
        <p:nvSpPr>
          <p:cNvPr id="18" name="Rectangle 16"/>
          <p:cNvSpPr/>
          <p:nvPr/>
        </p:nvSpPr>
        <p:spPr>
          <a:xfrm>
            <a:off x="3035808" y="1572768"/>
            <a:ext cx="292608" cy="292608"/>
          </a:xfrm>
          <a:prstGeom prst="rect">
            <a:avLst/>
          </a:prstGeom>
          <a:solidFill>
            <a:srgbClr val="FFFFFF"/>
          </a:solidFill>
          <a:ln w="9525">
            <a:solidFill>
              <a:srgbClr val="BFBFB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b="0" sz="600">
                <a:solidFill>
                  <a:srgbClr val="BFBFBF"/>
                </a:solidFill>
                <a:latin typeface="Calibri"/>
              </a:rPr>
              <a:t>icon</a:t>
            </a:r>
          </a:p>
        </p:txBody>
      </p:sp>
      <p:sp>
        <p:nvSpPr>
          <p:cNvPr id="19" name="Rectangle 17"/>
          <p:cNvSpPr/>
          <p:nvPr/>
        </p:nvSpPr>
        <p:spPr>
          <a:xfrm>
            <a:off x="2697480" y="2926080"/>
            <a:ext cx="960120" cy="1280160"/>
          </a:xfrm>
          <a:prstGeom prst="rect">
            <a:avLst/>
          </a:prstGeom>
          <a:solidFill>
            <a:srgbClr val="FFFFFF"/>
          </a:solidFill>
          <a:ln w="9525">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b="1" sz="950">
                <a:solidFill>
                  <a:srgbClr val="202020"/>
                </a:solidFill>
                <a:latin typeface="Calibri"/>
              </a:rPr>
              <a:t>Azure Front Door + WAF</a:t>
            </a:r>
          </a:p>
          <a:p>
            <a:pPr algn="ctr"/>
            <a:r>
              <a:rPr sz="700">
                <a:solidFill>
                  <a:srgbClr val="595959"/>
                </a:solidFill>
                <a:latin typeface="Calibri"/>
              </a:rPr>
              <a:t>TLS, OWASP, origin-lock</a:t>
            </a:r>
          </a:p>
        </p:txBody>
      </p:sp>
      <p:sp>
        <p:nvSpPr>
          <p:cNvPr id="20" name="TextBox 18"/>
          <p:cNvSpPr txBox="1"/>
          <p:nvPr/>
        </p:nvSpPr>
        <p:spPr>
          <a:xfrm>
            <a:off x="3886200" y="1188720"/>
            <a:ext cx="5257800" cy="256032"/>
          </a:xfrm>
          <a:prstGeom prst="rect">
            <a:avLst/>
          </a:prstGeom>
          <a:noFill/>
        </p:spPr>
        <p:txBody>
          <a:bodyPr wrap="square">
            <a:spAutoFit/>
          </a:bodyPr>
          <a:lstStyle/>
          <a:p>
            <a:pPr algn="l"/>
            <a:r>
              <a:rPr sz="1200" b="1" i="0">
                <a:solidFill>
                  <a:srgbClr val="595959"/>
                </a:solidFill>
                <a:latin typeface="Calibri"/>
              </a:rPr>
              <a:t>Shell Azure Subscription</a:t>
            </a:r>
          </a:p>
        </p:txBody>
      </p:sp>
      <p:cxnSp>
        <p:nvCxnSpPr>
          <p:cNvPr id="21" name="Connector 19"/>
          <p:cNvCxnSpPr/>
          <p:nvPr/>
        </p:nvCxnSpPr>
        <p:spPr>
          <a:xfrm>
            <a:off x="3886200" y="1499616"/>
            <a:ext cx="5257800" cy="0"/>
          </a:xfrm>
          <a:prstGeom prst="line">
            <a:avLst/>
          </a:prstGeom>
          <a:ln w="12700">
            <a:solidFill>
              <a:srgbClr val="BFBFBF"/>
            </a:solidFill>
          </a:ln>
          <a:effectLst/>
        </p:spPr>
        <p:style>
          <a:lnRef idx="2">
            <a:schemeClr val="accent1"/>
          </a:lnRef>
          <a:fillRef idx="0">
            <a:schemeClr val="accent1"/>
          </a:fillRef>
          <a:effectRef idx="1">
            <a:schemeClr val="accent1"/>
          </a:effectRef>
          <a:fontRef idx="minor">
            <a:schemeClr val="tx1"/>
          </a:fontRef>
        </p:style>
      </p:cxnSp>
      <p:sp>
        <p:nvSpPr>
          <p:cNvPr id="22" name="Oval 20"/>
          <p:cNvSpPr/>
          <p:nvPr/>
        </p:nvSpPr>
        <p:spPr>
          <a:xfrm>
            <a:off x="3867912" y="914400"/>
            <a:ext cx="274320" cy="27432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1100">
                <a:solidFill>
                  <a:srgbClr val="FFFFFF"/>
                </a:solidFill>
                <a:latin typeface="Calibri"/>
              </a:rPr>
              <a:t>3</a:t>
            </a:r>
          </a:p>
        </p:txBody>
      </p:sp>
      <p:sp>
        <p:nvSpPr>
          <p:cNvPr id="23" name="Rectangle 21"/>
          <p:cNvSpPr/>
          <p:nvPr/>
        </p:nvSpPr>
        <p:spPr>
          <a:xfrm>
            <a:off x="3886200" y="1755648"/>
            <a:ext cx="5257800" cy="4690872"/>
          </a:xfrm>
          <a:prstGeom prst="rect">
            <a:avLst/>
          </a:prstGeom>
          <a:solidFill>
            <a:srgbClr val="FFFFFF"/>
          </a:solidFill>
          <a:ln w="15875">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2"/>
          <p:cNvSpPr txBox="1"/>
          <p:nvPr/>
        </p:nvSpPr>
        <p:spPr>
          <a:xfrm>
            <a:off x="3995928" y="1792224"/>
            <a:ext cx="5038344" cy="237744"/>
          </a:xfrm>
          <a:prstGeom prst="rect">
            <a:avLst/>
          </a:prstGeom>
          <a:noFill/>
        </p:spPr>
        <p:txBody>
          <a:bodyPr wrap="square">
            <a:spAutoFit/>
          </a:bodyPr>
          <a:lstStyle/>
          <a:p>
            <a:pPr algn="l"/>
            <a:r>
              <a:rPr sz="850" b="1" i="0">
                <a:solidFill>
                  <a:srgbClr val="595959"/>
                </a:solidFill>
                <a:latin typeface="Calibri"/>
              </a:rPr>
              <a:t>West Europe  /  Private VNet</a:t>
            </a:r>
          </a:p>
        </p:txBody>
      </p:sp>
      <p:sp>
        <p:nvSpPr>
          <p:cNvPr id="25" name="Rectangle 23"/>
          <p:cNvSpPr/>
          <p:nvPr/>
        </p:nvSpPr>
        <p:spPr>
          <a:xfrm>
            <a:off x="4069080" y="2167128"/>
            <a:ext cx="4892040" cy="2103120"/>
          </a:xfrm>
          <a:prstGeom prst="rect">
            <a:avLst/>
          </a:prstGeom>
          <a:solidFill>
            <a:srgbClr val="FFFFFF"/>
          </a:solidFill>
          <a:ln w="9525">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4"/>
          <p:cNvSpPr/>
          <p:nvPr/>
        </p:nvSpPr>
        <p:spPr>
          <a:xfrm>
            <a:off x="4123944" y="2212848"/>
            <a:ext cx="237744" cy="237744"/>
          </a:xfrm>
          <a:prstGeom prst="rect">
            <a:avLst/>
          </a:prstGeom>
          <a:solidFill>
            <a:srgbClr val="FFFFFF"/>
          </a:solidFill>
          <a:ln w="9525">
            <a:solidFill>
              <a:srgbClr val="BFBFB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b="0" sz="600">
                <a:solidFill>
                  <a:srgbClr val="BFBFBF"/>
                </a:solidFill>
                <a:latin typeface="Calibri"/>
              </a:rPr>
              <a:t>icon</a:t>
            </a:r>
          </a:p>
        </p:txBody>
      </p:sp>
      <p:sp>
        <p:nvSpPr>
          <p:cNvPr id="27" name="TextBox 25"/>
          <p:cNvSpPr txBox="1"/>
          <p:nvPr/>
        </p:nvSpPr>
        <p:spPr>
          <a:xfrm>
            <a:off x="4398264" y="2203704"/>
            <a:ext cx="4526279" cy="274320"/>
          </a:xfrm>
          <a:prstGeom prst="rect">
            <a:avLst/>
          </a:prstGeom>
          <a:noFill/>
        </p:spPr>
        <p:txBody>
          <a:bodyPr wrap="square">
            <a:spAutoFit/>
          </a:bodyPr>
          <a:lstStyle/>
          <a:p>
            <a:pPr algn="l"/>
            <a:r>
              <a:rPr sz="950" b="1" i="0">
                <a:solidFill>
                  <a:srgbClr val="595959"/>
                </a:solidFill>
                <a:latin typeface="Calibri"/>
              </a:rPr>
              <a:t>Azure App Service (Linux container) - FastAPI app</a:t>
            </a:r>
          </a:p>
        </p:txBody>
      </p:sp>
      <p:sp>
        <p:nvSpPr>
          <p:cNvPr id="28" name="Rectangle 26"/>
          <p:cNvSpPr/>
          <p:nvPr/>
        </p:nvSpPr>
        <p:spPr>
          <a:xfrm>
            <a:off x="4178808" y="2551176"/>
            <a:ext cx="2281427" cy="475488"/>
          </a:xfrm>
          <a:prstGeom prst="rect">
            <a:avLst/>
          </a:prstGeom>
          <a:solidFill>
            <a:srgbClr val="FFFFFF"/>
          </a:solidFill>
          <a:ln w="9525">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b="1" sz="900">
                <a:solidFill>
                  <a:srgbClr val="202020"/>
                </a:solidFill>
                <a:latin typeface="Calibri"/>
              </a:rPr>
              <a:t>Entra OIDC auth + RBAC</a:t>
            </a:r>
          </a:p>
        </p:txBody>
      </p:sp>
      <p:sp>
        <p:nvSpPr>
          <p:cNvPr id="29" name="Rectangle 27"/>
          <p:cNvSpPr/>
          <p:nvPr/>
        </p:nvSpPr>
        <p:spPr>
          <a:xfrm>
            <a:off x="6569964" y="2551176"/>
            <a:ext cx="2281427" cy="475488"/>
          </a:xfrm>
          <a:prstGeom prst="rect">
            <a:avLst/>
          </a:prstGeom>
          <a:solidFill>
            <a:srgbClr val="FFFFFF"/>
          </a:solidFill>
          <a:ln w="9525">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b="1" sz="900">
                <a:solidFill>
                  <a:srgbClr val="202020"/>
                </a:solidFill>
                <a:latin typeface="Calibri"/>
              </a:rPr>
              <a:t>WorkflowEngine (12-state)</a:t>
            </a:r>
          </a:p>
        </p:txBody>
      </p:sp>
      <p:sp>
        <p:nvSpPr>
          <p:cNvPr id="30" name="Rectangle 28"/>
          <p:cNvSpPr/>
          <p:nvPr/>
        </p:nvSpPr>
        <p:spPr>
          <a:xfrm>
            <a:off x="4178808" y="3099816"/>
            <a:ext cx="2281427" cy="475488"/>
          </a:xfrm>
          <a:prstGeom prst="rect">
            <a:avLst/>
          </a:prstGeom>
          <a:solidFill>
            <a:srgbClr val="FFFFFF"/>
          </a:solidFill>
          <a:ln w="1587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b="1" sz="900">
                <a:solidFill>
                  <a:srgbClr val="202020"/>
                </a:solidFill>
                <a:latin typeface="Calibri"/>
              </a:rPr>
              <a:t>Approval gate</a:t>
            </a:r>
          </a:p>
        </p:txBody>
      </p:sp>
      <p:sp>
        <p:nvSpPr>
          <p:cNvPr id="31" name="Rectangle 29"/>
          <p:cNvSpPr/>
          <p:nvPr/>
        </p:nvSpPr>
        <p:spPr>
          <a:xfrm>
            <a:off x="6569964" y="3099816"/>
            <a:ext cx="2281427" cy="475488"/>
          </a:xfrm>
          <a:prstGeom prst="rect">
            <a:avLst/>
          </a:prstGeom>
          <a:solidFill>
            <a:srgbClr val="FFFFFF"/>
          </a:solidFill>
          <a:ln w="9525">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b="1" sz="900">
                <a:solidFill>
                  <a:srgbClr val="202020"/>
                </a:solidFill>
                <a:latin typeface="Calibri"/>
              </a:rPr>
              <a:t>MAF Agent layer to Foundry</a:t>
            </a:r>
          </a:p>
        </p:txBody>
      </p:sp>
      <p:sp>
        <p:nvSpPr>
          <p:cNvPr id="32" name="Rectangle 30"/>
          <p:cNvSpPr/>
          <p:nvPr/>
        </p:nvSpPr>
        <p:spPr>
          <a:xfrm>
            <a:off x="4178808" y="3648456"/>
            <a:ext cx="2281427" cy="475488"/>
          </a:xfrm>
          <a:prstGeom prst="rect">
            <a:avLst/>
          </a:prstGeom>
          <a:solidFill>
            <a:srgbClr val="FFFFFF"/>
          </a:solidFill>
          <a:ln w="9525">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b="1" sz="900">
                <a:solidFill>
                  <a:srgbClr val="202020"/>
                </a:solidFill>
                <a:latin typeface="Calibri"/>
              </a:rPr>
              <a:t>Deterministic services</a:t>
            </a:r>
          </a:p>
        </p:txBody>
      </p:sp>
      <p:sp>
        <p:nvSpPr>
          <p:cNvPr id="33" name="Rectangle 31"/>
          <p:cNvSpPr/>
          <p:nvPr/>
        </p:nvSpPr>
        <p:spPr>
          <a:xfrm>
            <a:off x="6569964" y="3648456"/>
            <a:ext cx="2281427" cy="475488"/>
          </a:xfrm>
          <a:prstGeom prst="rect">
            <a:avLst/>
          </a:prstGeom>
          <a:solidFill>
            <a:srgbClr val="FFFFFF"/>
          </a:solidFill>
          <a:ln w="9525">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b="1" sz="900">
                <a:solidFill>
                  <a:srgbClr val="202020"/>
                </a:solidFill>
                <a:latin typeface="Calibri"/>
              </a:rPr>
              <a:t>GraphService (app-only cert)</a:t>
            </a:r>
          </a:p>
        </p:txBody>
      </p:sp>
      <p:sp>
        <p:nvSpPr>
          <p:cNvPr id="34" name="Rectangle 32"/>
          <p:cNvSpPr/>
          <p:nvPr/>
        </p:nvSpPr>
        <p:spPr>
          <a:xfrm>
            <a:off x="4069080" y="4407408"/>
            <a:ext cx="4892040" cy="1627632"/>
          </a:xfrm>
          <a:prstGeom prst="rect">
            <a:avLst/>
          </a:prstGeom>
          <a:solidFill>
            <a:srgbClr val="FFFFFF"/>
          </a:solidFill>
          <a:ln w="9525">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3"/>
          <p:cNvSpPr txBox="1"/>
          <p:nvPr/>
        </p:nvSpPr>
        <p:spPr>
          <a:xfrm>
            <a:off x="4142232" y="4443984"/>
            <a:ext cx="4745736" cy="237744"/>
          </a:xfrm>
          <a:prstGeom prst="rect">
            <a:avLst/>
          </a:prstGeom>
          <a:noFill/>
        </p:spPr>
        <p:txBody>
          <a:bodyPr wrap="square">
            <a:spAutoFit/>
          </a:bodyPr>
          <a:lstStyle/>
          <a:p>
            <a:pPr algn="l"/>
            <a:r>
              <a:rPr sz="900" b="1" i="0">
                <a:solidFill>
                  <a:srgbClr val="595959"/>
                </a:solidFill>
                <a:latin typeface="Calibri"/>
              </a:rPr>
              <a:t>Data Tier - Managed Identity, Private Link (no public access)</a:t>
            </a:r>
          </a:p>
        </p:txBody>
      </p:sp>
      <p:sp>
        <p:nvSpPr>
          <p:cNvPr id="36" name="Can 34"/>
          <p:cNvSpPr/>
          <p:nvPr/>
        </p:nvSpPr>
        <p:spPr>
          <a:xfrm>
            <a:off x="4233672" y="4791456"/>
            <a:ext cx="1371600" cy="1005840"/>
          </a:xfrm>
          <a:prstGeom prst="can">
            <a:avLst/>
          </a:prstGeom>
          <a:solidFill>
            <a:srgbClr val="FFFFFF"/>
          </a:solidFill>
          <a:ln w="9525">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b="1" sz="950">
                <a:solidFill>
                  <a:srgbClr val="202020"/>
                </a:solidFill>
                <a:latin typeface="Calibri"/>
              </a:rPr>
              <a:t>Azure PostgreSQL</a:t>
            </a:r>
          </a:p>
          <a:p>
            <a:pPr algn="ctr"/>
            <a:r>
              <a:rPr sz="700">
                <a:solidFill>
                  <a:srgbClr val="595959"/>
                </a:solidFill>
                <a:latin typeface="Calibri"/>
              </a:rPr>
              <a:t>Flexible Server</a:t>
            </a:r>
          </a:p>
        </p:txBody>
      </p:sp>
      <p:sp>
        <p:nvSpPr>
          <p:cNvPr id="37" name="TextBox 35"/>
          <p:cNvSpPr txBox="1"/>
          <p:nvPr/>
        </p:nvSpPr>
        <p:spPr>
          <a:xfrm>
            <a:off x="4160520" y="5797296"/>
            <a:ext cx="1554480" cy="182880"/>
          </a:xfrm>
          <a:prstGeom prst="rect">
            <a:avLst/>
          </a:prstGeom>
          <a:noFill/>
        </p:spPr>
        <p:txBody>
          <a:bodyPr wrap="square">
            <a:spAutoFit/>
          </a:bodyPr>
          <a:lstStyle/>
          <a:p>
            <a:pPr algn="ctr"/>
            <a:r>
              <a:rPr sz="650" b="0" i="0">
                <a:solidFill>
                  <a:srgbClr val="595959"/>
                </a:solidFill>
                <a:latin typeface="Calibri"/>
              </a:rPr>
              <a:t>cycles / scorecards / meetings / agent_runs</a:t>
            </a:r>
          </a:p>
        </p:txBody>
      </p:sp>
      <p:sp>
        <p:nvSpPr>
          <p:cNvPr id="38" name="Rectangle 36"/>
          <p:cNvSpPr/>
          <p:nvPr/>
        </p:nvSpPr>
        <p:spPr>
          <a:xfrm>
            <a:off x="5760720" y="4791456"/>
            <a:ext cx="938783" cy="1005840"/>
          </a:xfrm>
          <a:prstGeom prst="rect">
            <a:avLst/>
          </a:prstGeom>
          <a:solidFill>
            <a:srgbClr val="FFFFFF"/>
          </a:solidFill>
          <a:ln w="9525">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b="1" sz="850">
                <a:solidFill>
                  <a:srgbClr val="202020"/>
                </a:solidFill>
                <a:latin typeface="Calibri"/>
              </a:rPr>
              <a:t>Azure Key Vault</a:t>
            </a:r>
          </a:p>
          <a:p>
            <a:pPr algn="ctr"/>
            <a:r>
              <a:rPr sz="680">
                <a:solidFill>
                  <a:srgbClr val="595959"/>
                </a:solidFill>
                <a:latin typeface="Calibri"/>
              </a:rPr>
              <a:t>LLM key / Graph cert / JWT</a:t>
            </a:r>
          </a:p>
        </p:txBody>
      </p:sp>
      <p:sp>
        <p:nvSpPr>
          <p:cNvPr id="39" name="Rectangle 37"/>
          <p:cNvSpPr/>
          <p:nvPr/>
        </p:nvSpPr>
        <p:spPr>
          <a:xfrm>
            <a:off x="6809232" y="4791456"/>
            <a:ext cx="938783" cy="1005840"/>
          </a:xfrm>
          <a:prstGeom prst="rect">
            <a:avLst/>
          </a:prstGeom>
          <a:solidFill>
            <a:srgbClr val="FFFFFF"/>
          </a:solidFill>
          <a:ln w="9525">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b="1" sz="850">
                <a:solidFill>
                  <a:srgbClr val="202020"/>
                </a:solidFill>
                <a:latin typeface="Calibri"/>
              </a:rPr>
              <a:t>Blob Storage</a:t>
            </a:r>
          </a:p>
          <a:p>
            <a:pPr algn="ctr"/>
            <a:r>
              <a:rPr sz="680">
                <a:solidFill>
                  <a:srgbClr val="595959"/>
                </a:solidFill>
                <a:latin typeface="Calibri"/>
              </a:rPr>
              <a:t>minutes, transcripts</a:t>
            </a:r>
          </a:p>
        </p:txBody>
      </p:sp>
      <p:sp>
        <p:nvSpPr>
          <p:cNvPr id="40" name="Rectangle 38"/>
          <p:cNvSpPr/>
          <p:nvPr/>
        </p:nvSpPr>
        <p:spPr>
          <a:xfrm>
            <a:off x="7857744" y="4791456"/>
            <a:ext cx="938783" cy="1005840"/>
          </a:xfrm>
          <a:prstGeom prst="rect">
            <a:avLst/>
          </a:prstGeom>
          <a:solidFill>
            <a:srgbClr val="FFFFFF"/>
          </a:solidFill>
          <a:ln w="9525">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b="1" sz="850">
                <a:solidFill>
                  <a:srgbClr val="202020"/>
                </a:solidFill>
                <a:latin typeface="Calibri"/>
              </a:rPr>
              <a:t>App Insights + Log Analytics</a:t>
            </a:r>
          </a:p>
          <a:p>
            <a:pPr algn="ctr"/>
            <a:r>
              <a:rPr sz="680">
                <a:solidFill>
                  <a:srgbClr val="595959"/>
                </a:solidFill>
                <a:latin typeface="Calibri"/>
              </a:rPr>
              <a:t>OTel / immutable audit</a:t>
            </a:r>
          </a:p>
        </p:txBody>
      </p:sp>
      <p:sp>
        <p:nvSpPr>
          <p:cNvPr id="41" name="TextBox 39"/>
          <p:cNvSpPr txBox="1"/>
          <p:nvPr/>
        </p:nvSpPr>
        <p:spPr>
          <a:xfrm>
            <a:off x="9281160" y="1188720"/>
            <a:ext cx="2587752" cy="256032"/>
          </a:xfrm>
          <a:prstGeom prst="rect">
            <a:avLst/>
          </a:prstGeom>
          <a:noFill/>
        </p:spPr>
        <p:txBody>
          <a:bodyPr wrap="square">
            <a:spAutoFit/>
          </a:bodyPr>
          <a:lstStyle/>
          <a:p>
            <a:pPr algn="l"/>
            <a:r>
              <a:rPr sz="1200" b="1" i="0">
                <a:solidFill>
                  <a:srgbClr val="595959"/>
                </a:solidFill>
                <a:latin typeface="Calibri"/>
              </a:rPr>
              <a:t>External</a:t>
            </a:r>
          </a:p>
        </p:txBody>
      </p:sp>
      <p:cxnSp>
        <p:nvCxnSpPr>
          <p:cNvPr id="42" name="Connector 40"/>
          <p:cNvCxnSpPr/>
          <p:nvPr/>
        </p:nvCxnSpPr>
        <p:spPr>
          <a:xfrm>
            <a:off x="9281160" y="1499616"/>
            <a:ext cx="2587752" cy="0"/>
          </a:xfrm>
          <a:prstGeom prst="line">
            <a:avLst/>
          </a:prstGeom>
          <a:ln w="12700">
            <a:solidFill>
              <a:srgbClr val="BFBFBF"/>
            </a:solidFill>
          </a:ln>
          <a:effectLst/>
        </p:spPr>
        <p:style>
          <a:lnRef idx="2">
            <a:schemeClr val="accent1"/>
          </a:lnRef>
          <a:fillRef idx="0">
            <a:schemeClr val="accent1"/>
          </a:fillRef>
          <a:effectRef idx="1">
            <a:schemeClr val="accent1"/>
          </a:effectRef>
          <a:fontRef idx="minor">
            <a:schemeClr val="tx1"/>
          </a:fontRef>
        </p:style>
      </p:cxnSp>
      <p:sp>
        <p:nvSpPr>
          <p:cNvPr id="43" name="Oval 41"/>
          <p:cNvSpPr/>
          <p:nvPr/>
        </p:nvSpPr>
        <p:spPr>
          <a:xfrm>
            <a:off x="9262872" y="914400"/>
            <a:ext cx="274320" cy="27432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1100">
                <a:solidFill>
                  <a:srgbClr val="FFFFFF"/>
                </a:solidFill>
                <a:latin typeface="Calibri"/>
              </a:rPr>
              <a:t>5</a:t>
            </a:r>
          </a:p>
        </p:txBody>
      </p:sp>
      <p:sp>
        <p:nvSpPr>
          <p:cNvPr id="44" name="Rectangle 42"/>
          <p:cNvSpPr/>
          <p:nvPr/>
        </p:nvSpPr>
        <p:spPr>
          <a:xfrm>
            <a:off x="9281160" y="1755648"/>
            <a:ext cx="2587752" cy="4690872"/>
          </a:xfrm>
          <a:prstGeom prst="rect">
            <a:avLst/>
          </a:prstGeom>
          <a:solidFill>
            <a:srgbClr val="FFFFFF"/>
          </a:solidFill>
          <a:ln w="15875">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3"/>
          <p:cNvSpPr txBox="1"/>
          <p:nvPr/>
        </p:nvSpPr>
        <p:spPr>
          <a:xfrm>
            <a:off x="9390888" y="1792224"/>
            <a:ext cx="2368296" cy="237744"/>
          </a:xfrm>
          <a:prstGeom prst="rect">
            <a:avLst/>
          </a:prstGeom>
          <a:noFill/>
        </p:spPr>
        <p:txBody>
          <a:bodyPr wrap="square">
            <a:spAutoFit/>
          </a:bodyPr>
          <a:lstStyle/>
          <a:p>
            <a:pPr algn="l"/>
            <a:r>
              <a:rPr sz="850" b="1" i="0">
                <a:solidFill>
                  <a:srgbClr val="595959"/>
                </a:solidFill>
                <a:latin typeface="Calibri"/>
              </a:rPr>
              <a:t>Outbound HTTPS</a:t>
            </a:r>
          </a:p>
        </p:txBody>
      </p:sp>
      <p:sp>
        <p:nvSpPr>
          <p:cNvPr id="46" name="Rectangle 44"/>
          <p:cNvSpPr/>
          <p:nvPr/>
        </p:nvSpPr>
        <p:spPr>
          <a:xfrm>
            <a:off x="9418320" y="2240280"/>
            <a:ext cx="2313432" cy="1051560"/>
          </a:xfrm>
          <a:prstGeom prst="rect">
            <a:avLst/>
          </a:prstGeom>
          <a:solidFill>
            <a:srgbClr val="FFFFFF"/>
          </a:solidFill>
          <a:ln w="9525">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b="1" sz="950">
                <a:solidFill>
                  <a:srgbClr val="202020"/>
                </a:solidFill>
                <a:latin typeface="Calibri"/>
              </a:rPr>
              <a:t>Microsoft Entra ID</a:t>
            </a:r>
          </a:p>
          <a:p>
            <a:pPr algn="ctr"/>
            <a:r>
              <a:rPr sz="800">
                <a:solidFill>
                  <a:srgbClr val="595959"/>
                </a:solidFill>
                <a:latin typeface="Calibri"/>
              </a:rPr>
              <a:t>Shell SSO, groups to roles, app identity</a:t>
            </a:r>
          </a:p>
        </p:txBody>
      </p:sp>
      <p:sp>
        <p:nvSpPr>
          <p:cNvPr id="47" name="Rectangle 45"/>
          <p:cNvSpPr/>
          <p:nvPr/>
        </p:nvSpPr>
        <p:spPr>
          <a:xfrm>
            <a:off x="9500616" y="2331720"/>
            <a:ext cx="237744" cy="237744"/>
          </a:xfrm>
          <a:prstGeom prst="rect">
            <a:avLst/>
          </a:prstGeom>
          <a:solidFill>
            <a:srgbClr val="FFFFFF"/>
          </a:solidFill>
          <a:ln w="9525">
            <a:solidFill>
              <a:srgbClr val="BFBFB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b="0" sz="600">
                <a:solidFill>
                  <a:srgbClr val="BFBFBF"/>
                </a:solidFill>
                <a:latin typeface="Calibri"/>
              </a:rPr>
              <a:t>icon</a:t>
            </a:r>
          </a:p>
        </p:txBody>
      </p:sp>
      <p:sp>
        <p:nvSpPr>
          <p:cNvPr id="48" name="Rectangle 46"/>
          <p:cNvSpPr/>
          <p:nvPr/>
        </p:nvSpPr>
        <p:spPr>
          <a:xfrm>
            <a:off x="9418320" y="3520440"/>
            <a:ext cx="2313432" cy="1051560"/>
          </a:xfrm>
          <a:prstGeom prst="rect">
            <a:avLst/>
          </a:prstGeom>
          <a:solidFill>
            <a:srgbClr val="FFFFFF"/>
          </a:solidFill>
          <a:ln w="9525">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b="1" sz="950">
                <a:solidFill>
                  <a:srgbClr val="202020"/>
                </a:solidFill>
                <a:latin typeface="Calibri"/>
              </a:rPr>
              <a:t>Microsoft Foundry</a:t>
            </a:r>
          </a:p>
          <a:p>
            <a:pPr algn="ctr"/>
            <a:r>
              <a:rPr sz="800">
                <a:solidFill>
                  <a:srgbClr val="595959"/>
                </a:solidFill>
                <a:latin typeface="Calibri"/>
              </a:rPr>
              <a:t>Responses API + content safety</a:t>
            </a:r>
          </a:p>
        </p:txBody>
      </p:sp>
      <p:sp>
        <p:nvSpPr>
          <p:cNvPr id="49" name="Rectangle 47"/>
          <p:cNvSpPr/>
          <p:nvPr/>
        </p:nvSpPr>
        <p:spPr>
          <a:xfrm>
            <a:off x="9500616" y="3611880"/>
            <a:ext cx="237744" cy="237744"/>
          </a:xfrm>
          <a:prstGeom prst="rect">
            <a:avLst/>
          </a:prstGeom>
          <a:solidFill>
            <a:srgbClr val="FFFFFF"/>
          </a:solidFill>
          <a:ln w="9525">
            <a:solidFill>
              <a:srgbClr val="BFBFB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b="0" sz="600">
                <a:solidFill>
                  <a:srgbClr val="BFBFBF"/>
                </a:solidFill>
                <a:latin typeface="Calibri"/>
              </a:rPr>
              <a:t>icon</a:t>
            </a:r>
          </a:p>
        </p:txBody>
      </p:sp>
      <p:sp>
        <p:nvSpPr>
          <p:cNvPr id="50" name="Rectangle 48"/>
          <p:cNvSpPr/>
          <p:nvPr/>
        </p:nvSpPr>
        <p:spPr>
          <a:xfrm>
            <a:off x="9418320" y="4800600"/>
            <a:ext cx="2313432" cy="1051560"/>
          </a:xfrm>
          <a:prstGeom prst="rect">
            <a:avLst/>
          </a:prstGeom>
          <a:solidFill>
            <a:srgbClr val="FFFFFF"/>
          </a:solidFill>
          <a:ln w="9525">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b="1" sz="950">
                <a:solidFill>
                  <a:srgbClr val="202020"/>
                </a:solidFill>
                <a:latin typeface="Calibri"/>
              </a:rPr>
              <a:t>Microsoft Graph (Shell tenant)</a:t>
            </a:r>
          </a:p>
          <a:p>
            <a:pPr algn="ctr"/>
            <a:r>
              <a:rPr sz="800">
                <a:solidFill>
                  <a:srgbClr val="595959"/>
                </a:solidFill>
                <a:latin typeface="Calibri"/>
              </a:rPr>
              <a:t>Mail.Send / Calendars / OnlineMtgs</a:t>
            </a:r>
          </a:p>
        </p:txBody>
      </p:sp>
      <p:sp>
        <p:nvSpPr>
          <p:cNvPr id="51" name="Rectangle 49"/>
          <p:cNvSpPr/>
          <p:nvPr/>
        </p:nvSpPr>
        <p:spPr>
          <a:xfrm>
            <a:off x="9500616" y="4892040"/>
            <a:ext cx="237744" cy="237744"/>
          </a:xfrm>
          <a:prstGeom prst="rect">
            <a:avLst/>
          </a:prstGeom>
          <a:solidFill>
            <a:srgbClr val="FFFFFF"/>
          </a:solidFill>
          <a:ln w="9525">
            <a:solidFill>
              <a:srgbClr val="BFBFB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b="0" sz="600">
                <a:solidFill>
                  <a:srgbClr val="BFBFBF"/>
                </a:solidFill>
                <a:latin typeface="Calibri"/>
              </a:rPr>
              <a:t>icon</a:t>
            </a:r>
          </a:p>
        </p:txBody>
      </p:sp>
      <p:cxnSp>
        <p:nvCxnSpPr>
          <p:cNvPr id="52" name="Connector 50"/>
          <p:cNvCxnSpPr/>
          <p:nvPr/>
        </p:nvCxnSpPr>
        <p:spPr>
          <a:xfrm>
            <a:off x="2532888" y="3566160"/>
            <a:ext cx="146304" cy="0"/>
          </a:xfrm>
          <a:prstGeom prst="line">
            <a:avLst/>
          </a:prstGeom>
          <a:ln w="12700">
            <a:solidFill>
              <a:srgbClr val="404040"/>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53" name="Connector 51"/>
          <p:cNvCxnSpPr/>
          <p:nvPr/>
        </p:nvCxnSpPr>
        <p:spPr>
          <a:xfrm>
            <a:off x="3675887" y="3566160"/>
            <a:ext cx="192025" cy="0"/>
          </a:xfrm>
          <a:prstGeom prst="line">
            <a:avLst/>
          </a:prstGeom>
          <a:ln w="12700">
            <a:solidFill>
              <a:srgbClr val="404040"/>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54" name="Connector 52"/>
          <p:cNvCxnSpPr/>
          <p:nvPr/>
        </p:nvCxnSpPr>
        <p:spPr>
          <a:xfrm>
            <a:off x="6515100" y="4270248"/>
            <a:ext cx="0" cy="137160"/>
          </a:xfrm>
          <a:prstGeom prst="line">
            <a:avLst/>
          </a:prstGeom>
          <a:ln w="12700">
            <a:solidFill>
              <a:srgbClr val="404040"/>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55" name="Connector 53"/>
          <p:cNvCxnSpPr/>
          <p:nvPr/>
        </p:nvCxnSpPr>
        <p:spPr>
          <a:xfrm>
            <a:off x="9144000" y="2743200"/>
            <a:ext cx="118872" cy="0"/>
          </a:xfrm>
          <a:prstGeom prst="line">
            <a:avLst/>
          </a:prstGeom>
          <a:ln w="12700">
            <a:solidFill>
              <a:srgbClr val="40404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56" name="TextBox 54"/>
          <p:cNvSpPr txBox="1"/>
          <p:nvPr/>
        </p:nvSpPr>
        <p:spPr>
          <a:xfrm>
            <a:off x="8641080" y="2395728"/>
            <a:ext cx="1554480" cy="182880"/>
          </a:xfrm>
          <a:prstGeom prst="rect">
            <a:avLst/>
          </a:prstGeom>
          <a:noFill/>
        </p:spPr>
        <p:txBody>
          <a:bodyPr wrap="square">
            <a:spAutoFit/>
          </a:bodyPr>
          <a:lstStyle/>
          <a:p>
            <a:pPr algn="ctr"/>
            <a:r>
              <a:rPr sz="650" b="0" i="0">
                <a:solidFill>
                  <a:srgbClr val="595959"/>
                </a:solidFill>
                <a:latin typeface="Calibri"/>
              </a:rPr>
              <a:t>outbound HTTPS</a:t>
            </a:r>
          </a:p>
        </p:txBody>
      </p:sp>
      <p:sp>
        <p:nvSpPr>
          <p:cNvPr id="57" name="Oval 55"/>
          <p:cNvSpPr/>
          <p:nvPr/>
        </p:nvSpPr>
        <p:spPr>
          <a:xfrm>
            <a:off x="2542032" y="3017520"/>
            <a:ext cx="274320" cy="27432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1100">
                <a:solidFill>
                  <a:srgbClr val="FFFFFF"/>
                </a:solidFill>
                <a:latin typeface="Calibri"/>
              </a:rPr>
              <a:t>2</a:t>
            </a:r>
          </a:p>
        </p:txBody>
      </p:sp>
      <p:sp>
        <p:nvSpPr>
          <p:cNvPr id="58" name="Oval 56"/>
          <p:cNvSpPr/>
          <p:nvPr/>
        </p:nvSpPr>
        <p:spPr>
          <a:xfrm>
            <a:off x="6377940" y="4096512"/>
            <a:ext cx="274320" cy="27432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1100">
                <a:solidFill>
                  <a:srgbClr val="FFFFFF"/>
                </a:solidFill>
                <a:latin typeface="Calibri"/>
              </a:rPr>
              <a:t>4</a:t>
            </a:r>
          </a:p>
        </p:txBody>
      </p:sp>
      <p:sp>
        <p:nvSpPr>
          <p:cNvPr id="59" name="TextBox 57"/>
          <p:cNvSpPr txBox="1"/>
          <p:nvPr/>
        </p:nvSpPr>
        <p:spPr>
          <a:xfrm>
            <a:off x="365760" y="6455664"/>
            <a:ext cx="11430000" cy="274320"/>
          </a:xfrm>
          <a:prstGeom prst="rect">
            <a:avLst/>
          </a:prstGeom>
          <a:noFill/>
        </p:spPr>
        <p:txBody>
          <a:bodyPr wrap="square">
            <a:spAutoFit/>
          </a:bodyPr>
          <a:lstStyle/>
          <a:p>
            <a:pPr algn="l"/>
            <a:r>
              <a:rPr sz="800" b="0" i="0">
                <a:solidFill>
                  <a:srgbClr val="595959"/>
                </a:solidFill>
                <a:latin typeface="Calibri"/>
              </a:rPr>
              <a:t>1 Client / SSO sign-in    2 Front Door + WAF    3 App Service: workflow + approval gate    4 Data tier via Private Link    5 External services over outbound HTTPS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2" name=""/>
        <p:cNvGrpSpPr/>
        <p:nvPr/>
      </p:nvGrpSpPr>
      <p:grpSpPr/>
      <p:sp>
        <p:nvSpPr>
          <p:cNvPr id="3"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2"/>
          <p:cNvSpPr txBox="1"/>
          <p:nvPr/>
        </p:nvSpPr>
        <p:spPr>
          <a:xfrm>
            <a:off x="365760" y="164592"/>
            <a:ext cx="8961120" cy="411480"/>
          </a:xfrm>
          <a:prstGeom prst="rect">
            <a:avLst/>
          </a:prstGeom>
          <a:noFill/>
        </p:spPr>
        <p:txBody>
          <a:bodyPr wrap="square">
            <a:spAutoFit/>
          </a:bodyPr>
          <a:lstStyle/>
          <a:p>
            <a:pPr algn="l"/>
            <a:r>
              <a:rPr sz="2000" b="1" i="0">
                <a:solidFill>
                  <a:srgbClr val="202020"/>
                </a:solidFill>
                <a:latin typeface="Calibri"/>
              </a:rPr>
              <a:t>VendorPulse Deployment Architecture (Shell Azure)</a:t>
            </a:r>
          </a:p>
        </p:txBody>
      </p:sp>
      <p:sp>
        <p:nvSpPr>
          <p:cNvPr id="5" name="TextBox 3"/>
          <p:cNvSpPr txBox="1"/>
          <p:nvPr/>
        </p:nvSpPr>
        <p:spPr>
          <a:xfrm>
            <a:off x="365760" y="566928"/>
            <a:ext cx="9144000" cy="274320"/>
          </a:xfrm>
          <a:prstGeom prst="rect">
            <a:avLst/>
          </a:prstGeom>
          <a:noFill/>
        </p:spPr>
        <p:txBody>
          <a:bodyPr wrap="square">
            <a:spAutoFit/>
          </a:bodyPr>
          <a:lstStyle/>
          <a:p>
            <a:pPr algn="l"/>
            <a:r>
              <a:rPr sz="1000" b="0" i="0">
                <a:solidFill>
                  <a:srgbClr val="595959"/>
                </a:solidFill>
                <a:latin typeface="Calibri"/>
              </a:rPr>
              <a:t>Single-tenant.  West Europe.  Azure App Service.  Private VNet.  App-only certificate auth.</a:t>
            </a:r>
          </a:p>
        </p:txBody>
      </p:sp>
      <p:cxnSp>
        <p:nvCxnSpPr>
          <p:cNvPr id="6" name="Connector 4"/>
          <p:cNvCxnSpPr/>
          <p:nvPr/>
        </p:nvCxnSpPr>
        <p:spPr>
          <a:xfrm>
            <a:off x="365760" y="896112"/>
            <a:ext cx="11457432" cy="0"/>
          </a:xfrm>
          <a:prstGeom prst="line">
            <a:avLst/>
          </a:prstGeom>
          <a:ln w="12700">
            <a:solidFill>
              <a:srgbClr val="BFBFBF"/>
            </a:solidFill>
          </a:ln>
          <a:effectLst/>
        </p:spPr>
        <p:style>
          <a:lnRef idx="2">
            <a:schemeClr val="accent1"/>
          </a:lnRef>
          <a:fillRef idx="0">
            <a:schemeClr val="accent1"/>
          </a:fillRef>
          <a:effectRef idx="1">
            <a:schemeClr val="accent1"/>
          </a:effectRef>
          <a:fontRef idx="minor">
            <a:schemeClr val="tx1"/>
          </a:fontRef>
        </p:style>
      </p:cxnSp>
      <p:sp>
        <p:nvSpPr>
          <p:cNvPr id="7" name="Rectangle 5"/>
          <p:cNvSpPr/>
          <p:nvPr/>
        </p:nvSpPr>
        <p:spPr>
          <a:xfrm>
            <a:off x="10515600" y="182880"/>
            <a:ext cx="1371600" cy="548640"/>
          </a:xfrm>
          <a:prstGeom prst="rect">
            <a:avLst/>
          </a:prstGeom>
          <a:solidFill>
            <a:srgbClr val="FFFFFF"/>
          </a:solidFill>
          <a:ln w="9525">
            <a:solidFill>
              <a:srgbClr val="BFBFB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800">
                <a:solidFill>
                  <a:srgbClr val="BFBFBF"/>
                </a:solidFill>
                <a:latin typeface="Calibri"/>
              </a:rPr>
              <a:t>[ PRODUCT LOGO ]</a:t>
            </a:r>
          </a:p>
        </p:txBody>
      </p:sp>
      <p:sp>
        <p:nvSpPr>
          <p:cNvPr id="8" name="TextBox 6"/>
          <p:cNvSpPr txBox="1"/>
          <p:nvPr/>
        </p:nvSpPr>
        <p:spPr>
          <a:xfrm>
            <a:off x="320040" y="1078992"/>
            <a:ext cx="1783080" cy="219456"/>
          </a:xfrm>
          <a:prstGeom prst="rect">
            <a:avLst/>
          </a:prstGeom>
          <a:noFill/>
        </p:spPr>
        <p:txBody>
          <a:bodyPr wrap="square">
            <a:spAutoFit/>
          </a:bodyPr>
          <a:lstStyle/>
          <a:p>
            <a:pPr algn="l"/>
            <a:r>
              <a:rPr sz="1100" b="1" i="0">
                <a:solidFill>
                  <a:srgbClr val="595959"/>
                </a:solidFill>
                <a:latin typeface="Calibri"/>
              </a:rPr>
              <a:t>Access path</a:t>
            </a:r>
          </a:p>
        </p:txBody>
      </p:sp>
      <p:cxnSp>
        <p:nvCxnSpPr>
          <p:cNvPr id="9" name="Connector 7"/>
          <p:cNvCxnSpPr/>
          <p:nvPr/>
        </p:nvCxnSpPr>
        <p:spPr>
          <a:xfrm>
            <a:off x="320040" y="1335024"/>
            <a:ext cx="1783080" cy="0"/>
          </a:xfrm>
          <a:prstGeom prst="line">
            <a:avLst/>
          </a:prstGeom>
          <a:ln w="12700">
            <a:solidFill>
              <a:srgbClr val="BFBFBF"/>
            </a:solidFill>
          </a:ln>
          <a:effectLst/>
        </p:spPr>
        <p:style>
          <a:lnRef idx="2">
            <a:schemeClr val="accent1"/>
          </a:lnRef>
          <a:fillRef idx="0">
            <a:schemeClr val="accent1"/>
          </a:fillRef>
          <a:effectRef idx="1">
            <a:schemeClr val="accent1"/>
          </a:effectRef>
          <a:fontRef idx="minor">
            <a:schemeClr val="tx1"/>
          </a:fontRef>
        </p:style>
      </p:cxnSp>
      <p:sp>
        <p:nvSpPr>
          <p:cNvPr id="10" name="Rectangle 8"/>
          <p:cNvSpPr/>
          <p:nvPr/>
        </p:nvSpPr>
        <p:spPr>
          <a:xfrm>
            <a:off x="365760" y="1618488"/>
            <a:ext cx="237744" cy="237744"/>
          </a:xfrm>
          <a:prstGeom prst="rect">
            <a:avLst/>
          </a:prstGeom>
          <a:solidFill>
            <a:srgbClr val="FFFFFF"/>
          </a:solidFill>
          <a:ln w="9525">
            <a:solidFill>
              <a:srgbClr val="BFBFB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0" sz="600">
                <a:solidFill>
                  <a:srgbClr val="BFBFBF"/>
                </a:solidFill>
                <a:latin typeface="Calibri"/>
              </a:rPr>
              <a:t>icon</a:t>
            </a:r>
          </a:p>
        </p:txBody>
      </p:sp>
      <p:sp>
        <p:nvSpPr>
          <p:cNvPr id="11" name="Rectangle 9"/>
          <p:cNvSpPr/>
          <p:nvPr/>
        </p:nvSpPr>
        <p:spPr>
          <a:xfrm>
            <a:off x="320040" y="1417320"/>
            <a:ext cx="1783080" cy="640080"/>
          </a:xfrm>
          <a:prstGeom prst="rect">
            <a:avLst/>
          </a:prstGeom>
          <a:solidFill>
            <a:srgbClr val="FFFFFF"/>
          </a:solidFill>
          <a:ln w="9525">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880">
                <a:solidFill>
                  <a:srgbClr val="202020"/>
                </a:solidFill>
                <a:latin typeface="Calibri"/>
              </a:rPr>
              <a:t>Shell user</a:t>
            </a:r>
          </a:p>
          <a:p>
            <a:pPr algn="ctr"/>
            <a:r>
              <a:rPr sz="680">
                <a:solidFill>
                  <a:srgbClr val="595959"/>
                </a:solidFill>
                <a:latin typeface="Calibri"/>
              </a:rPr>
              <a:t>on corporate network</a:t>
            </a:r>
          </a:p>
        </p:txBody>
      </p:sp>
      <p:sp>
        <p:nvSpPr>
          <p:cNvPr id="12" name="Rectangle 10"/>
          <p:cNvSpPr/>
          <p:nvPr/>
        </p:nvSpPr>
        <p:spPr>
          <a:xfrm>
            <a:off x="320040" y="2194560"/>
            <a:ext cx="1783080" cy="566928"/>
          </a:xfrm>
          <a:prstGeom prst="rect">
            <a:avLst/>
          </a:prstGeom>
          <a:solidFill>
            <a:srgbClr val="FFFFFF"/>
          </a:solidFill>
          <a:ln w="9525">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880">
                <a:solidFill>
                  <a:srgbClr val="202020"/>
                </a:solidFill>
                <a:latin typeface="Calibri"/>
              </a:rPr>
              <a:t>Microsoft Entra ID</a:t>
            </a:r>
          </a:p>
          <a:p>
            <a:pPr algn="ctr"/>
            <a:r>
              <a:rPr sz="680">
                <a:solidFill>
                  <a:srgbClr val="595959"/>
                </a:solidFill>
                <a:latin typeface="Calibri"/>
              </a:rPr>
              <a:t>Shell SSO</a:t>
            </a:r>
          </a:p>
        </p:txBody>
      </p:sp>
      <p:sp>
        <p:nvSpPr>
          <p:cNvPr id="13" name="Rectangle 11"/>
          <p:cNvSpPr/>
          <p:nvPr/>
        </p:nvSpPr>
        <p:spPr>
          <a:xfrm>
            <a:off x="320040" y="2852928"/>
            <a:ext cx="1783080" cy="566928"/>
          </a:xfrm>
          <a:prstGeom prst="rect">
            <a:avLst/>
          </a:prstGeom>
          <a:solidFill>
            <a:srgbClr val="FFFFFF"/>
          </a:solidFill>
          <a:ln w="9525">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880">
                <a:solidFill>
                  <a:srgbClr val="202020"/>
                </a:solidFill>
                <a:latin typeface="Calibri"/>
              </a:rPr>
              <a:t>Single Sign-On</a:t>
            </a:r>
          </a:p>
          <a:p>
            <a:pPr algn="ctr"/>
            <a:r>
              <a:rPr sz="680">
                <a:solidFill>
                  <a:srgbClr val="595959"/>
                </a:solidFill>
                <a:latin typeface="Calibri"/>
              </a:rPr>
              <a:t>OIDC / MSAL</a:t>
            </a:r>
          </a:p>
        </p:txBody>
      </p:sp>
      <p:sp>
        <p:nvSpPr>
          <p:cNvPr id="14" name="Rectangle 12"/>
          <p:cNvSpPr/>
          <p:nvPr/>
        </p:nvSpPr>
        <p:spPr>
          <a:xfrm>
            <a:off x="320040" y="3511296"/>
            <a:ext cx="1783080" cy="566928"/>
          </a:xfrm>
          <a:prstGeom prst="rect">
            <a:avLst/>
          </a:prstGeom>
          <a:solidFill>
            <a:srgbClr val="FFFFFF"/>
          </a:solidFill>
          <a:ln w="9525">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880">
                <a:solidFill>
                  <a:srgbClr val="202020"/>
                </a:solidFill>
                <a:latin typeface="Calibri"/>
              </a:rPr>
              <a:t>vendorpulse.it.shell.com</a:t>
            </a:r>
          </a:p>
          <a:p>
            <a:pPr algn="ctr"/>
            <a:r>
              <a:rPr sz="680">
                <a:solidFill>
                  <a:srgbClr val="595959"/>
                </a:solidFill>
                <a:latin typeface="Calibri"/>
              </a:rPr>
              <a:t>DNS to Front Door</a:t>
            </a:r>
          </a:p>
        </p:txBody>
      </p:sp>
      <p:sp>
        <p:nvSpPr>
          <p:cNvPr id="15" name="Rectangle 13"/>
          <p:cNvSpPr/>
          <p:nvPr/>
        </p:nvSpPr>
        <p:spPr>
          <a:xfrm>
            <a:off x="320040" y="4480560"/>
            <a:ext cx="1783080" cy="566928"/>
          </a:xfrm>
          <a:prstGeom prst="rect">
            <a:avLst/>
          </a:prstGeom>
          <a:solidFill>
            <a:srgbClr val="FFFFFF"/>
          </a:solidFill>
          <a:ln w="9525">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880">
                <a:solidFill>
                  <a:srgbClr val="202020"/>
                </a:solidFill>
                <a:latin typeface="Calibri"/>
              </a:rPr>
              <a:t>Shell egress proxy</a:t>
            </a:r>
          </a:p>
          <a:p>
            <a:pPr algn="ctr"/>
            <a:r>
              <a:rPr sz="680">
                <a:solidFill>
                  <a:srgbClr val="595959"/>
                </a:solidFill>
                <a:latin typeface="Calibri"/>
              </a:rPr>
              <a:t>outbound control</a:t>
            </a:r>
          </a:p>
        </p:txBody>
      </p:sp>
      <p:sp>
        <p:nvSpPr>
          <p:cNvPr id="16" name="Oval 14"/>
          <p:cNvSpPr/>
          <p:nvPr/>
        </p:nvSpPr>
        <p:spPr>
          <a:xfrm>
            <a:off x="45720" y="1481328"/>
            <a:ext cx="274320" cy="27432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1000">
                <a:solidFill>
                  <a:srgbClr val="FFFFFF"/>
                </a:solidFill>
                <a:latin typeface="Calibri"/>
              </a:rPr>
              <a:t>1</a:t>
            </a:r>
          </a:p>
        </p:txBody>
      </p:sp>
      <p:sp>
        <p:nvSpPr>
          <p:cNvPr id="17" name="Rectangle 15"/>
          <p:cNvSpPr/>
          <p:nvPr/>
        </p:nvSpPr>
        <p:spPr>
          <a:xfrm>
            <a:off x="2286000" y="1280160"/>
            <a:ext cx="7269480" cy="5074920"/>
          </a:xfrm>
          <a:prstGeom prst="rect">
            <a:avLst/>
          </a:prstGeom>
          <a:solidFill>
            <a:srgbClr val="FFFFFF"/>
          </a:solidFill>
          <a:ln w="12700">
            <a:solidFill>
              <a:srgbClr val="40404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6"/>
          <p:cNvSpPr/>
          <p:nvPr/>
        </p:nvSpPr>
        <p:spPr>
          <a:xfrm>
            <a:off x="2395728" y="1335024"/>
            <a:ext cx="219456" cy="219456"/>
          </a:xfrm>
          <a:prstGeom prst="rect">
            <a:avLst/>
          </a:prstGeom>
          <a:solidFill>
            <a:srgbClr val="FFFFFF"/>
          </a:solidFill>
          <a:ln w="9525">
            <a:solidFill>
              <a:srgbClr val="BFBFB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0" sz="600">
                <a:solidFill>
                  <a:srgbClr val="BFBFBF"/>
                </a:solidFill>
                <a:latin typeface="Calibri"/>
              </a:rPr>
              <a:t>icon</a:t>
            </a:r>
          </a:p>
        </p:txBody>
      </p:sp>
      <p:sp>
        <p:nvSpPr>
          <p:cNvPr id="19" name="TextBox 17"/>
          <p:cNvSpPr txBox="1"/>
          <p:nvPr/>
        </p:nvSpPr>
        <p:spPr>
          <a:xfrm>
            <a:off x="2670048" y="1335024"/>
            <a:ext cx="4572000" cy="237744"/>
          </a:xfrm>
          <a:prstGeom prst="rect">
            <a:avLst/>
          </a:prstGeom>
          <a:noFill/>
        </p:spPr>
        <p:txBody>
          <a:bodyPr wrap="square">
            <a:spAutoFit/>
          </a:bodyPr>
          <a:lstStyle/>
          <a:p>
            <a:pPr algn="l"/>
            <a:r>
              <a:rPr sz="900" b="1" i="0">
                <a:solidFill>
                  <a:srgbClr val="595959"/>
                </a:solidFill>
                <a:latin typeface="Calibri"/>
              </a:rPr>
              <a:t>Shell Azure Subscription - West Europe</a:t>
            </a:r>
          </a:p>
        </p:txBody>
      </p:sp>
      <p:sp>
        <p:nvSpPr>
          <p:cNvPr id="20" name="Oval 18"/>
          <p:cNvSpPr/>
          <p:nvPr/>
        </p:nvSpPr>
        <p:spPr>
          <a:xfrm>
            <a:off x="2267712" y="1554480"/>
            <a:ext cx="274320" cy="27432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1000">
                <a:solidFill>
                  <a:srgbClr val="FFFFFF"/>
                </a:solidFill>
                <a:latin typeface="Calibri"/>
              </a:rPr>
              <a:t>2</a:t>
            </a:r>
          </a:p>
        </p:txBody>
      </p:sp>
      <p:sp>
        <p:nvSpPr>
          <p:cNvPr id="21" name="Rectangle 19"/>
          <p:cNvSpPr/>
          <p:nvPr/>
        </p:nvSpPr>
        <p:spPr>
          <a:xfrm>
            <a:off x="2423160" y="1645919"/>
            <a:ext cx="6995160" cy="292608"/>
          </a:xfrm>
          <a:prstGeom prst="rect">
            <a:avLst/>
          </a:prstGeom>
          <a:solidFill>
            <a:srgbClr val="FFFFFF"/>
          </a:solidFill>
          <a:ln w="9525">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880">
                <a:solidFill>
                  <a:srgbClr val="595959"/>
                </a:solidFill>
                <a:latin typeface="Calibri"/>
              </a:rPr>
              <a:t>Azure Front Door + WAF   -   TLS 1.2+, OWASP, origin-locked to App Service</a:t>
            </a:r>
          </a:p>
        </p:txBody>
      </p:sp>
      <p:sp>
        <p:nvSpPr>
          <p:cNvPr id="22" name="Rectangle 20"/>
          <p:cNvSpPr/>
          <p:nvPr/>
        </p:nvSpPr>
        <p:spPr>
          <a:xfrm>
            <a:off x="2423160" y="2029967"/>
            <a:ext cx="6995160" cy="2468880"/>
          </a:xfrm>
          <a:prstGeom prst="rect">
            <a:avLst/>
          </a:prstGeom>
          <a:solidFill>
            <a:srgbClr val="FFFFFF"/>
          </a:solidFill>
          <a:ln w="12700">
            <a:solidFill>
              <a:srgbClr val="40404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1"/>
          <p:cNvSpPr/>
          <p:nvPr/>
        </p:nvSpPr>
        <p:spPr>
          <a:xfrm>
            <a:off x="2496312" y="2075687"/>
            <a:ext cx="201168" cy="201168"/>
          </a:xfrm>
          <a:prstGeom prst="rect">
            <a:avLst/>
          </a:prstGeom>
          <a:solidFill>
            <a:srgbClr val="FFFFFF"/>
          </a:solidFill>
          <a:ln w="9525">
            <a:solidFill>
              <a:srgbClr val="BFBFB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0" sz="600">
                <a:solidFill>
                  <a:srgbClr val="BFBFBF"/>
                </a:solidFill>
                <a:latin typeface="Calibri"/>
              </a:rPr>
              <a:t>icon</a:t>
            </a:r>
          </a:p>
        </p:txBody>
      </p:sp>
      <p:sp>
        <p:nvSpPr>
          <p:cNvPr id="24" name="TextBox 22"/>
          <p:cNvSpPr txBox="1"/>
          <p:nvPr/>
        </p:nvSpPr>
        <p:spPr>
          <a:xfrm>
            <a:off x="2752344" y="2075687"/>
            <a:ext cx="3657600" cy="219456"/>
          </a:xfrm>
          <a:prstGeom prst="rect">
            <a:avLst/>
          </a:prstGeom>
          <a:noFill/>
        </p:spPr>
        <p:txBody>
          <a:bodyPr wrap="square">
            <a:spAutoFit/>
          </a:bodyPr>
          <a:lstStyle/>
          <a:p>
            <a:pPr algn="l"/>
            <a:r>
              <a:rPr sz="819" b="1" i="0">
                <a:solidFill>
                  <a:srgbClr val="595959"/>
                </a:solidFill>
                <a:latin typeface="Calibri"/>
              </a:rPr>
              <a:t>Private VNet (VNet integration, Private Endpoints)</a:t>
            </a:r>
          </a:p>
        </p:txBody>
      </p:sp>
      <p:sp>
        <p:nvSpPr>
          <p:cNvPr id="25" name="Oval 23"/>
          <p:cNvSpPr/>
          <p:nvPr/>
        </p:nvSpPr>
        <p:spPr>
          <a:xfrm>
            <a:off x="2404872" y="2048255"/>
            <a:ext cx="274320" cy="27432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1000">
                <a:solidFill>
                  <a:srgbClr val="FFFFFF"/>
                </a:solidFill>
                <a:latin typeface="Calibri"/>
              </a:rPr>
              <a:t>3</a:t>
            </a:r>
          </a:p>
        </p:txBody>
      </p:sp>
      <p:sp>
        <p:nvSpPr>
          <p:cNvPr id="26" name="Rectangle 24"/>
          <p:cNvSpPr/>
          <p:nvPr/>
        </p:nvSpPr>
        <p:spPr>
          <a:xfrm>
            <a:off x="2587752" y="2340863"/>
            <a:ext cx="3886200" cy="2011680"/>
          </a:xfrm>
          <a:prstGeom prst="rect">
            <a:avLst/>
          </a:prstGeom>
          <a:solidFill>
            <a:srgbClr val="FFFFFF"/>
          </a:solidFill>
          <a:ln w="9525">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5"/>
          <p:cNvSpPr/>
          <p:nvPr/>
        </p:nvSpPr>
        <p:spPr>
          <a:xfrm>
            <a:off x="2587752" y="2340863"/>
            <a:ext cx="3886200" cy="292608"/>
          </a:xfrm>
          <a:prstGeom prst="rect">
            <a:avLst/>
          </a:prstGeom>
          <a:solidFill>
            <a:srgbClr val="FFFFFF"/>
          </a:solidFill>
          <a:ln w="9525">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880">
                <a:solidFill>
                  <a:srgbClr val="595959"/>
                </a:solidFill>
                <a:latin typeface="Calibri"/>
              </a:rPr>
              <a:t>Azure App Service (Linux container)</a:t>
            </a:r>
          </a:p>
        </p:txBody>
      </p:sp>
      <p:sp>
        <p:nvSpPr>
          <p:cNvPr id="28" name="Rectangle 26"/>
          <p:cNvSpPr/>
          <p:nvPr/>
        </p:nvSpPr>
        <p:spPr>
          <a:xfrm>
            <a:off x="2697480" y="2706623"/>
            <a:ext cx="3666744" cy="960120"/>
          </a:xfrm>
          <a:prstGeom prst="rect">
            <a:avLst/>
          </a:prstGeom>
          <a:solidFill>
            <a:srgbClr val="FFFFFF"/>
          </a:solidFill>
          <a:ln w="9525">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t" wrap="square" lIns="36576" rIns="36576" tIns="18288" bIns="18288"/>
          <a:lstStyle/>
          <a:p>
            <a:pPr algn="ctr"/>
            <a:r>
              <a:rPr b="1" sz="800">
                <a:solidFill>
                  <a:srgbClr val="595959"/>
                </a:solidFill>
                <a:latin typeface="Calibri"/>
              </a:rPr>
              <a:t>Production slot  (TLS 1.2+)</a:t>
            </a:r>
          </a:p>
        </p:txBody>
      </p:sp>
      <p:sp>
        <p:nvSpPr>
          <p:cNvPr id="29" name="Rectangle 27"/>
          <p:cNvSpPr/>
          <p:nvPr/>
        </p:nvSpPr>
        <p:spPr>
          <a:xfrm>
            <a:off x="2816352" y="2980944"/>
            <a:ext cx="3429000" cy="292608"/>
          </a:xfrm>
          <a:prstGeom prst="rect">
            <a:avLst/>
          </a:prstGeom>
          <a:solidFill>
            <a:srgbClr val="FFFFFF"/>
          </a:solidFill>
          <a:ln w="9525">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750">
                <a:solidFill>
                  <a:srgbClr val="202020"/>
                </a:solidFill>
                <a:latin typeface="Calibri"/>
              </a:rPr>
              <a:t>SPA (React / nginx)</a:t>
            </a:r>
          </a:p>
        </p:txBody>
      </p:sp>
      <p:sp>
        <p:nvSpPr>
          <p:cNvPr id="30" name="Rectangle 28"/>
          <p:cNvSpPr/>
          <p:nvPr/>
        </p:nvSpPr>
        <p:spPr>
          <a:xfrm>
            <a:off x="2816352" y="3310127"/>
            <a:ext cx="3429000" cy="292608"/>
          </a:xfrm>
          <a:prstGeom prst="rect">
            <a:avLst/>
          </a:prstGeom>
          <a:solidFill>
            <a:srgbClr val="FFFFFF"/>
          </a:solidFill>
          <a:ln w="9525">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750">
                <a:solidFill>
                  <a:srgbClr val="202020"/>
                </a:solidFill>
                <a:latin typeface="Calibri"/>
              </a:rPr>
              <a:t>FastAPI + MAF agents</a:t>
            </a:r>
          </a:p>
        </p:txBody>
      </p:sp>
      <p:sp>
        <p:nvSpPr>
          <p:cNvPr id="31" name="Rectangle 29"/>
          <p:cNvSpPr/>
          <p:nvPr/>
        </p:nvSpPr>
        <p:spPr>
          <a:xfrm>
            <a:off x="2697480" y="3730752"/>
            <a:ext cx="3666744" cy="502920"/>
          </a:xfrm>
          <a:prstGeom prst="rect">
            <a:avLst/>
          </a:prstGeom>
          <a:solidFill>
            <a:srgbClr val="FFFFFF"/>
          </a:solidFill>
          <a:ln w="9525">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750">
                <a:solidFill>
                  <a:srgbClr val="595959"/>
                </a:solidFill>
                <a:latin typeface="Calibri"/>
              </a:rPr>
              <a:t>Staging slot</a:t>
            </a:r>
          </a:p>
          <a:p>
            <a:pPr algn="ctr"/>
            <a:r>
              <a:rPr sz="650">
                <a:solidFill>
                  <a:srgbClr val="595959"/>
                </a:solidFill>
                <a:latin typeface="Calibri"/>
              </a:rPr>
              <a:t>blue-green / zero-downtime swap</a:t>
            </a:r>
          </a:p>
        </p:txBody>
      </p:sp>
      <p:sp>
        <p:nvSpPr>
          <p:cNvPr id="32" name="Rectangle 30"/>
          <p:cNvSpPr/>
          <p:nvPr/>
        </p:nvSpPr>
        <p:spPr>
          <a:xfrm>
            <a:off x="6793992" y="2340863"/>
            <a:ext cx="2459736" cy="2011680"/>
          </a:xfrm>
          <a:prstGeom prst="rect">
            <a:avLst/>
          </a:prstGeom>
          <a:solidFill>
            <a:srgbClr val="FFFFFF"/>
          </a:solidFill>
          <a:ln w="9525">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1"/>
          <p:cNvSpPr/>
          <p:nvPr/>
        </p:nvSpPr>
        <p:spPr>
          <a:xfrm>
            <a:off x="6793992" y="2340863"/>
            <a:ext cx="2459736" cy="292608"/>
          </a:xfrm>
          <a:prstGeom prst="rect">
            <a:avLst/>
          </a:prstGeom>
          <a:solidFill>
            <a:srgbClr val="FFFFFF"/>
          </a:solidFill>
          <a:ln w="9525">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880">
                <a:solidFill>
                  <a:srgbClr val="595959"/>
                </a:solidFill>
                <a:latin typeface="Calibri"/>
              </a:rPr>
              <a:t>Data Resource Group</a:t>
            </a:r>
          </a:p>
        </p:txBody>
      </p:sp>
      <p:sp>
        <p:nvSpPr>
          <p:cNvPr id="34" name="Oval 32"/>
          <p:cNvSpPr/>
          <p:nvPr/>
        </p:nvSpPr>
        <p:spPr>
          <a:xfrm>
            <a:off x="6647688" y="2350007"/>
            <a:ext cx="274320" cy="27432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1000">
                <a:solidFill>
                  <a:srgbClr val="FFFFFF"/>
                </a:solidFill>
                <a:latin typeface="Calibri"/>
              </a:rPr>
              <a:t>4</a:t>
            </a:r>
          </a:p>
        </p:txBody>
      </p:sp>
      <p:sp>
        <p:nvSpPr>
          <p:cNvPr id="35" name="Can 33"/>
          <p:cNvSpPr/>
          <p:nvPr/>
        </p:nvSpPr>
        <p:spPr>
          <a:xfrm>
            <a:off x="6976872" y="2743199"/>
            <a:ext cx="868680" cy="960120"/>
          </a:xfrm>
          <a:prstGeom prst="can">
            <a:avLst/>
          </a:prstGeom>
          <a:solidFill>
            <a:srgbClr val="FFFFFF"/>
          </a:solidFill>
          <a:ln w="9525">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750">
                <a:solidFill>
                  <a:srgbClr val="202020"/>
                </a:solidFill>
                <a:latin typeface="Calibri"/>
              </a:rPr>
              <a:t>Postgres</a:t>
            </a:r>
          </a:p>
          <a:p>
            <a:pPr algn="ctr"/>
            <a:r>
              <a:rPr sz="600">
                <a:solidFill>
                  <a:srgbClr val="595959"/>
                </a:solidFill>
                <a:latin typeface="Calibri"/>
              </a:rPr>
              <a:t>Flexible</a:t>
            </a:r>
          </a:p>
        </p:txBody>
      </p:sp>
      <p:sp>
        <p:nvSpPr>
          <p:cNvPr id="36" name="TextBox 34"/>
          <p:cNvSpPr txBox="1"/>
          <p:nvPr/>
        </p:nvSpPr>
        <p:spPr>
          <a:xfrm>
            <a:off x="6839712" y="3730752"/>
            <a:ext cx="1143000" cy="164592"/>
          </a:xfrm>
          <a:prstGeom prst="rect">
            <a:avLst/>
          </a:prstGeom>
          <a:noFill/>
        </p:spPr>
        <p:txBody>
          <a:bodyPr wrap="square">
            <a:spAutoFit/>
          </a:bodyPr>
          <a:lstStyle/>
          <a:p>
            <a:pPr algn="ctr"/>
            <a:r>
              <a:rPr sz="620" b="0" i="0">
                <a:solidFill>
                  <a:srgbClr val="595959"/>
                </a:solidFill>
                <a:latin typeface="Calibri"/>
              </a:rPr>
              <a:t>Private Link</a:t>
            </a:r>
          </a:p>
        </p:txBody>
      </p:sp>
      <p:sp>
        <p:nvSpPr>
          <p:cNvPr id="37" name="Rectangle 35"/>
          <p:cNvSpPr/>
          <p:nvPr/>
        </p:nvSpPr>
        <p:spPr>
          <a:xfrm>
            <a:off x="7982712" y="2743199"/>
            <a:ext cx="1133856" cy="438912"/>
          </a:xfrm>
          <a:prstGeom prst="rect">
            <a:avLst/>
          </a:prstGeom>
          <a:solidFill>
            <a:srgbClr val="FFFFFF"/>
          </a:solidFill>
          <a:ln w="9525">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750">
                <a:solidFill>
                  <a:srgbClr val="202020"/>
                </a:solidFill>
                <a:latin typeface="Calibri"/>
              </a:rPr>
              <a:t>Key Vault</a:t>
            </a:r>
          </a:p>
          <a:p>
            <a:pPr algn="ctr"/>
            <a:r>
              <a:rPr sz="600">
                <a:solidFill>
                  <a:srgbClr val="595959"/>
                </a:solidFill>
                <a:latin typeface="Calibri"/>
              </a:rPr>
              <a:t>cert, keys (PE)</a:t>
            </a:r>
          </a:p>
        </p:txBody>
      </p:sp>
      <p:sp>
        <p:nvSpPr>
          <p:cNvPr id="38" name="Rectangle 36"/>
          <p:cNvSpPr/>
          <p:nvPr/>
        </p:nvSpPr>
        <p:spPr>
          <a:xfrm>
            <a:off x="7982712" y="3236975"/>
            <a:ext cx="1133856" cy="457200"/>
          </a:xfrm>
          <a:prstGeom prst="rect">
            <a:avLst/>
          </a:prstGeom>
          <a:solidFill>
            <a:srgbClr val="FFFFFF"/>
          </a:solidFill>
          <a:ln w="9525">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750">
                <a:solidFill>
                  <a:srgbClr val="202020"/>
                </a:solidFill>
                <a:latin typeface="Calibri"/>
              </a:rPr>
              <a:t>Blob Storage</a:t>
            </a:r>
          </a:p>
          <a:p>
            <a:pPr algn="ctr"/>
            <a:r>
              <a:rPr sz="600">
                <a:solidFill>
                  <a:srgbClr val="595959"/>
                </a:solidFill>
                <a:latin typeface="Calibri"/>
              </a:rPr>
              <a:t>minutes (PE)</a:t>
            </a:r>
          </a:p>
        </p:txBody>
      </p:sp>
      <p:sp>
        <p:nvSpPr>
          <p:cNvPr id="39" name="TextBox 37"/>
          <p:cNvSpPr txBox="1"/>
          <p:nvPr/>
        </p:nvSpPr>
        <p:spPr>
          <a:xfrm>
            <a:off x="2423160" y="4608576"/>
            <a:ext cx="2743200" cy="182880"/>
          </a:xfrm>
          <a:prstGeom prst="rect">
            <a:avLst/>
          </a:prstGeom>
          <a:noFill/>
        </p:spPr>
        <p:txBody>
          <a:bodyPr wrap="square">
            <a:spAutoFit/>
          </a:bodyPr>
          <a:lstStyle/>
          <a:p>
            <a:pPr algn="l"/>
            <a:r>
              <a:rPr sz="800" b="1" i="0">
                <a:solidFill>
                  <a:srgbClr val="595959"/>
                </a:solidFill>
                <a:latin typeface="Calibri"/>
              </a:rPr>
              <a:t>DevOps &amp; Observability</a:t>
            </a:r>
          </a:p>
        </p:txBody>
      </p:sp>
      <p:cxnSp>
        <p:nvCxnSpPr>
          <p:cNvPr id="40" name="Connector 38"/>
          <p:cNvCxnSpPr/>
          <p:nvPr/>
        </p:nvCxnSpPr>
        <p:spPr>
          <a:xfrm>
            <a:off x="2423160" y="4791455"/>
            <a:ext cx="6995159" cy="0"/>
          </a:xfrm>
          <a:prstGeom prst="line">
            <a:avLst/>
          </a:prstGeom>
          <a:ln w="12700">
            <a:solidFill>
              <a:srgbClr val="BFBFBF"/>
            </a:solidFill>
          </a:ln>
          <a:effectLst/>
        </p:spPr>
        <p:style>
          <a:lnRef idx="2">
            <a:schemeClr val="accent1"/>
          </a:lnRef>
          <a:fillRef idx="0">
            <a:schemeClr val="accent1"/>
          </a:fillRef>
          <a:effectRef idx="1">
            <a:schemeClr val="accent1"/>
          </a:effectRef>
          <a:fontRef idx="minor">
            <a:schemeClr val="tx1"/>
          </a:fontRef>
        </p:style>
      </p:cxnSp>
      <p:sp>
        <p:nvSpPr>
          <p:cNvPr id="41" name="Rectangle 39"/>
          <p:cNvSpPr/>
          <p:nvPr/>
        </p:nvSpPr>
        <p:spPr>
          <a:xfrm>
            <a:off x="2423160" y="4846320"/>
            <a:ext cx="1325880" cy="603504"/>
          </a:xfrm>
          <a:prstGeom prst="rect">
            <a:avLst/>
          </a:prstGeom>
          <a:solidFill>
            <a:srgbClr val="FFFFFF"/>
          </a:solidFill>
          <a:ln w="9525">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750">
                <a:solidFill>
                  <a:srgbClr val="202020"/>
                </a:solidFill>
                <a:latin typeface="Calibri"/>
              </a:rPr>
              <a:t>GitHub Actions / Azure DevOps</a:t>
            </a:r>
          </a:p>
        </p:txBody>
      </p:sp>
      <p:sp>
        <p:nvSpPr>
          <p:cNvPr id="42" name="Rectangle 40"/>
          <p:cNvSpPr/>
          <p:nvPr/>
        </p:nvSpPr>
        <p:spPr>
          <a:xfrm>
            <a:off x="3840480" y="4846320"/>
            <a:ext cx="1325880" cy="603504"/>
          </a:xfrm>
          <a:prstGeom prst="rect">
            <a:avLst/>
          </a:prstGeom>
          <a:solidFill>
            <a:srgbClr val="FFFFFF"/>
          </a:solidFill>
          <a:ln w="9525">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750">
                <a:solidFill>
                  <a:srgbClr val="202020"/>
                </a:solidFill>
                <a:latin typeface="Calibri"/>
              </a:rPr>
              <a:t>Container Registry (ACR)</a:t>
            </a:r>
          </a:p>
        </p:txBody>
      </p:sp>
      <p:sp>
        <p:nvSpPr>
          <p:cNvPr id="43" name="Rectangle 41"/>
          <p:cNvSpPr/>
          <p:nvPr/>
        </p:nvSpPr>
        <p:spPr>
          <a:xfrm>
            <a:off x="5257800" y="4846320"/>
            <a:ext cx="1325880" cy="603504"/>
          </a:xfrm>
          <a:prstGeom prst="rect">
            <a:avLst/>
          </a:prstGeom>
          <a:solidFill>
            <a:srgbClr val="FFFFFF"/>
          </a:solidFill>
          <a:ln w="9525">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750">
                <a:solidFill>
                  <a:srgbClr val="202020"/>
                </a:solidFill>
                <a:latin typeface="Calibri"/>
              </a:rPr>
              <a:t>Azure Monitor</a:t>
            </a:r>
          </a:p>
        </p:txBody>
      </p:sp>
      <p:sp>
        <p:nvSpPr>
          <p:cNvPr id="44" name="Rectangle 42"/>
          <p:cNvSpPr/>
          <p:nvPr/>
        </p:nvSpPr>
        <p:spPr>
          <a:xfrm>
            <a:off x="6675120" y="4846320"/>
            <a:ext cx="1325880" cy="603504"/>
          </a:xfrm>
          <a:prstGeom prst="rect">
            <a:avLst/>
          </a:prstGeom>
          <a:solidFill>
            <a:srgbClr val="FFFFFF"/>
          </a:solidFill>
          <a:ln w="9525">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750">
                <a:solidFill>
                  <a:srgbClr val="202020"/>
                </a:solidFill>
                <a:latin typeface="Calibri"/>
              </a:rPr>
              <a:t>Application Insights</a:t>
            </a:r>
          </a:p>
        </p:txBody>
      </p:sp>
      <p:sp>
        <p:nvSpPr>
          <p:cNvPr id="45" name="Rectangle 43"/>
          <p:cNvSpPr/>
          <p:nvPr/>
        </p:nvSpPr>
        <p:spPr>
          <a:xfrm>
            <a:off x="8092440" y="4846320"/>
            <a:ext cx="1325880" cy="603504"/>
          </a:xfrm>
          <a:prstGeom prst="rect">
            <a:avLst/>
          </a:prstGeom>
          <a:solidFill>
            <a:srgbClr val="FFFFFF"/>
          </a:solidFill>
          <a:ln w="9525">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750">
                <a:solidFill>
                  <a:srgbClr val="202020"/>
                </a:solidFill>
                <a:latin typeface="Calibri"/>
              </a:rPr>
              <a:t>Log Analytics / immutable audit</a:t>
            </a:r>
          </a:p>
        </p:txBody>
      </p:sp>
      <p:sp>
        <p:nvSpPr>
          <p:cNvPr id="46" name="Rectangle 44"/>
          <p:cNvSpPr/>
          <p:nvPr/>
        </p:nvSpPr>
        <p:spPr>
          <a:xfrm>
            <a:off x="9710928" y="1280160"/>
            <a:ext cx="2194560" cy="2743200"/>
          </a:xfrm>
          <a:prstGeom prst="rect">
            <a:avLst/>
          </a:prstGeom>
          <a:solidFill>
            <a:srgbClr val="FFFFFF"/>
          </a:solidFill>
          <a:ln w="12700">
            <a:solidFill>
              <a:srgbClr val="40404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5"/>
          <p:cNvSpPr txBox="1"/>
          <p:nvPr/>
        </p:nvSpPr>
        <p:spPr>
          <a:xfrm>
            <a:off x="9802367" y="1335024"/>
            <a:ext cx="2011680" cy="219456"/>
          </a:xfrm>
          <a:prstGeom prst="rect">
            <a:avLst/>
          </a:prstGeom>
          <a:noFill/>
        </p:spPr>
        <p:txBody>
          <a:bodyPr wrap="square">
            <a:spAutoFit/>
          </a:bodyPr>
          <a:lstStyle/>
          <a:p>
            <a:pPr algn="l"/>
            <a:r>
              <a:rPr sz="819" b="1" i="0">
                <a:solidFill>
                  <a:srgbClr val="595959"/>
                </a:solidFill>
                <a:latin typeface="Calibri"/>
              </a:rPr>
              <a:t>External (outbound HTTPS)</a:t>
            </a:r>
          </a:p>
        </p:txBody>
      </p:sp>
      <p:sp>
        <p:nvSpPr>
          <p:cNvPr id="48" name="Oval 46"/>
          <p:cNvSpPr/>
          <p:nvPr/>
        </p:nvSpPr>
        <p:spPr>
          <a:xfrm>
            <a:off x="9692640" y="1554480"/>
            <a:ext cx="274320" cy="27432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1000">
                <a:solidFill>
                  <a:srgbClr val="FFFFFF"/>
                </a:solidFill>
                <a:latin typeface="Calibri"/>
              </a:rPr>
              <a:t>5</a:t>
            </a:r>
          </a:p>
        </p:txBody>
      </p:sp>
      <p:sp>
        <p:nvSpPr>
          <p:cNvPr id="49" name="Rectangle 47"/>
          <p:cNvSpPr/>
          <p:nvPr/>
        </p:nvSpPr>
        <p:spPr>
          <a:xfrm>
            <a:off x="9848088" y="1645919"/>
            <a:ext cx="1920240" cy="713232"/>
          </a:xfrm>
          <a:prstGeom prst="rect">
            <a:avLst/>
          </a:prstGeom>
          <a:solidFill>
            <a:srgbClr val="FFFFFF"/>
          </a:solidFill>
          <a:ln w="9525">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850">
                <a:solidFill>
                  <a:srgbClr val="202020"/>
                </a:solidFill>
                <a:latin typeface="Calibri"/>
              </a:rPr>
              <a:t>Microsoft Foundry</a:t>
            </a:r>
          </a:p>
          <a:p>
            <a:pPr algn="ctr"/>
            <a:r>
              <a:rPr sz="680">
                <a:solidFill>
                  <a:srgbClr val="595959"/>
                </a:solidFill>
                <a:latin typeface="Calibri"/>
              </a:rPr>
              <a:t>Responses API + content safety</a:t>
            </a:r>
          </a:p>
        </p:txBody>
      </p:sp>
      <p:sp>
        <p:nvSpPr>
          <p:cNvPr id="50" name="Rectangle 48"/>
          <p:cNvSpPr/>
          <p:nvPr/>
        </p:nvSpPr>
        <p:spPr>
          <a:xfrm>
            <a:off x="9930384" y="1737360"/>
            <a:ext cx="201168" cy="201168"/>
          </a:xfrm>
          <a:prstGeom prst="rect">
            <a:avLst/>
          </a:prstGeom>
          <a:solidFill>
            <a:srgbClr val="FFFFFF"/>
          </a:solidFill>
          <a:ln w="9525">
            <a:solidFill>
              <a:srgbClr val="BFBFB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0" sz="600">
                <a:solidFill>
                  <a:srgbClr val="BFBFBF"/>
                </a:solidFill>
                <a:latin typeface="Calibri"/>
              </a:rPr>
              <a:t>icon</a:t>
            </a:r>
          </a:p>
        </p:txBody>
      </p:sp>
      <p:sp>
        <p:nvSpPr>
          <p:cNvPr id="51" name="Rectangle 49"/>
          <p:cNvSpPr/>
          <p:nvPr/>
        </p:nvSpPr>
        <p:spPr>
          <a:xfrm>
            <a:off x="9848088" y="2432304"/>
            <a:ext cx="1920240" cy="713232"/>
          </a:xfrm>
          <a:prstGeom prst="rect">
            <a:avLst/>
          </a:prstGeom>
          <a:solidFill>
            <a:srgbClr val="FFFFFF"/>
          </a:solidFill>
          <a:ln w="9525">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850">
                <a:solidFill>
                  <a:srgbClr val="202020"/>
                </a:solidFill>
                <a:latin typeface="Calibri"/>
              </a:rPr>
              <a:t>Microsoft Graph (Shell)</a:t>
            </a:r>
          </a:p>
          <a:p>
            <a:pPr algn="ctr"/>
            <a:r>
              <a:rPr sz="680">
                <a:solidFill>
                  <a:srgbClr val="595959"/>
                </a:solidFill>
                <a:latin typeface="Calibri"/>
              </a:rPr>
              <a:t>Mail / Calendar / Teams (app-only cert)</a:t>
            </a:r>
          </a:p>
        </p:txBody>
      </p:sp>
      <p:sp>
        <p:nvSpPr>
          <p:cNvPr id="52" name="Rectangle 50"/>
          <p:cNvSpPr/>
          <p:nvPr/>
        </p:nvSpPr>
        <p:spPr>
          <a:xfrm>
            <a:off x="9930384" y="2523744"/>
            <a:ext cx="201168" cy="201168"/>
          </a:xfrm>
          <a:prstGeom prst="rect">
            <a:avLst/>
          </a:prstGeom>
          <a:solidFill>
            <a:srgbClr val="FFFFFF"/>
          </a:solidFill>
          <a:ln w="9525">
            <a:solidFill>
              <a:srgbClr val="BFBFB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0" sz="600">
                <a:solidFill>
                  <a:srgbClr val="BFBFBF"/>
                </a:solidFill>
                <a:latin typeface="Calibri"/>
              </a:rPr>
              <a:t>icon</a:t>
            </a:r>
          </a:p>
        </p:txBody>
      </p:sp>
      <p:sp>
        <p:nvSpPr>
          <p:cNvPr id="53" name="Rectangle 51"/>
          <p:cNvSpPr/>
          <p:nvPr/>
        </p:nvSpPr>
        <p:spPr>
          <a:xfrm>
            <a:off x="9848088" y="3218688"/>
            <a:ext cx="1920240" cy="713232"/>
          </a:xfrm>
          <a:prstGeom prst="rect">
            <a:avLst/>
          </a:prstGeom>
          <a:solidFill>
            <a:srgbClr val="FFFFFF"/>
          </a:solidFill>
          <a:ln w="1587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850">
                <a:solidFill>
                  <a:srgbClr val="202020"/>
                </a:solidFill>
                <a:latin typeface="Calibri"/>
              </a:rPr>
              <a:t>Entra ID (app reg)</a:t>
            </a:r>
          </a:p>
          <a:p>
            <a:pPr algn="ctr"/>
            <a:r>
              <a:rPr sz="680">
                <a:solidFill>
                  <a:srgbClr val="595959"/>
                </a:solidFill>
                <a:latin typeface="Calibri"/>
              </a:rPr>
              <a:t>VendorPulse-Prod, cert in KV</a:t>
            </a:r>
          </a:p>
        </p:txBody>
      </p:sp>
      <p:cxnSp>
        <p:nvCxnSpPr>
          <p:cNvPr id="54" name="Connector 52"/>
          <p:cNvCxnSpPr/>
          <p:nvPr/>
        </p:nvCxnSpPr>
        <p:spPr>
          <a:xfrm>
            <a:off x="2121408" y="1938528"/>
            <a:ext cx="164592" cy="0"/>
          </a:xfrm>
          <a:prstGeom prst="line">
            <a:avLst/>
          </a:prstGeom>
          <a:ln w="12700">
            <a:solidFill>
              <a:srgbClr val="404040"/>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55" name="Connector 53"/>
          <p:cNvCxnSpPr/>
          <p:nvPr/>
        </p:nvCxnSpPr>
        <p:spPr>
          <a:xfrm>
            <a:off x="6473952" y="3163823"/>
            <a:ext cx="320040" cy="0"/>
          </a:xfrm>
          <a:prstGeom prst="line">
            <a:avLst/>
          </a:prstGeom>
          <a:ln w="12700">
            <a:solidFill>
              <a:srgbClr val="40404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56" name="TextBox 54"/>
          <p:cNvSpPr txBox="1"/>
          <p:nvPr/>
        </p:nvSpPr>
        <p:spPr>
          <a:xfrm>
            <a:off x="6428232" y="2871215"/>
            <a:ext cx="548640" cy="182880"/>
          </a:xfrm>
          <a:prstGeom prst="rect">
            <a:avLst/>
          </a:prstGeom>
          <a:noFill/>
        </p:spPr>
        <p:txBody>
          <a:bodyPr wrap="square">
            <a:spAutoFit/>
          </a:bodyPr>
          <a:lstStyle/>
          <a:p>
            <a:pPr algn="ctr"/>
            <a:r>
              <a:rPr sz="580" b="0" i="0">
                <a:solidFill>
                  <a:srgbClr val="595959"/>
                </a:solidFill>
                <a:latin typeface="Calibri"/>
              </a:rPr>
              <a:t>Private Link</a:t>
            </a:r>
          </a:p>
        </p:txBody>
      </p:sp>
      <p:cxnSp>
        <p:nvCxnSpPr>
          <p:cNvPr id="57" name="Connector 55"/>
          <p:cNvCxnSpPr/>
          <p:nvPr/>
        </p:nvCxnSpPr>
        <p:spPr>
          <a:xfrm>
            <a:off x="9564624" y="2286000"/>
            <a:ext cx="146304" cy="0"/>
          </a:xfrm>
          <a:prstGeom prst="line">
            <a:avLst/>
          </a:prstGeom>
          <a:ln w="12700">
            <a:solidFill>
              <a:srgbClr val="404040"/>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58" name="TextBox 56"/>
          <p:cNvSpPr txBox="1"/>
          <p:nvPr/>
        </p:nvSpPr>
        <p:spPr>
          <a:xfrm>
            <a:off x="9144000" y="1975104"/>
            <a:ext cx="1463040" cy="182880"/>
          </a:xfrm>
          <a:prstGeom prst="rect">
            <a:avLst/>
          </a:prstGeom>
          <a:noFill/>
        </p:spPr>
        <p:txBody>
          <a:bodyPr wrap="square">
            <a:spAutoFit/>
          </a:bodyPr>
          <a:lstStyle/>
          <a:p>
            <a:pPr algn="ctr"/>
            <a:r>
              <a:rPr sz="600" b="0" i="0">
                <a:solidFill>
                  <a:srgbClr val="595959"/>
                </a:solidFill>
                <a:latin typeface="Calibri"/>
              </a:rPr>
              <a:t>via egress proxy</a:t>
            </a:r>
          </a:p>
        </p:txBody>
      </p:sp>
      <p:sp>
        <p:nvSpPr>
          <p:cNvPr id="59" name="Rectangle 57"/>
          <p:cNvSpPr/>
          <p:nvPr/>
        </p:nvSpPr>
        <p:spPr>
          <a:xfrm>
            <a:off x="320040" y="6400800"/>
            <a:ext cx="11548872" cy="384048"/>
          </a:xfrm>
          <a:prstGeom prst="rect">
            <a:avLst/>
          </a:prstGeom>
          <a:solidFill>
            <a:srgbClr val="FFFFFF"/>
          </a:solidFill>
          <a:ln w="9525">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0" sz="780">
                <a:solidFill>
                  <a:srgbClr val="595959"/>
                </a:solidFill>
                <a:latin typeface="Calibri"/>
              </a:rPr>
              <a:t>Shell user to DNS (vendorpulse.it.shell.com) to Front Door (WAF) to App Service (private) to PostgreSQL via Private Link.   Graph and Foundry via outbound HTTPS (egress proxy).   Managed Identity to Key Vault / DB, app-only certificate to Graph.</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Widescreen</PresentationFormat>
  <Slides>6</Slides>
  <Notes>1</Notes>
  <HiddenSlides>4</HiddenSlides>
  <ScaleCrop>false</ScaleCrop>
  <HeadingPairs>
    <vt:vector size="4" baseType="variant">
      <vt:variant>
        <vt:lpstr>Theme</vt:lpstr>
      </vt:variant>
      <vt:variant>
        <vt:i4>1</vt:i4>
      </vt:variant>
      <vt:variant>
        <vt:lpstr>Slide Titles</vt:lpstr>
      </vt:variant>
      <vt:variant>
        <vt:i4>6</vt:i4>
      </vt:variant>
    </vt:vector>
  </HeadingPairs>
  <TitlesOfParts>
    <vt:vector size="7" baseType="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revision>11</cp:revision>
  <dcterms:created xsi:type="dcterms:W3CDTF">2026-06-10T09:55:44Z</dcterms:created>
  <dcterms:modified xsi:type="dcterms:W3CDTF">2026-06-10T16:10:05Z</dcterms:modified>
</cp:coreProperties>
</file>