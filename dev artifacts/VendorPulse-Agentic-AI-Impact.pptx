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384048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71800"/>
            <a:ext cx="1920240" cy="36576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AGENTIC AI  •  VENDOR GOVERNANCE  •  SHELL EGB / QBR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9728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VendorPulse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An agentic orchestrator that compresses weeks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Calibri"/>
              </a:rPr>
              <a:t>QBR admin into minutes — without surrendering governance.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2651760" cy="1097280"/>
          </a:xfrm>
          <a:prstGeom prst="rect">
            <a:avLst/>
          </a:prstGeom>
          <a:solidFill>
            <a:srgbClr val="13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93776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9612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  <a:latin typeface="Calibri"/>
              </a:rPr>
              <a:t>Specialised Agents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4937760"/>
            <a:ext cx="2651760" cy="1097280"/>
          </a:xfrm>
          <a:prstGeom prst="rect">
            <a:avLst/>
          </a:prstGeom>
          <a:solidFill>
            <a:srgbClr val="13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493776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50749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59612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  <a:latin typeface="Calibri"/>
              </a:rPr>
              <a:t>Workflow States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937760"/>
            <a:ext cx="2651760" cy="1097280"/>
          </a:xfrm>
          <a:prstGeom prst="rect">
            <a:avLst/>
          </a:prstGeom>
          <a:solidFill>
            <a:srgbClr val="13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493776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0749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40–60%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59612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  <a:latin typeface="Calibri"/>
              </a:rPr>
              <a:t>Admin Workload Cut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937760"/>
            <a:ext cx="2651760" cy="1097280"/>
          </a:xfrm>
          <a:prstGeom prst="rect">
            <a:avLst/>
          </a:prstGeom>
          <a:solidFill>
            <a:srgbClr val="13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4937760"/>
            <a:ext cx="73152" cy="10972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5074920"/>
            <a:ext cx="265176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5596128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F5A623"/>
                </a:solidFill>
                <a:latin typeface="Calibri"/>
              </a:rPr>
              <a:t>Human-in-the-Loop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EGB / QBR cycles run on heroics, spreadsheets, and chase-emails.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3703320" cy="14173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91640"/>
            <a:ext cx="82296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0136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Scheduling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3429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Coordinating executive sponsors, Shell stakeholders and vendors across calendars takes days of manual back-and-forth.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691640"/>
            <a:ext cx="3703320" cy="14173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691640"/>
            <a:ext cx="82296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98848" y="180136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Scorecard chaos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194560"/>
            <a:ext cx="3429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Inputs arrive late, in different formats, with inconsistent scoring. Someone manually chases, consolidates and validates.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74736" y="1691640"/>
            <a:ext cx="3703320" cy="14173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691640"/>
            <a:ext cx="82296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6" y="1801368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Vendor pushback loop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6" y="2194560"/>
            <a:ext cx="3429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Objections surface in meetings; responses require multiple internal cycles before Shell can reply coherently.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264408"/>
            <a:ext cx="3703320" cy="14173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64408"/>
            <a:ext cx="82296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374136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No cross-cycle 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767328"/>
            <a:ext cx="3429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Recurring issues, prior commitments and trends live in people's heads — not in the governance process.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5968" y="3264408"/>
            <a:ext cx="3703320" cy="14173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15968" y="3264408"/>
            <a:ext cx="82296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374136"/>
            <a:ext cx="3429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Prep &gt; governance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3767328"/>
            <a:ext cx="3429000" cy="868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Teams spend more time preparing for meetings than running the strategic conversation the meetings exist for.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11247120" cy="1554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109728" cy="1554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91947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F5A623"/>
                </a:solidFill>
                <a:latin typeface="Calibri"/>
              </a:rPr>
              <a:t>The 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212080"/>
            <a:ext cx="1078992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Automate the repetitive. Keep humans in charge of judgement, negotiation</a:t>
            </a:r>
          </a:p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and relationships. Make every QBR start with context from the last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The VendorPulse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A 6-module agentic workflow engine — deterministic where it must be, AI-augmented where it pays off.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11247120" cy="82296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0992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One orchestrator. Six agents. Twelve enforced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5A6578"/>
                </a:solidFill>
                <a:latin typeface="Calibri"/>
              </a:rPr>
              <a:t>Every AI-generated artifact is surfaced for human approval before any external action.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651760"/>
            <a:ext cx="3703320" cy="4572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24912"/>
            <a:ext cx="3703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Deterministic 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3429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2234"/>
                </a:solidFill>
                <a:latin typeface="Calibri"/>
              </a:rPr>
              <a:t>Slot ranking, score validation, workflow transitions and outlier detection are code — never AI.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2651760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2651760"/>
            <a:ext cx="3703320" cy="4572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2724912"/>
            <a:ext cx="3703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AI-Augmented Surfaces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291840"/>
            <a:ext cx="3429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2234"/>
                </a:solidFill>
                <a:latin typeface="Calibri"/>
              </a:rPr>
              <a:t>Claude / Azure OpenAI drafts invites, briefs, response options, meeting minutes and trend narratives.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74736" y="2651760"/>
            <a:ext cx="3703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2651760"/>
            <a:ext cx="37033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724912"/>
            <a:ext cx="3703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Human-in-the-Loop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3291840"/>
            <a:ext cx="34290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A2234"/>
                </a:solidFill>
                <a:latin typeface="Calibri"/>
              </a:rPr>
              <a:t>Every agent output flows through an ApprovalPanel. Shell sponsors retain full control.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Outcomes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0640"/>
            <a:ext cx="2761488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73152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93792"/>
            <a:ext cx="27614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Weeks → Minutes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96128"/>
            <a:ext cx="27614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  <a:latin typeface="Calibri"/>
              </a:rPr>
              <a:t>Cycle kickoff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00984" y="5120640"/>
            <a:ext cx="2761488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00984" y="5120640"/>
            <a:ext cx="73152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3864" y="5193792"/>
            <a:ext cx="27614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Higher fidelity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83864" y="5596128"/>
            <a:ext cx="27614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  <a:latin typeface="Calibri"/>
              </a:rPr>
              <a:t>Scorecard inputs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5120640"/>
            <a:ext cx="2761488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5120640"/>
            <a:ext cx="73152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5193792"/>
            <a:ext cx="27614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Fewer loops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5596128"/>
            <a:ext cx="27614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  <a:latin typeface="Calibri"/>
              </a:rPr>
              <a:t>Vendor pushback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88552" y="5120640"/>
            <a:ext cx="2761488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88552" y="5120640"/>
            <a:ext cx="73152" cy="868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71432" y="5193792"/>
            <a:ext cx="276148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71432" y="5596128"/>
            <a:ext cx="27614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F5A623"/>
                </a:solidFill>
                <a:latin typeface="Calibri"/>
              </a:rPr>
              <a:t>Across cycles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Solution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Layered design — UI → API → Agent Fabric → Services → Integrations → Memory.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2651760" cy="6583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1719072"/>
            <a:ext cx="23774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Experience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719072"/>
            <a:ext cx="83210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React 19 + Vite  •  CycleDetail workspace  •  ApprovalPanel  •  WorkflowProgressBar  •  AgentStatusBadge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95728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95728"/>
            <a:ext cx="2651760" cy="65836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2468880"/>
            <a:ext cx="23774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API Layer (FastAPI)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2468880"/>
            <a:ext cx="83210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Scheduling  •  Scorecard  •  Alignment  •  Vendor Prep  •  Meeting  •  Analytics  •  Auth  •  Users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45536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145536"/>
            <a:ext cx="2651760" cy="65836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218688"/>
            <a:ext cx="23774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Agent Fabric — 6 specialised 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218688"/>
            <a:ext cx="83210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SchedulingAgent  •  ScorecardAgent  •  AlignmentAgent  •  VendorPrepAgent  •  MeetingAgent  •  MemoryAgent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95344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95344"/>
            <a:ext cx="2651760" cy="658368"/>
          </a:xfrm>
          <a:prstGeom prst="rect">
            <a:avLst/>
          </a:prstGeom>
          <a:solidFill>
            <a:srgbClr val="2F4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3968496"/>
            <a:ext cx="23774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Services — deterministic engines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3968496"/>
            <a:ext cx="83210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SlotRanking  •  LLM (Azure OpenAI)  •  Graph  •  Gmail  •  Google Forms  •  Availability  •  Scheduling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45152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45152"/>
            <a:ext cx="2651760" cy="658368"/>
          </a:xfrm>
          <a:prstGeom prst="rect">
            <a:avLst/>
          </a:prstGeom>
          <a:solidFill>
            <a:srgbClr val="4A3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4718304"/>
            <a:ext cx="23774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Workflow Engine — 12-state machine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4718304"/>
            <a:ext cx="83210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CYCLE_CREATED → ATTENDEE_REFRESH → AVAILABILITY → SCHEDULED → SCORECARD_* → ALIGNMENT → VENDOR_PREP → MEETING → POST_MEETING → ARCHIVED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394960"/>
            <a:ext cx="112471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394960"/>
            <a:ext cx="2651760" cy="658368"/>
          </a:xfrm>
          <a:prstGeom prst="rect">
            <a:avLst/>
          </a:prstGeom>
          <a:solidFill>
            <a:srgbClr val="1E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5468112"/>
            <a:ext cx="23774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Integrations &amp;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5468112"/>
            <a:ext cx="8321040" cy="5120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1A2234"/>
                </a:solidFill>
                <a:latin typeface="Calibri"/>
              </a:rPr>
              <a:t>Microsoft Graph (Teams/Calendar)  •  Gmail + Google Forms  •  Azure OpenAI  •  JSON repositories (Postgres-compatible)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5A6578"/>
                </a:solidFill>
                <a:latin typeface="Calibri"/>
              </a:rPr>
              <a:t>Status legend: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63040" y="62179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23160" y="62179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83280" y="62179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ENV-GATED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62179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C6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62179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Module A  •  Scheduling &amp;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From attendee roster through multi-stakeholder slot selection to sent invites — the SchedulingAgent drives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the business asked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5212080" cy="3749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Refresh attendee list from last meeting invite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Check Shell stakeholder availability (calendar scan or form)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Propose optimal meeting slots factoring in sponsor priority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Send standard invite when approved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Track confirmations and RSVPs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11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What VendorPulse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212080" cy="3017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Graph API findMeetingTimes — real calendar scan across attendees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Deterministic SlotRankingService with sponsor-weight &amp; penalty rules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Teams meeting creation via Graph createEvent — real invite send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Attendee refresh emails via Gmail — flags replacements back into roster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Workflow-gated: won't advance until AVAILABILITY_COLLECTED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ENV-GATED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09728" cy="365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Signature capability  →  Real Microsoft Graph integration — findMeetingTimes + createEvent end-to-end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Module B  •  Scorecard Collection &amp;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Eliminate chase-emails. Catch bad data before it reaches the deck.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the business asked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5212080" cy="3749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Send scorecard request to stakeholders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Automated reminders before deadlines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Validate fields for completeness &amp; consistency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Flag anomalies / outlier scores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Compile inputs into a shared work file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Calculate averages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11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What VendorPulse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212080" cy="3017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Gmail-authenticated distribution + Google Forms ingestion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ScorecardAgent validates 1-5 ranges, required comments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Z-score anomaly detection — deterministic, not LLM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Consolidated scorecard JSON + computed means/variances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LLM drafts reminder copy with fallback to templates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Human approval before any send goes 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ENV-GATED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09728" cy="365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Signature capability  →  Statistical outlier detection runs in code — LLM never touches the numbers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Module C  •  Internal Alignment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Walk into alignment calls already knowing what changed and what to discuss.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the business asked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5212080" cy="3749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Highlight significant changes from previous cycles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Flag areas requiring internal alignment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Capture action items during meeting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Assist face-off model updates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11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What VendorPulse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212080" cy="3017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Score delta computation across cycle history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Threshold-based flagging of contested metrics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AlignmentAgent generates narrative summary via Azure OpenAI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Action item capture UI wired to cycle store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Face-off form surface (update sync — roadmap)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C6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09728" cy="365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Signature capability  →  Cross-cycle delta narrative — the 'what's changed' brief auto-drafts in seconds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Module D  •  Vendor Prep Call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Never walk into a vendor meeting without three response options per pushback.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the business asked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5212080" cy="3749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Summarise scorecard inputs &amp; rationale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Collect vendor questions, objections, pushbacks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Draft response options for Shell internal review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Track unresolved items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Capture action items during meeting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11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What VendorPulse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212080" cy="3017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VendorPrepAgent — tool-calling LLM produces structured brief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Three response options per objection, each with tone &amp; tradeoffs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Unresolved-items ledger persisted across cycles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Action log synced to meeting service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ApprovalPanel before any external response is 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ENV-GATED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09728" cy="365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Signature capability  →  Tool-calling pattern — LLM returns structured JSON validated against Pydantic schemas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Module E  •  EGB / QBR Meeting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The meeting runs itself: minutes, action log, trend callouts — all drafted, all approved.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the business asked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5212080" cy="3749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Identify score trends &amp; insights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Document real-time questions, objections, appreciations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Draft meeting minutes automatically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Produce action log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11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What VendorPulse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212080" cy="3017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Trend insights drawn from compiled scorecard history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MeetingAgent parses transcript/notes into structured minutes via LLM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Action log persisted and queryable for follow-up cycles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Q&amp;A capture UI — pluggable to live transcript feed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C6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172200"/>
            <a:ext cx="109728" cy="365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Signature capability  →  Meeting-minutes drafting — already in place per original requirements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Module F  •  Cross-Cycle Memory &amp;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The first QBR that remembers the last one — and the three before that.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45920"/>
            <a:ext cx="5486400" cy="4389120"/>
          </a:xfrm>
          <a:prstGeom prst="rect">
            <a:avLst/>
          </a:prstGeom>
          <a:solidFill>
            <a:srgbClr val="F4F6FA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45920"/>
            <a:ext cx="5486400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What the business asked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5212080" cy="3749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Store historical scores &amp; detect trends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Track recurring vendor issues or improvements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Warn when issues reappear over multiple cycles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F5A623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Provide insights to prepare Shell leadership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548640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5486400" cy="4114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What VendorPulse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94560"/>
            <a:ext cx="5212080" cy="301752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MemoryAgent operates across full cycle archive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Trajectory tagging (improving / declining / stable) per vendor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Recurrence detection for previously-raised issues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Leadership brief card generated per cycle — LLM narrative over hard data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00B3A4"/>
                </a:solidFill>
                <a:latin typeface="Calibri"/>
              </a:rPr>
              <a:t>▸  </a:t>
            </a:r>
            <a:r>
              <a:rPr sz="1100">
                <a:solidFill>
                  <a:srgbClr val="1A2234"/>
                </a:solidFill>
                <a:latin typeface="Calibri"/>
              </a:rPr>
              <a:t>Seeded with 3 vendors × 4 cycles of historical data for demo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5532120"/>
            <a:ext cx="868680" cy="256032"/>
          </a:xfrm>
          <a:prstGeom prst="roundRect">
            <a:avLst>
              <a:gd name="adj" fmla="val 18000"/>
            </a:avLst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172200"/>
            <a:ext cx="109728" cy="3657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217920"/>
            <a:ext cx="1097280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Signature capability  →  Institutional memory — every cycle becomes input to the next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64592" cy="65379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73152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Calibri"/>
              </a:rPr>
              <a:t>VendorPulse  •  Agentic AI for Vendor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601968"/>
            <a:ext cx="91440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900" b="1">
                <a:solidFill>
                  <a:srgbClr val="F5A623"/>
                </a:solidFill>
                <a:latin typeface="Calibri"/>
              </a:rPr>
              <a:t>Zensar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0B1F3A"/>
                </a:solidFill>
                <a:latin typeface="Calibri"/>
              </a:rPr>
              <a:t>Expected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24128"/>
            <a:ext cx="112471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5A6578"/>
                </a:solidFill>
                <a:latin typeface="Calibri"/>
              </a:rPr>
              <a:t>What Shell VMO and IDT Operations get back.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89888"/>
            <a:ext cx="109728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109728" cy="12801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2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F5A623"/>
                </a:solidFill>
                <a:latin typeface="Calibri"/>
              </a:rPr>
              <a:t>40–60%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50592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2234"/>
                </a:solidFill>
                <a:latin typeface="Calibri"/>
              </a:rPr>
              <a:t>Reduction in admin workload for EGB/QBR cycles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73736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737360"/>
            <a:ext cx="109728" cy="128016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0B3A4"/>
                </a:solidFill>
                <a:latin typeface="Calibri"/>
              </a:rPr>
              <a:t>Hours →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50592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2234"/>
                </a:solidFill>
                <a:latin typeface="Calibri"/>
              </a:rPr>
              <a:t>To propose an optimal meeting slate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109728" cy="12801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3756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Calibri"/>
              </a:rPr>
              <a:t>Zero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13632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2234"/>
                </a:solidFill>
                <a:latin typeface="Calibri"/>
              </a:rPr>
              <a:t>Chase-emails to collect scorecard inputs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200400"/>
            <a:ext cx="54864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3200400"/>
            <a:ext cx="109728" cy="1280160"/>
          </a:xfrm>
          <a:prstGeom prst="rect">
            <a:avLst/>
          </a:prstGeom>
          <a:solidFill>
            <a:srgbClr val="4A3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33756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4A3680"/>
                </a:solidFill>
                <a:latin typeface="Calibri"/>
              </a:rPr>
              <a:t>Every 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913632"/>
            <a:ext cx="51206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A2234"/>
                </a:solidFill>
                <a:latin typeface="Calibri"/>
              </a:rPr>
              <a:t>Informed by history — not rediscovered each quarter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37760"/>
            <a:ext cx="11247120" cy="1417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937760"/>
            <a:ext cx="109728" cy="14173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074920"/>
            <a:ext cx="107899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And the things you can't put a number 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40680"/>
            <a:ext cx="10789920" cy="91440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Higher consistency &amp; accuracy of scorecard inputs — validation catches gaps at source.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Faster vendor alignment; clearer communication through drafted response options.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Improved governance via strong historical insight — trends visible to leadership, not buried.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F5A623"/>
                </a:solidFill>
                <a:latin typeface="Calibri"/>
              </a:rPr>
              <a:t>▸  </a:t>
            </a:r>
            <a:r>
              <a:rPr sz="1200">
                <a:solidFill>
                  <a:srgbClr val="FFFFFF"/>
                </a:solidFill>
                <a:latin typeface="Calibri"/>
              </a:rPr>
              <a:t>More time for strategic, value-added vendor management 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4389120" cy="7315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Calibri"/>
              </a:rPr>
              <a:t>READY FOR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9728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Run the next EGB/QBR cycle on VendorPulse.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Real integrations. Real agents. Real governance guardrails.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023360"/>
            <a:ext cx="11247120" cy="2011680"/>
          </a:xfrm>
          <a:prstGeom prst="rect">
            <a:avLst/>
          </a:prstGeom>
          <a:solidFill>
            <a:srgbClr val="13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109728" cy="20116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Calibri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80"/>
            <a:ext cx="10515600" cy="1463040"/>
          </a:xfrm>
          <a:prstGeom prst="rect">
            <a:avLst/>
          </a:prstGeom>
          <a:noFill/>
        </p:spPr>
        <p:txBody>
          <a:bodyPr wrap="square" l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Agree MVP scope with VMO — full Module A/B/F is production-ready; C/D/E finish in-sprint.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Engage Shell IT &amp; Cybersecurity on Graph and Google OAuth scopes.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Pilot cycle: live calendar scan, scorecard via Forms, LLM-drafted minutes under approval gate.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5A623"/>
                </a:solidFill>
                <a:latin typeface="Calibri"/>
              </a:rPr>
              <a:t>▸  </a:t>
            </a:r>
            <a:r>
              <a:rPr sz="1400">
                <a:solidFill>
                  <a:srgbClr val="FFFFFF"/>
                </a:solidFill>
                <a:latin typeface="Calibri"/>
              </a:rPr>
              <a:t>Measure: admin hours reclaimed, time-to-scheduled, scorecard completion rate.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