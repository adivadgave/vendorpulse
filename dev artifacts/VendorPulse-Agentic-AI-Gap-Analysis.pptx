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75284"/>
            <a:ext cx="65587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VendorPulse Agentic 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074789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EGB/QBR Process Automation — Requirements vs. Reality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327684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Shell Mobility VMO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Vendor Governance Platform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432768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Date: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April 2026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5520333"/>
            <a:ext cx="1583055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8" name="Text 5"/>
          <p:cNvSpPr/>
          <p:nvPr/>
        </p:nvSpPr>
        <p:spPr>
          <a:xfrm>
            <a:off x="929878" y="5588318"/>
            <a:ext cx="13108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ANALYSIS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90192" y="5512713"/>
            <a:ext cx="2419588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33901" y="5588318"/>
            <a:ext cx="213217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REVIEW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3128" y="5512713"/>
            <a:ext cx="119729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66836" y="5588318"/>
            <a:ext cx="90987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32884" y="381357"/>
            <a:ext cx="3770114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 This Truly Agentic AI?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932884" y="887611"/>
            <a:ext cx="8251031" cy="1100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Yes — by design. Partially — by completion.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5932884" y="2095619"/>
            <a:ext cx="8251031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AI = </a:t>
            </a:r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multi-step reasoning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Tool-calling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Human-in-the-loop approval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932884" y="2335887"/>
            <a:ext cx="8251031" cy="1286113"/>
          </a:xfrm>
          <a:prstGeom prst="roundRect">
            <a:avLst>
              <a:gd name="adj" fmla="val 41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68020" y="2471023"/>
            <a:ext cx="382667" cy="382667"/>
          </a:xfrm>
          <a:prstGeom prst="roundRect">
            <a:avLst>
              <a:gd name="adj" fmla="val 23893060"/>
            </a:avLst>
          </a:prstGeom>
          <a:solidFill>
            <a:srgbClr val="4950B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3272" y="2576274"/>
            <a:ext cx="172164" cy="1721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68020" y="2925366"/>
            <a:ext cx="1594842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Tool-Calling Agents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068020" y="3167777"/>
            <a:ext cx="7980759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module has a BaseAgent subclass exposing structured tools to Claude — structured JSON outputs validated by Pydantic, not raw prompts.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932884" y="3693676"/>
            <a:ext cx="8251031" cy="1126569"/>
          </a:xfrm>
          <a:prstGeom prst="roundRect">
            <a:avLst>
              <a:gd name="adj" fmla="val 475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68020" y="3828812"/>
            <a:ext cx="382667" cy="382667"/>
          </a:xfrm>
          <a:prstGeom prst="roundRect">
            <a:avLst>
              <a:gd name="adj" fmla="val 23893060"/>
            </a:avLst>
          </a:prstGeom>
          <a:solidFill>
            <a:srgbClr val="4950B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3272" y="3934063"/>
            <a:ext cx="172164" cy="1721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68020" y="4283154"/>
            <a:ext cx="2151698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12-State Workflow Machine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068020" y="4525566"/>
            <a:ext cx="7980759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Forward-only, enforced transitions, guards prevent out-of-state actions. Raises HTTP 409 on violations.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932884" y="4891921"/>
            <a:ext cx="8251031" cy="1126569"/>
          </a:xfrm>
          <a:prstGeom prst="roundRect">
            <a:avLst>
              <a:gd name="adj" fmla="val 475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068020" y="5027057"/>
            <a:ext cx="382667" cy="382667"/>
          </a:xfrm>
          <a:prstGeom prst="roundRect">
            <a:avLst>
              <a:gd name="adj" fmla="val 23893060"/>
            </a:avLst>
          </a:prstGeom>
          <a:solidFill>
            <a:srgbClr val="4950B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3272" y="5132308"/>
            <a:ext cx="172164" cy="1721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68020" y="5481399"/>
            <a:ext cx="1700927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Human Approval Gate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068020" y="5723811"/>
            <a:ext cx="7980759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AI-generated output surfaces via ApprovalPanel before any external action is taken.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932884" y="6090166"/>
            <a:ext cx="8251031" cy="1126569"/>
          </a:xfrm>
          <a:prstGeom prst="roundRect">
            <a:avLst>
              <a:gd name="adj" fmla="val 475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068020" y="6225302"/>
            <a:ext cx="382667" cy="382667"/>
          </a:xfrm>
          <a:prstGeom prst="roundRect">
            <a:avLst>
              <a:gd name="adj" fmla="val 23893060"/>
            </a:avLst>
          </a:prstGeom>
          <a:solidFill>
            <a:srgbClr val="4950B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73272" y="6330553"/>
            <a:ext cx="172164" cy="1721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068020" y="6679644"/>
            <a:ext cx="1956554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AgentResponse Contract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068020" y="6922056"/>
            <a:ext cx="7980759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response envelope (status, data, warnings, next_actions) — frontend never parses raw AI text.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932884" y="7297460"/>
            <a:ext cx="8251031" cy="550783"/>
          </a:xfrm>
          <a:prstGeom prst="roundRect">
            <a:avLst>
              <a:gd name="adj" fmla="val 9729"/>
            </a:avLst>
          </a:prstGeom>
          <a:solidFill>
            <a:srgbClr val="C7C9EA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0400" y="7467005"/>
            <a:ext cx="159425" cy="12751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47341" y="7400925"/>
            <a:ext cx="7709059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verdict: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architecture is production-grade agentic AI. Module A is fully operational. Modules C–F have the scaffolding but LLM wiring is the remaining gap.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41373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Overall Completion Scorecard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320772" y="751165"/>
            <a:ext cx="2722364" cy="2539246"/>
          </a:xfrm>
          <a:prstGeom prst="roundRect">
            <a:avLst>
              <a:gd name="adj" fmla="val 3216"/>
            </a:avLst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3434120" y="80783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Overall Status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34120" y="1041678"/>
            <a:ext cx="2495669" cy="488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~65%</a:t>
            </a:r>
            <a:endParaRPr lang="en-US" sz="3050" dirty="0"/>
          </a:p>
        </p:txBody>
      </p:sp>
      <p:sp>
        <p:nvSpPr>
          <p:cNvPr id="6" name="Text 4"/>
          <p:cNvSpPr/>
          <p:nvPr/>
        </p:nvSpPr>
        <p:spPr>
          <a:xfrm>
            <a:off x="3434120" y="1587341"/>
            <a:ext cx="2495669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is solid. LLM wiring is the primary gap across Modules C–F.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434120" y="1923217"/>
            <a:ext cx="680680" cy="191929"/>
          </a:xfrm>
          <a:prstGeom prst="roundRect">
            <a:avLst>
              <a:gd name="adj" fmla="val 19855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9724" y="1964769"/>
            <a:ext cx="529471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MODULES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71474" y="1923217"/>
            <a:ext cx="654844" cy="191929"/>
          </a:xfrm>
          <a:prstGeom prst="roundRect">
            <a:avLst>
              <a:gd name="adj" fmla="val 19855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47078" y="1964769"/>
            <a:ext cx="503634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2026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245781" y="814864"/>
            <a:ext cx="4989671" cy="2411849"/>
          </a:xfrm>
          <a:prstGeom prst="roundRect">
            <a:avLst>
              <a:gd name="adj" fmla="val 197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7462" y="864037"/>
            <a:ext cx="14272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028980" y="864037"/>
            <a:ext cx="142339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686687" y="864037"/>
            <a:ext cx="14272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367462" y="1090851"/>
            <a:ext cx="14272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— Meeting Scheduling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028980" y="1090851"/>
            <a:ext cx="142339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Attendees, calendar, slots, invites, RSVP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86687" y="1090851"/>
            <a:ext cx="14272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 — Production Ready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367462" y="1453753"/>
            <a:ext cx="14272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— Scorecard Collection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28980" y="1453753"/>
            <a:ext cx="142339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Forms, dispatch, validation, compilation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686687" y="1453753"/>
            <a:ext cx="14272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 — Mostly Done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67462" y="1816656"/>
            <a:ext cx="14272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— Internal Alignment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028980" y="1816656"/>
            <a:ext cx="142339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Comparison, flags, change highlights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686687" y="1816656"/>
            <a:ext cx="14272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 — Half Done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67462" y="2179558"/>
            <a:ext cx="14272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— Vendor Prep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028980" y="2179558"/>
            <a:ext cx="142339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Brief, pushbacks, response options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686687" y="2179558"/>
            <a:ext cx="14272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 — Scaffolded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67462" y="2542461"/>
            <a:ext cx="14272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— EGB/QBR Meeting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028980" y="2542461"/>
            <a:ext cx="142339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CRUD, notes, minutes, action log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686687" y="2542461"/>
            <a:ext cx="14272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— Partially Wired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67462" y="2905363"/>
            <a:ext cx="142720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 — Cross-Cycle Analytics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28980" y="2905363"/>
            <a:ext cx="142339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Trends, recurring issues, leadership brief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86687" y="2905363"/>
            <a:ext cx="14272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65% — Data Ready</a:t>
            </a:r>
            <a:endParaRPr lang="en-US" sz="85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449" y="3354110"/>
            <a:ext cx="7825502" cy="3063121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959227" y="3643035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90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9890602" y="4083725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75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8098446" y="4524415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50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7380869" y="4965105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40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8812926" y="5405795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60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9172311" y="5846485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65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3402449" y="7800023"/>
            <a:ext cx="782550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finding: Data collection, validation, and workflow layers are strong across all modules. The gap is in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generative AI content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minutes, briefs, pushback responses, and leadership narratives are structured but Claude is not yet wired in modules C–F.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96503"/>
            <a:ext cx="7035165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A — Meeting Scheduling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1201460" y="1427083"/>
            <a:ext cx="2203847" cy="308253"/>
          </a:xfrm>
          <a:prstGeom prst="roundRect">
            <a:avLst>
              <a:gd name="adj" fmla="val 19316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1307783" y="1480185"/>
            <a:ext cx="1991201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 — PRODUCTION READY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01460" y="2029420"/>
            <a:ext cx="278118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Built and Working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7897" y="2467451"/>
            <a:ext cx="265748" cy="2657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77246" y="2461974"/>
            <a:ext cx="246757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Attendee Management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77246" y="2877145"/>
            <a:ext cx="6587728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Auto-seeding from previous cycle (same vendor, same quarter). Real Microsoft Graph API: findMeetingTimes against live Outlook/Teams calendars — not mocked.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7897" y="3916680"/>
            <a:ext cx="265748" cy="2657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77246" y="3911203"/>
            <a:ext cx="285238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Deterministic Slot Ranking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777246" y="4326374"/>
            <a:ext cx="658772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100-point score (attendance %, exec sponsor hard constraint, timezone bonus, conflict penalties). 25 configurable scoring parameters in config.py.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7897" y="5113496"/>
            <a:ext cx="265748" cy="2657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77246" y="5108019"/>
            <a:ext cx="261282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LLM-Generated Content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777246" y="5523190"/>
            <a:ext cx="658772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Plain-English rationale per top slot, personalized conflict nudge messages per attendee, LLM-drafted invite email with static fallback if LLM is disabled.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7897" y="6310313"/>
            <a:ext cx="265748" cy="26574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77246" y="6304836"/>
            <a:ext cx="246971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 Teams Integration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1777246" y="6720007"/>
            <a:ext cx="6587728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Teams meeting creation via Graph createEvent. Real attendance confirmation outreach via Graph Mail.Send. Reply tracking by conversationId. RSVP tracking per attendee; idempotent.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8804791" y="2029420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Still Pending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8804791" y="2461974"/>
            <a:ext cx="4631531" cy="1320046"/>
          </a:xfrm>
          <a:prstGeom prst="roundRect">
            <a:avLst>
              <a:gd name="adj" fmla="val 831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781931" y="2461974"/>
            <a:ext cx="91440" cy="1320046"/>
          </a:xfrm>
          <a:prstGeom prst="roundRect">
            <a:avLst>
              <a:gd name="adj" fmla="val 81395"/>
            </a:avLst>
          </a:prstGeom>
          <a:solidFill>
            <a:srgbClr val="4950BC"/>
          </a:solidFill>
          <a:ln/>
        </p:spPr>
      </p:sp>
      <p:sp>
        <p:nvSpPr>
          <p:cNvPr id="21" name="Text 15"/>
          <p:cNvSpPr/>
          <p:nvPr/>
        </p:nvSpPr>
        <p:spPr>
          <a:xfrm>
            <a:off x="9073396" y="2661999"/>
            <a:ext cx="227576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Forms Option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9073396" y="3077170"/>
            <a:ext cx="416290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collection via form as alternative to calendar API (mentioned in requirements).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8804791" y="3920371"/>
            <a:ext cx="4631531" cy="1320046"/>
          </a:xfrm>
          <a:prstGeom prst="roundRect">
            <a:avLst>
              <a:gd name="adj" fmla="val 831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781931" y="3920371"/>
            <a:ext cx="91440" cy="1320046"/>
          </a:xfrm>
          <a:prstGeom prst="roundRect">
            <a:avLst>
              <a:gd name="adj" fmla="val 81395"/>
            </a:avLst>
          </a:prstGeom>
          <a:solidFill>
            <a:srgbClr val="4950BC"/>
          </a:solidFill>
          <a:ln/>
        </p:spPr>
      </p:sp>
      <p:sp>
        <p:nvSpPr>
          <p:cNvPr id="25" name="Text 19"/>
          <p:cNvSpPr/>
          <p:nvPr/>
        </p:nvSpPr>
        <p:spPr>
          <a:xfrm>
            <a:off x="9073396" y="4120396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Auto-Reply Parsing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9073396" y="4535567"/>
            <a:ext cx="416290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parsing of email replies to auto-update confirmation status without manual intervention.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8804791" y="5396151"/>
            <a:ext cx="4631531" cy="1153001"/>
          </a:xfrm>
          <a:prstGeom prst="roundRect">
            <a:avLst>
              <a:gd name="adj" fmla="val 6455"/>
            </a:avLst>
          </a:prstGeom>
          <a:solidFill>
            <a:srgbClr val="C7C9E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81956" y="5653088"/>
            <a:ext cx="221456" cy="17716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380577" y="5578792"/>
            <a:ext cx="3878580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Requirement: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Attendee refresh, check availability, propose optimal slots, send invite, track confirmations — all substantially met.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510183"/>
            <a:ext cx="6621780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B — Scorecard Collection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90568" y="1253847"/>
            <a:ext cx="1626632" cy="276820"/>
          </a:xfrm>
          <a:prstGeom prst="roundRect">
            <a:avLst>
              <a:gd name="adj" fmla="val 19789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1788319" y="1302663"/>
            <a:ext cx="1431131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 — MOSTLY DONE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90568" y="1779627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Built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0568" y="2166223"/>
            <a:ext cx="325993" cy="203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690568" y="2420303"/>
            <a:ext cx="6008013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1690568" y="2547461"/>
            <a:ext cx="2514362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Forms Integration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0568" y="2919413"/>
            <a:ext cx="6008013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polling, question-to-field mapping (18+ parameters), deduplication by responseId. Gmail dispatch with HTML email, per-attendee idempotency.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690568" y="3606879"/>
            <a:ext cx="325993" cy="203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690568" y="3860959"/>
            <a:ext cx="6008013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1690568" y="3988117"/>
            <a:ext cx="3028355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Submission Tracker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0568" y="4360069"/>
            <a:ext cx="6008013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Interval polling, auto-stops when all responses collected. Score validation: 1–5 range enforcement, regex parsing of text scores.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690568" y="5047536"/>
            <a:ext cx="325993" cy="203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690568" y="5301615"/>
            <a:ext cx="6008013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6" name="Text 14"/>
          <p:cNvSpPr/>
          <p:nvPr/>
        </p:nvSpPr>
        <p:spPr>
          <a:xfrm>
            <a:off x="1690568" y="5428774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Compiled Scorecard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0568" y="5800725"/>
            <a:ext cx="6008013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2-column compiled scorecard: Internal avg vs Vendor avg per parameter, category-level and overall rollups. Gap indicators: delta ≥ 1 highlighted in red.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690568" y="6488192"/>
            <a:ext cx="325993" cy="203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690568" y="6742271"/>
            <a:ext cx="6008013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0" name="Text 18"/>
          <p:cNvSpPr/>
          <p:nvPr/>
        </p:nvSpPr>
        <p:spPr>
          <a:xfrm>
            <a:off x="1690568" y="6869430"/>
            <a:ext cx="2363867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Comments Aggregation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0568" y="7241381"/>
            <a:ext cx="6008013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category (internal vs vendor). Individual respondent drill-down on hover.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03870" y="1779627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Still Pending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03870" y="2166223"/>
            <a:ext cx="2363033" cy="1894761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89727" y="2352080"/>
            <a:ext cx="1991320" cy="509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Reminders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89727" y="2978825"/>
            <a:ext cx="1991320" cy="896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T-5, T-2, T-0 days — UI shows the schedule but no backend cron job implemented.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584061" y="2166223"/>
            <a:ext cx="2363153" cy="1894761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69918" y="2352080"/>
            <a:ext cx="1991439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769918" y="2724031"/>
            <a:ext cx="1991439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flagging when one respondent scores 5 while others score 2. z-score outlier detection not built.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103870" y="4192786"/>
            <a:ext cx="2975848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Recommended Improvements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081010" y="4556522"/>
            <a:ext cx="45720" cy="493871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1" name="Text 29"/>
          <p:cNvSpPr/>
          <p:nvPr/>
        </p:nvSpPr>
        <p:spPr>
          <a:xfrm>
            <a:off x="8312587" y="4579382"/>
            <a:ext cx="4634627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Reminder cron: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Wire using existing Gmail service — low effort, high value.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081010" y="5238988"/>
            <a:ext cx="45720" cy="493871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3" name="Text 31"/>
          <p:cNvSpPr/>
          <p:nvPr/>
        </p:nvSpPr>
        <p:spPr>
          <a:xfrm>
            <a:off x="8312587" y="5261848"/>
            <a:ext cx="4634627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z-score outlier detection: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Flag if any score deviates more than 1.5 standard deviations from group mean.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64118"/>
            <a:ext cx="9716691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Modules C &amp; D — Alignment and Vendor Prep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1201460" y="1481257"/>
            <a:ext cx="2348270" cy="308253"/>
          </a:xfrm>
          <a:prstGeom prst="roundRect">
            <a:avLst>
              <a:gd name="adj" fmla="val 19316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1307783" y="1534358"/>
            <a:ext cx="2135624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C — 50% HALF DONE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01460" y="1844873"/>
            <a:ext cx="281142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Internal Alignment — Built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01460" y="2260044"/>
            <a:ext cx="5897523" cy="2416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comparison matrix: stakeholder vs vendor per parameter, with gap direction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 flags: 5 insight types (needs_discussion, significant_drop, low_score, high_variance, positive_trend) with severity levels (info/warning/critical)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Cycle-over-cycle change highlights: delta tracking, significance threshold at 1 point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item structure (OPEN/IN_PROGRESS/CLOSED, source: alignment)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01460" y="4815126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Pending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201460" y="5247680"/>
            <a:ext cx="5897523" cy="1157288"/>
          </a:xfrm>
          <a:prstGeom prst="roundRect">
            <a:avLst>
              <a:gd name="adj" fmla="val 948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8600" y="5247680"/>
            <a:ext cx="91440" cy="1157288"/>
          </a:xfrm>
          <a:prstGeom prst="roundRect">
            <a:avLst>
              <a:gd name="adj" fmla="val 81395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1470065" y="5447705"/>
            <a:ext cx="5428893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 scheduling backend is a placeholder button. Face-off model editor is an empty component. Claude not wired for action item extraction or alignment narrative.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538799" y="1481257"/>
            <a:ext cx="2480191" cy="308253"/>
          </a:xfrm>
          <a:prstGeom prst="roundRect">
            <a:avLst>
              <a:gd name="adj" fmla="val 19316"/>
            </a:avLst>
          </a:prstGeom>
          <a:solidFill>
            <a:srgbClr val="DADBF1"/>
          </a:solidFill>
          <a:ln/>
        </p:spPr>
      </p:sp>
      <p:sp>
        <p:nvSpPr>
          <p:cNvPr id="12" name="Text 10"/>
          <p:cNvSpPr/>
          <p:nvPr/>
        </p:nvSpPr>
        <p:spPr>
          <a:xfrm>
            <a:off x="7645122" y="1534358"/>
            <a:ext cx="2267545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D — 40% SCAFFOLDED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38799" y="1844873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Vendor Prep — Built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38799" y="2260044"/>
            <a:ext cx="5897523" cy="2717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brief structure: overall score, trend, category ratings, key concerns, positive areas, open action count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derivation logic (frontend): gap detection &gt;1, low score flagging below 2.5, strong alignment at 4+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Pushback collection: 5 categories (DATA_DISPUTE, PROCESS_CONCERN, RESOURCE_CONSTRAINT, SCOPE_DISAGREEMENT, OTHER)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review flag: excludes sensitive items from AI response drafts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3-stance response schema: Factual / Neutral / Escalation — UI exists, no backend call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538799" y="5115878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Pending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538799" y="5548432"/>
            <a:ext cx="5897523" cy="904875"/>
          </a:xfrm>
          <a:prstGeom prst="roundRect">
            <a:avLst>
              <a:gd name="adj" fmla="val 1212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15939" y="5548432"/>
            <a:ext cx="91440" cy="904875"/>
          </a:xfrm>
          <a:prstGeom prst="roundRect">
            <a:avLst>
              <a:gd name="adj" fmla="val 81395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7807404" y="5748457"/>
            <a:ext cx="542889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not wired for brief generation or response drafting. Face-off editor missing. Escalation routing not built.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201460" y="6764774"/>
            <a:ext cx="12227362" cy="900589"/>
          </a:xfrm>
          <a:prstGeom prst="roundRect">
            <a:avLst>
              <a:gd name="adj" fmla="val 8264"/>
            </a:avLst>
          </a:prstGeom>
          <a:solidFill>
            <a:srgbClr val="C7C9EA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625" y="7021711"/>
            <a:ext cx="221456" cy="17716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777246" y="6947416"/>
            <a:ext cx="1147441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gap across C &amp; D: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data structures, schemas, and UI shells are all in place. The single remaining work item is wiring Claude into the existing agent endpoints — estimated 2–3 days per module.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98170"/>
            <a:ext cx="11200924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Modules E &amp; F — Meeting Support and Analytics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12351" y="1619964"/>
            <a:ext cx="2989540" cy="340519"/>
          </a:xfrm>
          <a:prstGeom prst="roundRect">
            <a:avLst>
              <a:gd name="adj" fmla="val 18885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827127" y="1677353"/>
            <a:ext cx="2759988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E — 60% PARTIALLY WIRED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2351" y="2025015"/>
            <a:ext cx="3972639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EGB/QBR Meeting Support — Built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2351" y="2485430"/>
            <a:ext cx="6369248" cy="2765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meeting CRUD with conflict detection (organiser = hard block, participants = soft warning)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note types: QUESTION, OBJECTION, DECISION, APPRECIATION, ACTION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Minutes structure: exec summary, agenda summaries, key decisions, Q&amp;A log, action items with owner and due date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Pre-meeting briefing card: score trend, most improved/concerning categories, recurring issue count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Copy-to-clipboard export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2351" y="5412224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Pending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712351" y="5892760"/>
            <a:ext cx="6369248" cy="1274921"/>
          </a:xfrm>
          <a:prstGeom prst="roundRect">
            <a:avLst>
              <a:gd name="adj" fmla="val 860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9491" y="5892760"/>
            <a:ext cx="91440" cy="1274921"/>
          </a:xfrm>
          <a:prstGeom prst="roundRect">
            <a:avLst>
              <a:gd name="adj" fmla="val 87907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995124" y="6106954"/>
            <a:ext cx="5872282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not wired for minutes generation (using MOCK_MEETING_MINUTES). Transcript parsing not implemented. Unified action log across all 3 sources not merged.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556183" y="1619964"/>
            <a:ext cx="2576036" cy="340519"/>
          </a:xfrm>
          <a:prstGeom prst="roundRect">
            <a:avLst>
              <a:gd name="adj" fmla="val 18885"/>
            </a:avLst>
          </a:prstGeom>
          <a:solidFill>
            <a:srgbClr val="DADBF1"/>
          </a:solidFill>
          <a:ln/>
        </p:spPr>
      </p:sp>
      <p:sp>
        <p:nvSpPr>
          <p:cNvPr id="12" name="Text 10"/>
          <p:cNvSpPr/>
          <p:nvPr/>
        </p:nvSpPr>
        <p:spPr>
          <a:xfrm>
            <a:off x="7670959" y="1677353"/>
            <a:ext cx="2346484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F — 65% DATA READY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56183" y="2025015"/>
            <a:ext cx="3505319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Cross-Cycle Analytics — Built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556183" y="2485430"/>
            <a:ext cx="6369248" cy="3047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Multi-cycle trend charts: line charts per category across Q1 2025 to Q1 2026, category filtering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Recurring issue tracking: occurrence count, cycles affected, severity coloring (3+ = red, 2 = amber)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Cross-vendor comparison: radar charts across all vendors at category level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Parameter-level gap: vendor self-rating vs stakeholder perception gap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 brief structure: trajectory, narrative, recurring issues, prior commitments, recommended focus areas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56183" y="5694402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Pending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7556183" y="6174938"/>
            <a:ext cx="6369248" cy="1274921"/>
          </a:xfrm>
          <a:prstGeom prst="roundRect">
            <a:avLst>
              <a:gd name="adj" fmla="val 860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33323" y="6174938"/>
            <a:ext cx="91440" cy="1274921"/>
          </a:xfrm>
          <a:prstGeom prst="roundRect">
            <a:avLst>
              <a:gd name="adj" fmla="val 87907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7838956" y="6389132"/>
            <a:ext cx="5872282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not wired for leadership brief. Recurring issue classifier algorithm not defined. Predictive analytics and prior commitment tracker not built.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35618" y="386596"/>
            <a:ext cx="4688205" cy="3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Requirements Coverage Matrix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35618" y="909876"/>
            <a:ext cx="8559165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traceability of all 25 requirements against current implementation status.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035618" y="1139547"/>
            <a:ext cx="8559165" cy="6703457"/>
          </a:xfrm>
          <a:prstGeom prst="roundRect">
            <a:avLst>
              <a:gd name="adj" fmla="val 77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3238" y="1147167"/>
            <a:ext cx="8543925" cy="2499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167182" y="1195388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8562" y="1195388"/>
            <a:ext cx="1453277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97347" y="1195388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3238" y="1397079"/>
            <a:ext cx="8543925" cy="25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167182" y="1445300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Attendee refresh and outreach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8562" y="1445300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Done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97347" y="1445300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Graph email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43238" y="1654612"/>
            <a:ext cx="8543925" cy="25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167182" y="1702832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availability check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8562" y="1702832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97347" y="1702832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Graph findMeetingTimes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43238" y="1912144"/>
            <a:ext cx="8543925" cy="25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167182" y="1960364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 slot proposal plus rationale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88562" y="1960364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Done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97347" y="1960364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plus LLM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43238" y="2169676"/>
            <a:ext cx="8543925" cy="25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167182" y="2217896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invite and Teams meeting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8562" y="2217896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97347" y="2217896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Graph createEvent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43238" y="2427208"/>
            <a:ext cx="8543925" cy="25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167182" y="2475428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confirmations and RSVPs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88562" y="2475428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Done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97347" y="2475428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Per-attendee tracking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043238" y="2684740"/>
            <a:ext cx="8543925" cy="25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167182" y="2732961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Scorecard request and dispatch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88562" y="2732961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Done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297347" y="2732961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Gmail plus Google Forms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43238" y="2942273"/>
            <a:ext cx="8543925" cy="25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167182" y="2990493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reminders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588562" y="2990493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⏳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Pending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297347" y="2990493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Cron job needed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043238" y="3199805"/>
            <a:ext cx="8543925" cy="25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167182" y="3248025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completeness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88562" y="3248025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Done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297347" y="3248025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Range plus regex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043238" y="3457337"/>
            <a:ext cx="8543925" cy="25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167182" y="3505557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anomalies and outliers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88562" y="3505557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⏳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Pending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297347" y="3505557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z-score not built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043238" y="3714869"/>
            <a:ext cx="8543925" cy="25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3167182" y="3763089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Compile inputs and calculate averages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588562" y="3763089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Done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297347" y="3763089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2-column gap analysis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043238" y="3972401"/>
            <a:ext cx="8543925" cy="25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167182" y="4020622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changes from prev cycles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588562" y="4020622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Done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297347" y="4020622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Delta tracking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043238" y="4229933"/>
            <a:ext cx="8543925" cy="25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3167182" y="4278154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alignment areas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588562" y="4278154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Done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297347" y="4278154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Rule-based, 5 types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043238" y="4487466"/>
            <a:ext cx="8543925" cy="25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3167182" y="4535686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action items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588562" y="4535686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🔶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Partial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297347" y="4535686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exists, LLM extraction pending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043238" y="4744998"/>
            <a:ext cx="8543925" cy="25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3167182" y="4793218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Face-off model updates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588562" y="4793218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⏳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Pending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297347" y="4793218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Empty component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043238" y="5002530"/>
            <a:ext cx="8543925" cy="25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3167182" y="5050750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Summarise scorecard for vendor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588562" y="5050750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🔶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Partial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297347" y="5050750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Calculated, Claude not wired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043238" y="5260062"/>
            <a:ext cx="8543925" cy="25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3167182" y="5308283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vendor pushbacks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588562" y="5308283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Done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8297347" y="5308283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categories plus legal flag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043238" y="5517594"/>
            <a:ext cx="8543925" cy="25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3167182" y="5565815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3 response options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588562" y="5565815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🔶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Partial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8297347" y="5565815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plus UI, no backend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043238" y="5775127"/>
            <a:ext cx="8543925" cy="25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3167182" y="5823347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unresolved items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6588562" y="5823347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Done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8297347" y="5823347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OPEN/RESOLVED/ESCALATED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043238" y="6032659"/>
            <a:ext cx="8543925" cy="25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3167182" y="6080879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trends and insights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6588562" y="6080879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Done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8297347" y="6080879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Multi-cycle charts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043238" y="6290191"/>
            <a:ext cx="8543925" cy="25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3167182" y="6338411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questions and objections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6588562" y="6338411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Done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8297347" y="6338411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note types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043238" y="6547723"/>
            <a:ext cx="8543925" cy="25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3167182" y="6595943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meeting minutes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6588562" y="6595943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🔶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Partial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8297347" y="6595943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defined, Claude not wired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3043238" y="6805255"/>
            <a:ext cx="8543925" cy="25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4" name="Text 92"/>
          <p:cNvSpPr/>
          <p:nvPr/>
        </p:nvSpPr>
        <p:spPr>
          <a:xfrm>
            <a:off x="3167182" y="6853476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 unified action log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6588562" y="6853476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🔶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Partial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8297347" y="6853476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Per-source only, no merge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3043238" y="7062788"/>
            <a:ext cx="8543925" cy="25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8" name="Text 96"/>
          <p:cNvSpPr/>
          <p:nvPr/>
        </p:nvSpPr>
        <p:spPr>
          <a:xfrm>
            <a:off x="3167182" y="7111008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historical scores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6588562" y="7111008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Done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8297347" y="7111008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Multi-cycle data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3043238" y="7320320"/>
            <a:ext cx="8543925" cy="25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3167182" y="7368540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and warn on recurring issues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6588562" y="7368540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Done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8297347" y="7368540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Occurrence tracking plus severity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3043238" y="7577852"/>
            <a:ext cx="8543925" cy="25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6" name="Text 104"/>
          <p:cNvSpPr/>
          <p:nvPr/>
        </p:nvSpPr>
        <p:spPr>
          <a:xfrm>
            <a:off x="3167182" y="7626072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 insights and brief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6588562" y="7626072"/>
            <a:ext cx="1453277" cy="16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🔶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Partial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8297347" y="7626072"/>
            <a:ext cx="3165872" cy="15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ready, Claude not wired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07563"/>
            <a:ext cx="6500098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 Gap Closure Roadmap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7303651" y="1338143"/>
            <a:ext cx="22860" cy="4219218"/>
          </a:xfrm>
          <a:prstGeom prst="roundRect">
            <a:avLst>
              <a:gd name="adj" fmla="val 325581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6607016" y="1526024"/>
            <a:ext cx="531614" cy="22860"/>
          </a:xfrm>
          <a:prstGeom prst="roundRect">
            <a:avLst>
              <a:gd name="adj" fmla="val 325581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7115770" y="1338143"/>
            <a:ext cx="398621" cy="398621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82207" y="1371362"/>
            <a:ext cx="265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3584019" y="1398984"/>
            <a:ext cx="284511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 1 — 2–3 Days Each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01460" y="1758791"/>
            <a:ext cx="5227677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 Claude into existing shells: Meeting minutes generation (Module E), Vendor brief generation (Module D), Pushback response drafting (Module D). Agent and schema already exist — just needs the Claude call.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91532" y="2511623"/>
            <a:ext cx="531614" cy="22860"/>
          </a:xfrm>
          <a:prstGeom prst="roundRect">
            <a:avLst>
              <a:gd name="adj" fmla="val 325581"/>
            </a:avLst>
          </a:prstGeom>
          <a:solidFill>
            <a:srgbClr val="C0C1D7"/>
          </a:solidFill>
          <a:ln/>
        </p:spPr>
      </p:sp>
      <p:sp>
        <p:nvSpPr>
          <p:cNvPr id="10" name="Shape 8"/>
          <p:cNvSpPr/>
          <p:nvPr/>
        </p:nvSpPr>
        <p:spPr>
          <a:xfrm>
            <a:off x="7115770" y="2323743"/>
            <a:ext cx="398621" cy="398621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82207" y="2356961"/>
            <a:ext cx="265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8201025" y="2384584"/>
            <a:ext cx="266057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 2 — 1 Week Each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01025" y="2744391"/>
            <a:ext cx="5227796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scorecard reminders (Module B), Face-off model editor with persistence (Modules C &amp; D), Unified action log (Module E), Leadership brief generation (Module F).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607016" y="3389233"/>
            <a:ext cx="531614" cy="22860"/>
          </a:xfrm>
          <a:prstGeom prst="roundRect">
            <a:avLst>
              <a:gd name="adj" fmla="val 325581"/>
            </a:avLst>
          </a:prstGeom>
          <a:solidFill>
            <a:srgbClr val="C0C1D7"/>
          </a:solidFill>
          <a:ln/>
        </p:spPr>
      </p:sp>
      <p:sp>
        <p:nvSpPr>
          <p:cNvPr id="15" name="Shape 13"/>
          <p:cNvSpPr/>
          <p:nvPr/>
        </p:nvSpPr>
        <p:spPr>
          <a:xfrm>
            <a:off x="7115770" y="3201353"/>
            <a:ext cx="398621" cy="398621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82207" y="3234571"/>
            <a:ext cx="265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3974425" y="3262193"/>
            <a:ext cx="245471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 3 — 1–2 Weeks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01460" y="3622000"/>
            <a:ext cx="5227677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 work: Recurring issue classifier (Module F), Anomaly detection for scorecard (Module B), Attendance reply parsing via NLP (Module A).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91532" y="4266843"/>
            <a:ext cx="531614" cy="22860"/>
          </a:xfrm>
          <a:prstGeom prst="roundRect">
            <a:avLst>
              <a:gd name="adj" fmla="val 325581"/>
            </a:avLst>
          </a:prstGeom>
          <a:solidFill>
            <a:srgbClr val="C0C1D7"/>
          </a:solidFill>
          <a:ln/>
        </p:spPr>
      </p:sp>
      <p:sp>
        <p:nvSpPr>
          <p:cNvPr id="20" name="Shape 18"/>
          <p:cNvSpPr/>
          <p:nvPr/>
        </p:nvSpPr>
        <p:spPr>
          <a:xfrm>
            <a:off x="7115770" y="4078962"/>
            <a:ext cx="398621" cy="398621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82207" y="4112181"/>
            <a:ext cx="265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8201025" y="4139803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 4 — Future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01025" y="4499610"/>
            <a:ext cx="5227796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Transcript upload and parsing (Module E), Predictive analytics for recurring failure patterns (Module F), Prior commitment tracker, Automated escalation routing (all modules).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73944" y="5713095"/>
            <a:ext cx="4000381" cy="2008942"/>
          </a:xfrm>
          <a:prstGeom prst="roundRect">
            <a:avLst>
              <a:gd name="adj" fmla="val 6351"/>
            </a:avLst>
          </a:prstGeom>
          <a:solidFill>
            <a:srgbClr val="1A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1251109" y="5851446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 1 Details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251109" y="6266617"/>
            <a:ext cx="3646051" cy="1358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 minutes generation — Module E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brief generation — Module D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Pushback response drafting — Module 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386626" y="5851446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 2 Details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386626" y="6266617"/>
            <a:ext cx="3745349" cy="1407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scorecard reminders — Module B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Face-off model editor — Modules C &amp; D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action log — Module E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 brief generation — Module F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571792" y="5851446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 3 Details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571792" y="6266617"/>
            <a:ext cx="3872032" cy="85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Recurring issue classifier — Module F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detection — Module B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 reply parsing — Module A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5123" y="431125"/>
            <a:ext cx="5270063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Makes This Stand Out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935123" y="961192"/>
            <a:ext cx="22109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Highlights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935123" y="1599367"/>
            <a:ext cx="5326380" cy="1507927"/>
          </a:xfrm>
          <a:prstGeom prst="roundRect">
            <a:avLst>
              <a:gd name="adj" fmla="val 727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935123" y="1576507"/>
            <a:ext cx="5326380" cy="91440"/>
          </a:xfrm>
          <a:prstGeom prst="roundRect">
            <a:avLst>
              <a:gd name="adj" fmla="val 71628"/>
            </a:avLst>
          </a:prstGeom>
          <a:solidFill>
            <a:srgbClr val="4950BC"/>
          </a:solidFill>
          <a:ln/>
        </p:spPr>
      </p:sp>
      <p:sp>
        <p:nvSpPr>
          <p:cNvPr id="6" name="Shape 4"/>
          <p:cNvSpPr/>
          <p:nvPr/>
        </p:nvSpPr>
        <p:spPr>
          <a:xfrm>
            <a:off x="4364415" y="1365528"/>
            <a:ext cx="467797" cy="467797"/>
          </a:xfrm>
          <a:prstGeom prst="roundRect">
            <a:avLst>
              <a:gd name="adj" fmla="val 195469"/>
            </a:avLst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4504789" y="1482447"/>
            <a:ext cx="187047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113836" y="1989177"/>
            <a:ext cx="353460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Tool-Calling, Not Prompt Engineering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13836" y="2297073"/>
            <a:ext cx="4968954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Claude interaction uses structured tool-calls with Pydantic-validated JSON outputs. No free-form text parsing anywhere in the system. This is the correct production-grade agentic pattern.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68659" y="1599367"/>
            <a:ext cx="5326499" cy="1507927"/>
          </a:xfrm>
          <a:prstGeom prst="roundRect">
            <a:avLst>
              <a:gd name="adj" fmla="val 7277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368659" y="1576507"/>
            <a:ext cx="5326499" cy="91440"/>
          </a:xfrm>
          <a:prstGeom prst="roundRect">
            <a:avLst>
              <a:gd name="adj" fmla="val 71628"/>
            </a:avLst>
          </a:prstGeom>
          <a:solidFill>
            <a:srgbClr val="4950BC"/>
          </a:solidFill>
          <a:ln/>
        </p:spPr>
      </p:sp>
      <p:sp>
        <p:nvSpPr>
          <p:cNvPr id="12" name="Shape 10"/>
          <p:cNvSpPr/>
          <p:nvPr/>
        </p:nvSpPr>
        <p:spPr>
          <a:xfrm>
            <a:off x="9797951" y="1365528"/>
            <a:ext cx="467797" cy="467797"/>
          </a:xfrm>
          <a:prstGeom prst="roundRect">
            <a:avLst>
              <a:gd name="adj" fmla="val 195469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9938325" y="1482447"/>
            <a:ext cx="187047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547372" y="1989177"/>
            <a:ext cx="2733556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 Integrations, Not Mocks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47372" y="2297073"/>
            <a:ext cx="4969073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A runs against live Microsoft Graph API — real Outlook calendars, real Teams meetings, real email. Most demos use fake data. This does not.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35123" y="3448288"/>
            <a:ext cx="5326380" cy="1718429"/>
          </a:xfrm>
          <a:prstGeom prst="roundRect">
            <a:avLst>
              <a:gd name="adj" fmla="val 638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935123" y="3425428"/>
            <a:ext cx="5326380" cy="91440"/>
          </a:xfrm>
          <a:prstGeom prst="roundRect">
            <a:avLst>
              <a:gd name="adj" fmla="val 71628"/>
            </a:avLst>
          </a:prstGeom>
          <a:solidFill>
            <a:srgbClr val="4950BC"/>
          </a:solidFill>
          <a:ln/>
        </p:spPr>
      </p:sp>
      <p:sp>
        <p:nvSpPr>
          <p:cNvPr id="18" name="Shape 16"/>
          <p:cNvSpPr/>
          <p:nvPr/>
        </p:nvSpPr>
        <p:spPr>
          <a:xfrm>
            <a:off x="4364415" y="3214449"/>
            <a:ext cx="467797" cy="467797"/>
          </a:xfrm>
          <a:prstGeom prst="roundRect">
            <a:avLst>
              <a:gd name="adj" fmla="val 195469"/>
            </a:avLst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4504789" y="3331369"/>
            <a:ext cx="187047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2113836" y="3838099"/>
            <a:ext cx="3234452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Deterministic + Generative Hybrid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113836" y="4145994"/>
            <a:ext cx="4968954" cy="842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Slot ranking, score validation, outlier detection, workflow transitions: all deterministic. LLM is called only where human-readable narrative adds value — the right split for a governance platform.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8659" y="3448288"/>
            <a:ext cx="5326499" cy="1718429"/>
          </a:xfrm>
          <a:prstGeom prst="roundRect">
            <a:avLst>
              <a:gd name="adj" fmla="val 6385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368659" y="3425428"/>
            <a:ext cx="5326499" cy="91440"/>
          </a:xfrm>
          <a:prstGeom prst="roundRect">
            <a:avLst>
              <a:gd name="adj" fmla="val 71628"/>
            </a:avLst>
          </a:prstGeom>
          <a:solidFill>
            <a:srgbClr val="4950BC"/>
          </a:solidFill>
          <a:ln/>
        </p:spPr>
      </p:sp>
      <p:sp>
        <p:nvSpPr>
          <p:cNvPr id="24" name="Shape 22"/>
          <p:cNvSpPr/>
          <p:nvPr/>
        </p:nvSpPr>
        <p:spPr>
          <a:xfrm>
            <a:off x="9797951" y="3214449"/>
            <a:ext cx="467797" cy="467797"/>
          </a:xfrm>
          <a:prstGeom prst="roundRect">
            <a:avLst>
              <a:gd name="adj" fmla="val 195469"/>
            </a:avLst>
          </a:prstGeom>
          <a:solidFill>
            <a:srgbClr val="4950BC"/>
          </a:solidFill>
          <a:ln/>
        </p:spPr>
      </p:sp>
      <p:sp>
        <p:nvSpPr>
          <p:cNvPr id="25" name="Text 23"/>
          <p:cNvSpPr/>
          <p:nvPr/>
        </p:nvSpPr>
        <p:spPr>
          <a:xfrm>
            <a:off x="9938325" y="3331369"/>
            <a:ext cx="187047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47372" y="3838099"/>
            <a:ext cx="2397204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Human Always In Control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47372" y="4145994"/>
            <a:ext cx="4969073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AI output requires explicit human approval before any external action. The system makes humans faster, not bypassed.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935123" y="5507712"/>
            <a:ext cx="5326380" cy="1507927"/>
          </a:xfrm>
          <a:prstGeom prst="roundRect">
            <a:avLst>
              <a:gd name="adj" fmla="val 7277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935123" y="5484852"/>
            <a:ext cx="5326380" cy="91440"/>
          </a:xfrm>
          <a:prstGeom prst="roundRect">
            <a:avLst>
              <a:gd name="adj" fmla="val 71628"/>
            </a:avLst>
          </a:prstGeom>
          <a:solidFill>
            <a:srgbClr val="4950BC"/>
          </a:solidFill>
          <a:ln/>
        </p:spPr>
      </p:sp>
      <p:sp>
        <p:nvSpPr>
          <p:cNvPr id="30" name="Shape 28"/>
          <p:cNvSpPr/>
          <p:nvPr/>
        </p:nvSpPr>
        <p:spPr>
          <a:xfrm>
            <a:off x="4364415" y="5273873"/>
            <a:ext cx="467797" cy="467797"/>
          </a:xfrm>
          <a:prstGeom prst="roundRect">
            <a:avLst>
              <a:gd name="adj" fmla="val 195469"/>
            </a:avLst>
          </a:prstGeom>
          <a:solidFill>
            <a:srgbClr val="4950BC"/>
          </a:solidFill>
          <a:ln/>
        </p:spPr>
      </p:sp>
      <p:sp>
        <p:nvSpPr>
          <p:cNvPr id="31" name="Text 29"/>
          <p:cNvSpPr/>
          <p:nvPr/>
        </p:nvSpPr>
        <p:spPr>
          <a:xfrm>
            <a:off x="4504789" y="5390793"/>
            <a:ext cx="187047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2113836" y="5897523"/>
            <a:ext cx="3948470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Demo-Ready with Intentional Trajectories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113836" y="6205418"/>
            <a:ext cx="4968954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vendors seeded with deliberate patterns: NovaTech (improving), CoreSystems (declining), Meridian IT (stable). Demos tell a story, not just show features.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68659" y="5507712"/>
            <a:ext cx="5326499" cy="1507927"/>
          </a:xfrm>
          <a:prstGeom prst="roundRect">
            <a:avLst>
              <a:gd name="adj" fmla="val 7277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7368659" y="5484852"/>
            <a:ext cx="5326499" cy="91440"/>
          </a:xfrm>
          <a:prstGeom prst="roundRect">
            <a:avLst>
              <a:gd name="adj" fmla="val 71628"/>
            </a:avLst>
          </a:prstGeom>
          <a:solidFill>
            <a:srgbClr val="4950BC"/>
          </a:solidFill>
          <a:ln/>
        </p:spPr>
      </p:sp>
      <p:sp>
        <p:nvSpPr>
          <p:cNvPr id="36" name="Shape 34"/>
          <p:cNvSpPr/>
          <p:nvPr/>
        </p:nvSpPr>
        <p:spPr>
          <a:xfrm>
            <a:off x="9797951" y="5273873"/>
            <a:ext cx="467797" cy="467797"/>
          </a:xfrm>
          <a:prstGeom prst="roundRect">
            <a:avLst>
              <a:gd name="adj" fmla="val 195469"/>
            </a:avLst>
          </a:prstGeom>
          <a:solidFill>
            <a:srgbClr val="4950BC"/>
          </a:solidFill>
          <a:ln/>
        </p:spPr>
      </p:sp>
      <p:sp>
        <p:nvSpPr>
          <p:cNvPr id="37" name="Text 35"/>
          <p:cNvSpPr/>
          <p:nvPr/>
        </p:nvSpPr>
        <p:spPr>
          <a:xfrm>
            <a:off x="9938325" y="5390793"/>
            <a:ext cx="187047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7547372" y="5897523"/>
            <a:ext cx="379618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Forward-Only Governance Enforcement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547372" y="6205418"/>
            <a:ext cx="4969073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12-state workflow machine with HTTP 409 on invalid transitions. No accidental state corruption. Process discipline enforced at the API level, not just the UI.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168962" y="7256859"/>
            <a:ext cx="10526197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 line: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is a well-architected, partially-complete agentic AI platform. Module A is production-grade. </a:t>
            </a:r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to 6 weeks of focused wiring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closes the Priority 1 and 2 gaps and makes all 6 modules fully functional for the next EGB/QBR pilot cycle.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935123" y="7136249"/>
            <a:ext cx="22860" cy="662226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2026-04-10T14:52:18Z</dcterms:created>
  <dcterms:modified xsi:type="dcterms:W3CDTF">2026-04-10T14:52:18Z</dcterms:modified>
</cp:coreProperties>
</file>