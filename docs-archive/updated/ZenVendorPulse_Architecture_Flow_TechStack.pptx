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060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4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20116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CE9E6"/>
                </a:solidFill>
                <a:latin typeface="Segoe UI"/>
              </a:rPr>
              <a:t>ZENSAR  ·  CR-9 EGB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ZenVendorPulse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38528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CE9E6"/>
                </a:solidFill>
                <a:latin typeface="Segoe UI"/>
              </a:rPr>
              <a:t>Agentic AI for Shell Vendor Governance  ·  EGB / QBR 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53949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91256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16A54"/>
                </a:solidFill>
                <a:latin typeface="Segoe UI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38728"/>
            <a:ext cx="49834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75569"/>
                </a:solidFill>
                <a:latin typeface="Segoe UI"/>
              </a:rPr>
              <a:t>Vendor governance runs manually — availability chased over email, scorecards scattered across inboxes, alignment calls re-hashing recurring issues, and inconsistent minutes quarter on quarter.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63240"/>
            <a:ext cx="53949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91256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38728"/>
            <a:ext cx="49834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75569"/>
                </a:solidFill>
                <a:latin typeface="Segoe UI"/>
              </a:rPr>
              <a:t>An agentic platform that orchestrates the full cycle end-to-end while keeping every outbound action under human approval — deployed single-tenant in Shell's Azure tenant, integrated with Outlook + Teams.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2615184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01768"/>
            <a:ext cx="2615184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766E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13832"/>
            <a:ext cx="2615184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Governance</a:t>
            </a:r>
          </a:p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capabilities (A–F)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9584" y="4892040"/>
            <a:ext cx="2615184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5001768"/>
            <a:ext cx="2615184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766E"/>
                </a:solidFill>
                <a:latin typeface="Segoe U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5513832"/>
            <a:ext cx="2615184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State forward-only</a:t>
            </a:r>
          </a:p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workflow machine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4892040"/>
            <a:ext cx="2615184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001768"/>
            <a:ext cx="2615184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766E"/>
                </a:solidFill>
                <a:latin typeface="Segoe UI"/>
              </a:rPr>
              <a:t>4 wks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5513832"/>
            <a:ext cx="2615184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Sprint-paced</a:t>
            </a:r>
          </a:p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delivery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08592" y="4892040"/>
            <a:ext cx="2615184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5001768"/>
            <a:ext cx="2615184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766E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5513832"/>
            <a:ext cx="2615184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Single-tenant</a:t>
            </a:r>
          </a:p>
          <a:p>
            <a:pPr algn="ctr">
              <a:lnSpc>
                <a:spcPct val="95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Azure / M365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550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Shell  ·  Vendor Governance Automation (CR-9 EGB)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Segoe U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Single-tenant on Shell's Azure &amp; Microsoft 365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10896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CC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310896"/>
            <a:ext cx="1600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524B"/>
                </a:solidFill>
                <a:latin typeface="Segoe UI"/>
              </a:rPr>
              <a:t>ZenVendorPulse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Shell  ·  Vendor Governance Automation (CR-9 EGB)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89888"/>
            <a:ext cx="237744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1">
                <a:solidFill>
                  <a:srgbClr val="1E293B"/>
                </a:solidFill>
                <a:latin typeface="Segoe UI"/>
              </a:rPr>
              <a:t>Shell Users  ·  Browser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Entra SSO (OIDC) · 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38528"/>
            <a:ext cx="781812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02536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524B"/>
                </a:solidFill>
                <a:latin typeface="Segoe UI"/>
              </a:rPr>
              <a:t>SHELL AZURE SUBSCRIPTION  ·  West Europe  ·  VNet + Private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414016"/>
            <a:ext cx="1783080" cy="84124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Azure Front Door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CCE9E6"/>
                </a:solidFill>
                <a:latin typeface="Segoe UI"/>
              </a:rPr>
              <a:t>WAF + TLS
Origin 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359152"/>
            <a:ext cx="288036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240">
            <a:solidFill>
              <a:srgbClr val="0F766E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414016"/>
            <a:ext cx="2880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524B"/>
                </a:solidFill>
                <a:latin typeface="Segoe UI"/>
              </a:rPr>
              <a:t>Azure App Service · Linux containers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816352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1">
                <a:solidFill>
                  <a:srgbClr val="1E293B"/>
                </a:solidFill>
                <a:latin typeface="Segoe UI"/>
              </a:rPr>
              <a:t>Frontend — React SPA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475569"/>
                </a:solidFill>
                <a:latin typeface="Segoe UI"/>
              </a:rPr>
              <a:t>TypeScript ·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66160"/>
            <a:ext cx="2514600" cy="932688"/>
          </a:xfrm>
          <a:prstGeom prst="roundRect">
            <a:avLst>
              <a:gd name="adj" fmla="val 8000"/>
            </a:avLst>
          </a:prstGeom>
          <a:solidFill>
            <a:srgbClr val="CC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1">
                <a:solidFill>
                  <a:srgbClr val="0B524B"/>
                </a:solidFill>
                <a:latin typeface="Segoe UI"/>
              </a:rPr>
              <a:t>FastAPI Backend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Python 3.11 · 6 AI agents
Workflow engine + approvals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718304"/>
            <a:ext cx="28803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475569"/>
                </a:solidFill>
                <a:latin typeface="Segoe UI"/>
              </a:rPr>
              <a:t>↓ Managed Identity — no secrets in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01768"/>
            <a:ext cx="2286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00" b="1">
                <a:solidFill>
                  <a:srgbClr val="1E293B"/>
                </a:solidFill>
                <a:latin typeface="Segoe UI"/>
              </a:rPr>
              <a:t>Azure Key Vault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LLM key · Graph cert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90672" y="5001768"/>
            <a:ext cx="2286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00" b="1">
                <a:solidFill>
                  <a:srgbClr val="1E293B"/>
                </a:solidFill>
                <a:latin typeface="Segoe UI"/>
              </a:rPr>
              <a:t>PostgreSQL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475569"/>
                </a:solidFill>
                <a:latin typeface="Segoe UI"/>
              </a:rPr>
              <a:t>Flexible Server · HA
Private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5001768"/>
            <a:ext cx="265176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00" b="1">
                <a:solidFill>
                  <a:srgbClr val="1E293B"/>
                </a:solidFill>
                <a:latin typeface="Segoe UI"/>
              </a:rPr>
              <a:t>App Insights</a:t>
            </a:r>
          </a:p>
          <a:p>
            <a:pPr algn="ctr">
              <a:lnSpc>
                <a:spcPct val="100000"/>
              </a:lnSpc>
            </a:pPr>
            <a:r>
              <a:rPr sz="850">
                <a:solidFill>
                  <a:srgbClr val="475569"/>
                </a:solidFill>
                <a:latin typeface="Segoe UI"/>
              </a:rPr>
              <a:t>Log Analytics
Audit · observability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938528"/>
            <a:ext cx="3063240" cy="3950208"/>
          </a:xfrm>
          <a:prstGeom prst="roundRect">
            <a:avLst>
              <a:gd name="adj" fmla="val 8000"/>
            </a:avLst>
          </a:prstGeom>
          <a:solidFill>
            <a:srgbClr val="E7EEF3"/>
          </a:solidFill>
          <a:ln w="12700">
            <a:solidFill>
              <a:srgbClr val="94A3B8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002536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75569"/>
                </a:solidFill>
                <a:latin typeface="Segoe UI"/>
              </a:rPr>
              <a:t>EXTERNAL SERVICES  ·  outbound HTTPS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96528" y="2395728"/>
            <a:ext cx="27432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1E293B"/>
                </a:solidFill>
                <a:latin typeface="Segoe UI"/>
              </a:rPr>
              <a:t>Microsoft Entra ID</a:t>
            </a:r>
          </a:p>
          <a:p>
            <a:pPr algn="ctr">
              <a:lnSpc>
                <a:spcPct val="100000"/>
              </a:lnSpc>
            </a:pPr>
            <a:r>
              <a:rPr sz="950">
                <a:solidFill>
                  <a:srgbClr val="475569"/>
                </a:solidFill>
                <a:latin typeface="Segoe UI"/>
              </a:rPr>
              <a:t>Shell SSO (OIDC) · RBAC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96528" y="3310128"/>
            <a:ext cx="27432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1E293B"/>
                </a:solidFill>
                <a:latin typeface="Segoe UI"/>
              </a:rPr>
              <a:t>Microsoft Graph API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Mail.Send · Calendars.RW
OnlineMeetings · Teams
App-only certificate auth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6528" y="4462272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LLM Provider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CCE9E6"/>
                </a:solidFill>
                <a:latin typeface="Segoe UI"/>
              </a:rPr>
              <a:t>Anthropic Claude (Sonnet 4.6)
or Azure OpenAI · switchable
Human-readable text only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600200" y="1810512"/>
            <a:ext cx="274319" cy="603504"/>
          </a:xfrm>
          <a:prstGeom prst="bentConnector3">
            <a:avLst/>
          </a:prstGeom>
          <a:ln w="25400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96312" y="2834640"/>
            <a:ext cx="246888" cy="301752"/>
          </a:xfrm>
          <a:prstGeom prst="bentConnector3">
            <a:avLst/>
          </a:prstGeom>
          <a:ln w="25400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78808" y="4690872"/>
            <a:ext cx="0" cy="310896"/>
          </a:xfrm>
          <a:prstGeom prst="bentConnector3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623560" y="2788920"/>
            <a:ext cx="3017520" cy="704088"/>
          </a:xfrm>
          <a:prstGeom prst="bentConnector3">
            <a:avLst/>
          </a:prstGeom>
          <a:ln w="22225">
            <a:solidFill>
              <a:srgbClr val="0F766E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623560" y="3822192"/>
            <a:ext cx="3017520" cy="36576"/>
          </a:xfrm>
          <a:prstGeom prst="bentConnector3">
            <a:avLst/>
          </a:prstGeom>
          <a:ln w="22225">
            <a:solidFill>
              <a:srgbClr val="0F766E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623560" y="4224528"/>
            <a:ext cx="3017520" cy="886968"/>
          </a:xfrm>
          <a:prstGeom prst="bentConnector3">
            <a:avLst/>
          </a:prstGeom>
          <a:ln w="22225">
            <a:solidFill>
              <a:srgbClr val="0F766E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0533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524B"/>
                </a:solidFill>
                <a:latin typeface="Segoe UI"/>
              </a:rPr>
              <a:t>Deterministic-first, AI-second   ·   Human-approval gate on every outbound action   ·   All secrets in Key Vault   ·   Full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Segoe UI"/>
              </a:rPr>
              <a:t>DETAILED SOLUTION ARCHITECTURE (HLD)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Layered application design — frontend to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10896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CC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310896"/>
            <a:ext cx="1600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524B"/>
                </a:solidFill>
                <a:latin typeface="Segoe UI"/>
              </a:rPr>
              <a:t>ZenVendorPulse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Shell  ·  Vendor Governance Automation (CR-9 EGB)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7726679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481328"/>
            <a:ext cx="1600200" cy="749808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81328"/>
            <a:ext cx="160020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PRESENTATION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1481328"/>
            <a:ext cx="5897879" cy="749808"/>
          </a:xfrm>
          <a:prstGeom prst="rect">
            <a:avLst/>
          </a:prstGeom>
          <a:noFill/>
        </p:spPr>
        <p:txBody>
          <a:bodyPr wrap="square" anchor="ctr" tIns="12700" bIns="1270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React 19 · Vite · TypeScript · Tailwind v4 · shadcn/ui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Segoe UI"/>
              </a:rPr>
              <a:t>TanStack Query (server state)  +  Zustand (UI state)  ·  Axios typed client</a:t>
            </a:r>
          </a:p>
          <a:p>
            <a:pPr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Segoe UI"/>
              </a:rPr>
              <a:t>HttpOnly session cookie — no tokens in 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36292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336292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0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36292"/>
            <a:ext cx="1600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EDGE /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2336292"/>
            <a:ext cx="5897879" cy="457200"/>
          </a:xfrm>
          <a:prstGeom prst="rect">
            <a:avLst/>
          </a:prstGeom>
          <a:noFill/>
        </p:spPr>
        <p:txBody>
          <a:bodyPr wrap="square" anchor="ctr" tIns="12700" bIns="12700">
            <a:sp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Segoe UI"/>
              </a:rPr>
              <a:t>Azure Front Door (WAF + TLS, origin lock)  ·  nginx static  ·  App Service Linux containers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98648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2898648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98648"/>
            <a:ext cx="1600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2898648"/>
            <a:ext cx="5897879" cy="457200"/>
          </a:xfrm>
          <a:prstGeom prst="rect">
            <a:avLst/>
          </a:prstGeom>
          <a:noFill/>
        </p:spPr>
        <p:txBody>
          <a:bodyPr wrap="square" anchor="ctr" tIns="12700" bIns="12700">
            <a:sp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Segoe UI"/>
              </a:rPr>
              <a:t>FastAPI ASGI:  OIDC session validation · correlation-ID · rate limit (60/min) · logging · exception mapping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61004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461004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461004"/>
            <a:ext cx="1600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API ROUTES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 routers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461004"/>
            <a:ext cx="5897879" cy="457200"/>
          </a:xfrm>
          <a:prstGeom prst="rect">
            <a:avLst/>
          </a:prstGeom>
          <a:noFill/>
        </p:spPr>
        <p:txBody>
          <a:bodyPr wrap="square" anchor="ctr" tIns="12700" bIns="12700">
            <a:sp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Segoe UI"/>
              </a:rPr>
              <a:t>cycles · scheduling · scorecard · alignment · vendor_prep · meeting · analytics  + 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23360"/>
            <a:ext cx="7726679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1600200" cy="6035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23360"/>
            <a:ext cx="16002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4023360"/>
            <a:ext cx="5897879" cy="603504"/>
          </a:xfrm>
          <a:prstGeom prst="rect">
            <a:avLst/>
          </a:prstGeom>
          <a:noFill/>
        </p:spPr>
        <p:txBody>
          <a:bodyPr wrap="square" anchor="ctr" tIns="12700" bIns="12700">
            <a:sp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Segoe UI"/>
              </a:rPr>
              <a:t>Workflow Engine — 12-state forward-only FSM (gates every endpoint)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Segoe UI"/>
              </a:rPr>
              <a:t>AI Agents A–F — Claude tool-calling · structured AgentResponse contract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32020"/>
            <a:ext cx="7726679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732020"/>
            <a:ext cx="1600200" cy="603504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732020"/>
            <a:ext cx="16002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SERVICE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4732020"/>
            <a:ext cx="5897879" cy="603504"/>
          </a:xfrm>
          <a:prstGeom prst="rect">
            <a:avLst/>
          </a:prstGeom>
          <a:noFill/>
        </p:spPr>
        <p:txBody>
          <a:bodyPr wrap="square" anchor="ctr" tIns="12700" bIns="12700">
            <a:sp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Segoe UI"/>
              </a:rPr>
              <a:t>LLMService (provider-abstracted) · GraphService · ScorecardFormService · ValidationService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Segoe UI"/>
              </a:rPr>
              <a:t>AnalyticsService · SlotRankingService · AuditService · NotificationService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40680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5440680"/>
            <a:ext cx="1600200" cy="457200"/>
          </a:xfrm>
          <a:prstGeom prst="roundRect">
            <a:avLst>
              <a:gd name="adj" fmla="val 6000"/>
            </a:avLst>
          </a:prstGeom>
          <a:solidFill>
            <a:srgbClr val="0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440680"/>
            <a:ext cx="1600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DATA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848" y="5440680"/>
            <a:ext cx="5897879" cy="457200"/>
          </a:xfrm>
          <a:prstGeom prst="rect">
            <a:avLst/>
          </a:prstGeom>
          <a:noFill/>
        </p:spPr>
        <p:txBody>
          <a:bodyPr wrap="square" anchor="ctr" tIns="12700" bIns="12700">
            <a:sp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Segoe UI"/>
              </a:rPr>
              <a:t>Repositories → SQLAlchemy 2.0 (async) → asyncpg → PostgreSQL Flexible Server (15 tables, Private Link)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46304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75569"/>
                </a:solidFill>
                <a:latin typeface="Segoe UI"/>
              </a:rPr>
              <a:t>CROSS-CUTTING &amp; EXTERNAL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1783080"/>
            <a:ext cx="3291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1">
                <a:solidFill>
                  <a:srgbClr val="1E293B"/>
                </a:solidFill>
                <a:latin typeface="Segoe UI"/>
              </a:rPr>
              <a:t>Microsoft Entra ID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SSO (OIDC) · RBAC 4 roles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2624328"/>
            <a:ext cx="3291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1">
                <a:solidFill>
                  <a:srgbClr val="1E293B"/>
                </a:solidFill>
                <a:latin typeface="Segoe UI"/>
              </a:rPr>
              <a:t>Microsoft Graph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Mail · Calendar · Teams
app-only certificate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465576"/>
            <a:ext cx="3291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1">
                <a:solidFill>
                  <a:srgbClr val="1E293B"/>
                </a:solidFill>
                <a:latin typeface="Segoe UI"/>
              </a:rPr>
              <a:t>LLM Provider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Claude / Azure OpenAI
config-switchable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4306824"/>
            <a:ext cx="3291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24B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1">
                <a:solidFill>
                  <a:srgbClr val="1E293B"/>
                </a:solidFill>
                <a:latin typeface="Segoe UI"/>
              </a:rPr>
              <a:t>Azure Key Vault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secrets via Managed Identity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5148072"/>
            <a:ext cx="32918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24B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/>
            <a:r>
              <a:rPr sz="1150" b="1">
                <a:solidFill>
                  <a:srgbClr val="1E293B"/>
                </a:solidFill>
                <a:latin typeface="Segoe UI"/>
              </a:rPr>
              <a:t>App Insights + Log Analytics</a:t>
            </a:r>
          </a:p>
          <a:p>
            <a:pPr algn="ctr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Segoe UI"/>
              </a:rPr>
              <a:t>agent_runs · external_calls
full audit trail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5989320"/>
            <a:ext cx="329184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989320"/>
            <a:ext cx="3291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E293B"/>
                </a:solidFill>
                <a:latin typeface="Segoe UI"/>
              </a:rPr>
              <a:t>⛔  Human-approval gate — hard gate on every send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Segoe UI"/>
              </a:rPr>
              <a:t>WORKFLOW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Six-stage vendor governance cycle (12-state machine)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10896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CC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310896"/>
            <a:ext cx="1600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524B"/>
                </a:solidFill>
                <a:latin typeface="Segoe UI"/>
              </a:rPr>
              <a:t>ZenVendorPulse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Shell  ·  Vendor Governance Automation (CR-9 EGB)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9164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91640"/>
            <a:ext cx="128016" cy="1481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892808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1837944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Segoe UI"/>
              </a:rPr>
              <a:t>Meeting 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2295144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Propose &amp; book EGB/QBR via Graph; coordinate attendees from service mailbox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169164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691640"/>
            <a:ext cx="128016" cy="1481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1892808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1837944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Segoe UI"/>
              </a:rPr>
              <a:t>Scorecard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2295144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Collect &amp; validate 1–5 ratings: 4 categories / 16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169164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691640"/>
            <a:ext cx="128016" cy="1481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1892808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1837944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Segoe UI"/>
              </a:rPr>
              <a:t>Internal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2295144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Consolidate scorecards; surface Shell-side discussion 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3995928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3995928"/>
            <a:ext cx="128016" cy="1481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0" y="4197096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4142232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Segoe UI"/>
              </a:rPr>
              <a:t>Vendor Prep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4599432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Draft pushbacks in 3 stances — Factual · Neutral ·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0248" y="3995928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3995928"/>
            <a:ext cx="128016" cy="1481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4197096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2936" y="4142232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Segoe UI"/>
              </a:rPr>
              <a:t>EGB/QBR Meeting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2936" y="4599432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Run combined meeting; capture decisions, actions &amp; minutes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995928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CE9E6"/>
            </a:solidFill>
          </a:ln>
          <a:effectLst>
            <a:outerShdw blurRad="7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3995928"/>
            <a:ext cx="128016" cy="14813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60" y="4197096"/>
            <a:ext cx="566928" cy="5669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9616" y="4142232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Segoe UI"/>
              </a:rPr>
              <a:t>Trend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9616" y="4599432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475569"/>
                </a:solidFill>
                <a:latin typeface="Segoe UI"/>
              </a:rPr>
              <a:t>Retain cross-cycle memory; track vendor trends &amp; recurring themes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95928" y="2432304"/>
            <a:ext cx="274320" cy="0"/>
          </a:xfrm>
          <a:prstGeom prst="bentConnector3">
            <a:avLst/>
          </a:prstGeom>
          <a:ln w="31750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99248" y="2432304"/>
            <a:ext cx="274320" cy="0"/>
          </a:xfrm>
          <a:prstGeom prst="bentConnector3">
            <a:avLst/>
          </a:prstGeom>
          <a:ln w="31750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88068" y="3172968"/>
            <a:ext cx="0" cy="822960"/>
          </a:xfrm>
          <a:prstGeom prst="bentConnector3">
            <a:avLst/>
          </a:prstGeom>
          <a:ln w="3175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7699248" y="4736592"/>
            <a:ext cx="274320" cy="0"/>
          </a:xfrm>
          <a:prstGeom prst="bentConnector3">
            <a:avLst/>
          </a:prstGeom>
          <a:ln w="31750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995928" y="4736592"/>
            <a:ext cx="274320" cy="0"/>
          </a:xfrm>
          <a:prstGeom prst="bentConnector3">
            <a:avLst/>
          </a:prstGeom>
          <a:ln w="31750">
            <a:solidFill>
              <a:srgbClr val="0F76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6199632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524B"/>
                </a:solidFill>
                <a:latin typeface="Segoe UI"/>
              </a:rPr>
              <a:t>↻  Cross-cycle memory feeds the next governance cycle    |    Every outbound step (invites · briefs · minutes) passes a human-approval 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Production technology &amp; Azure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10896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CC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310896"/>
            <a:ext cx="1600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524B"/>
                </a:solidFill>
                <a:latin typeface="Segoe UI"/>
              </a:rPr>
              <a:t>ZenVendorPulse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Shell  ·  Vendor Governance Automation (CR-9 EGB)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3383280" cy="365760"/>
          </a:xfrm>
          <a:prstGeom prst="rect">
            <a:avLst/>
          </a:prstGeom>
          <a:solidFill>
            <a:srgbClr val="0B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50208" y="1481328"/>
            <a:ext cx="768096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Application 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481328"/>
            <a:ext cx="76809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Technology /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847088"/>
            <a:ext cx="338328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50208" y="1847088"/>
            <a:ext cx="768096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4708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84708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React (TypeScript)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144268"/>
            <a:ext cx="338328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50208" y="2144268"/>
            <a:ext cx="768096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14426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Backend /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14426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Python 3.11+ · FastAPI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441448"/>
            <a:ext cx="338328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50208" y="2441448"/>
            <a:ext cx="768096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44144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44144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PostgreSQL Flexible Server (Azure)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38628"/>
            <a:ext cx="338328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50208" y="2738628"/>
            <a:ext cx="768096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73862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Identity &amp;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73862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Entra ID SSO (OIDC) · app-only certificate auth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035808"/>
            <a:ext cx="338328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50208" y="3035808"/>
            <a:ext cx="768096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03580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Messaging &amp;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03580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Microsoft Graph API (Mail · Calendar · Teams)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332988"/>
            <a:ext cx="338328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50208" y="3332988"/>
            <a:ext cx="768096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33298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Service Mailbox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33298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vendorpulse-svc@shell.com (M365 E3/E5)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30168"/>
            <a:ext cx="338328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50208" y="3630168"/>
            <a:ext cx="768096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63016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LLM Provider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363016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Anthropic Claude (Sonnet 4.6) or Azure OpenAI — config-switchable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927348"/>
            <a:ext cx="338328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50208" y="3927348"/>
            <a:ext cx="768096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92734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Secret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392734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Azure Key Vault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24528"/>
            <a:ext cx="338328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50208" y="4224528"/>
            <a:ext cx="768096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22452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Containerization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422452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Azure Container Registry + App Service (P1v3 prod / B2 nonprod)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521708"/>
            <a:ext cx="338328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50208" y="4521708"/>
            <a:ext cx="768096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52170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Observability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452170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Azure App Insights + Log Analytics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818888"/>
            <a:ext cx="338328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50208" y="4818888"/>
            <a:ext cx="768096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81888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CDN / WAF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481888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Azure Front Door with WAF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116068"/>
            <a:ext cx="338328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50208" y="5116068"/>
            <a:ext cx="768096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11606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CI/CD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511606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Azure DevOps or GitHub Enterprise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5413248"/>
            <a:ext cx="338328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50208" y="5413248"/>
            <a:ext cx="7680960" cy="2971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41324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Code Quality &amp; Security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541324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SonarQube · TruffleHog/GitLeaks · Trivy/Snyk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5710428"/>
            <a:ext cx="338328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50208" y="5710428"/>
            <a:ext cx="768096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710428"/>
            <a:ext cx="320040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93B"/>
                </a:solidFill>
                <a:latin typeface="Segoe UI"/>
              </a:rPr>
              <a:t>Browser Support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5710428"/>
            <a:ext cx="7452360" cy="2971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</a:rPr>
              <a:t>Chrome, Edge (web-only · English-only)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1481328"/>
            <a:ext cx="54864" cy="4526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" y="6117336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524B"/>
                </a:solidFill>
                <a:latin typeface="Segoe UI"/>
              </a:rPr>
              <a:t>Environments:   NonProd (B2 · standard Postgres, dev/UAT)      ·      Prod (P1v3 · Postgres HA)   —   both in Shell-designated region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